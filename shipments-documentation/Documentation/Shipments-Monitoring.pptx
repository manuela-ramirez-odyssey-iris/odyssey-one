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1" r:id="rId2"/>
    <p:sldId id="262" r:id="rId3"/>
    <p:sldId id="280" r:id="rId4"/>
    <p:sldId id="282" r:id="rId5"/>
    <p:sldId id="284" r:id="rId6"/>
    <p:sldId id="285" r:id="rId7"/>
    <p:sldId id="286" r:id="rId8"/>
    <p:sldId id="28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12" autoAdjust="0"/>
    <p:restoredTop sz="94410" autoAdjust="0"/>
  </p:normalViewPr>
  <p:slideViewPr>
    <p:cSldViewPr snapToGrid="0">
      <p:cViewPr varScale="1">
        <p:scale>
          <a:sx n="105" d="100"/>
          <a:sy n="105" d="100"/>
        </p:scale>
        <p:origin x="11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C2F2E-23A3-4D43-B639-82F7726028A6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349F9-84C8-4250-86B8-5C1801EB41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21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2FEB4-1608-EA9D-015D-14B6A91C9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FDC80B-270E-7F85-74EE-3734AD003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FDB12F-F58A-FFE5-06EC-963630E08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Bottom tab sequence</a:t>
            </a:r>
          </a:p>
          <a:p>
            <a:r>
              <a:rPr lang="en-US" dirty="0"/>
              <a:t>Stops and Appointment, Order, Product, Routing Options, Tender History, Cost Allocation, Instructions, History, Documents, Notes (Internal)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6A4C3-1A17-530C-CEFA-75CA6A673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349F9-84C8-4250-86B8-5C1801EB41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75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0075F-9B5E-4546-602A-1849212F8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9243B8-2F32-0D53-5D11-06E61D463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0863F0-38D8-6AFF-7E67-3D26605A0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Questions:</a:t>
            </a:r>
          </a:p>
          <a:p>
            <a:r>
              <a:rPr lang="en-US" dirty="0"/>
              <a:t>1. Do we need Planning Date Type in ‘Order’? If multiple orders are there, should we show all the Planning Date Type for those Orders </a:t>
            </a:r>
            <a:r>
              <a:rPr lang="en-US" dirty="0" err="1"/>
              <a:t>eg</a:t>
            </a:r>
            <a:r>
              <a:rPr lang="en-US" dirty="0"/>
              <a:t>: RDD, SSD</a:t>
            </a:r>
          </a:p>
          <a:p>
            <a:r>
              <a:rPr lang="en-US" dirty="0"/>
              <a:t>2. Added Planning Date Type to the ‘Shipment’ – Logic for this field: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any of the Orders within the load are RDD, then the consolidation is considered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RDD.Otherwise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it is SSD.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Client Cost, Contact Exped (checkbox) -&gt; check with Doug</a:t>
            </a:r>
          </a:p>
          <a:p>
            <a:r>
              <a:rPr lang="en-US" dirty="0"/>
              <a:t>info to verify: </a:t>
            </a:r>
            <a:r>
              <a:rPr lang="en-US" dirty="0">
                <a:solidFill>
                  <a:srgbClr val="FF0000"/>
                </a:solidFill>
              </a:rPr>
              <a:t>Carrier API Quote No, Carrier API Quote Expires (David to check with Procurement), Break Pt</a:t>
            </a:r>
            <a:endParaRPr lang="en-US" dirty="0"/>
          </a:p>
          <a:p>
            <a:r>
              <a:rPr lang="en-US" dirty="0"/>
              <a:t>Check box: Indirect point, Round trip, Customer Preferred (from master data), Order Equip (Client supplied SCAC), Contact Exped</a:t>
            </a:r>
          </a:p>
          <a:p>
            <a:r>
              <a:rPr lang="en-US" dirty="0"/>
              <a:t>Required: Route Group, Carrier Pickup No, </a:t>
            </a:r>
            <a:r>
              <a:rPr lang="en-US" dirty="0">
                <a:solidFill>
                  <a:srgbClr val="FF0000"/>
                </a:solidFill>
              </a:rPr>
              <a:t>SMC info: Carrier API tender ID (required), Rate Source, Transit Time Source, Note</a:t>
            </a:r>
          </a:p>
          <a:p>
            <a:r>
              <a:rPr lang="en-US" dirty="0" err="1">
                <a:solidFill>
                  <a:srgbClr val="FF0000"/>
                </a:solidFill>
              </a:rPr>
              <a:t>Reuired</a:t>
            </a:r>
            <a:r>
              <a:rPr lang="en-US" dirty="0">
                <a:solidFill>
                  <a:srgbClr val="FF0000"/>
                </a:solidFill>
              </a:rPr>
              <a:t>(extra info): Distance Source, Description, TT ID, Modify User, Modify Date, RPC ID (ID of the route guide entry), LCE PK_ID (rename as Shipping Option ID) -&gt; (ID of the row (</a:t>
            </a:r>
            <a:r>
              <a:rPr lang="en-US" dirty="0" err="1"/>
              <a:t>shipping_option.shipping_option_id</a:t>
            </a:r>
            <a:r>
              <a:rPr lang="en-US" dirty="0">
                <a:solidFill>
                  <a:srgbClr val="FF0000"/>
                </a:solidFill>
              </a:rPr>
              <a:t>)Rank, </a:t>
            </a:r>
            <a:r>
              <a:rPr lang="en-US" dirty="0" err="1">
                <a:solidFill>
                  <a:srgbClr val="FF0000"/>
                </a:solidFill>
              </a:rPr>
              <a:t>Scac</a:t>
            </a:r>
            <a:r>
              <a:rPr lang="en-US" dirty="0">
                <a:solidFill>
                  <a:srgbClr val="FF0000"/>
                </a:solidFill>
              </a:rPr>
              <a:t> info row) in </a:t>
            </a:r>
            <a:r>
              <a:rPr lang="en-US" dirty="0" err="1">
                <a:solidFill>
                  <a:srgbClr val="FF0000"/>
                </a:solidFill>
              </a:rPr>
              <a:t>linx</a:t>
            </a:r>
            <a:r>
              <a:rPr lang="en-US" dirty="0">
                <a:solidFill>
                  <a:srgbClr val="FF0000"/>
                </a:solidFill>
              </a:rPr>
              <a:t> DB)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56395-B009-83D1-BAB3-0F4D74237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349F9-84C8-4250-86B8-5C1801EB41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22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922AC-F2F0-7624-89E5-E15608F5C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059780-EE2B-1591-7403-206D33C7E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154BD-899F-21E5-273E-468B6FD39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Questions:</a:t>
            </a:r>
          </a:p>
          <a:p>
            <a:r>
              <a:rPr lang="en-US" dirty="0"/>
              <a:t>1. Do we need Planning Date Type in ‘Order’? If multiple orders are there, should we show all the Planning Date Type for those Orders </a:t>
            </a:r>
            <a:r>
              <a:rPr lang="en-US" dirty="0" err="1"/>
              <a:t>eg</a:t>
            </a:r>
            <a:r>
              <a:rPr lang="en-US" dirty="0"/>
              <a:t>: RDD, SSD</a:t>
            </a:r>
          </a:p>
          <a:p>
            <a:r>
              <a:rPr lang="en-US" dirty="0"/>
              <a:t>2. Added Planning Date Type to the ‘Shipment’ – Logic for this field: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any of the Orders within the load are RDD, then the consolidation is considered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RDD.Otherwise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it is SSD.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Client Cost, Contact Exped (checkbox) -&gt; check with Doug</a:t>
            </a:r>
          </a:p>
          <a:p>
            <a:r>
              <a:rPr lang="en-US" dirty="0"/>
              <a:t>info to verify: </a:t>
            </a:r>
            <a:r>
              <a:rPr lang="en-US" dirty="0">
                <a:solidFill>
                  <a:srgbClr val="FF0000"/>
                </a:solidFill>
              </a:rPr>
              <a:t>Carrier API Quote No, Carrier API Quote Expires (David to check with Procurement), Break Pt</a:t>
            </a:r>
            <a:endParaRPr lang="en-US" dirty="0"/>
          </a:p>
          <a:p>
            <a:r>
              <a:rPr lang="en-US" dirty="0"/>
              <a:t>Check box: Indirect point, Round trip, Customer Preferred (from master data), Order Equip (Client supplied SCAC), Contact Exped</a:t>
            </a:r>
          </a:p>
          <a:p>
            <a:r>
              <a:rPr lang="en-US" dirty="0"/>
              <a:t>Required: Route Group, Carrier Pickup No, </a:t>
            </a:r>
            <a:r>
              <a:rPr lang="en-US" dirty="0">
                <a:solidFill>
                  <a:srgbClr val="FF0000"/>
                </a:solidFill>
              </a:rPr>
              <a:t>SMC info: Carrier API tender ID (required), Rate Source, Transit Time Source, Note</a:t>
            </a:r>
          </a:p>
          <a:p>
            <a:r>
              <a:rPr lang="en-US" dirty="0" err="1">
                <a:solidFill>
                  <a:srgbClr val="FF0000"/>
                </a:solidFill>
              </a:rPr>
              <a:t>Reuired</a:t>
            </a:r>
            <a:r>
              <a:rPr lang="en-US" dirty="0">
                <a:solidFill>
                  <a:srgbClr val="FF0000"/>
                </a:solidFill>
              </a:rPr>
              <a:t>(extra info): Distance Source, Description, TT ID, Modify User, Modify Date, RPC ID (ID of the route guide entry), LCE PK_ID (rename as Shipping Option ID) -&gt; (ID of the row (</a:t>
            </a:r>
            <a:r>
              <a:rPr lang="en-US" dirty="0" err="1"/>
              <a:t>shipping_option.shipping_option_id</a:t>
            </a:r>
            <a:r>
              <a:rPr lang="en-US" dirty="0">
                <a:solidFill>
                  <a:srgbClr val="FF0000"/>
                </a:solidFill>
              </a:rPr>
              <a:t>)Rank, </a:t>
            </a:r>
            <a:r>
              <a:rPr lang="en-US" dirty="0" err="1">
                <a:solidFill>
                  <a:srgbClr val="FF0000"/>
                </a:solidFill>
              </a:rPr>
              <a:t>Scac</a:t>
            </a:r>
            <a:r>
              <a:rPr lang="en-US" dirty="0">
                <a:solidFill>
                  <a:srgbClr val="FF0000"/>
                </a:solidFill>
              </a:rPr>
              <a:t> info row) in </a:t>
            </a:r>
            <a:r>
              <a:rPr lang="en-US" dirty="0" err="1">
                <a:solidFill>
                  <a:srgbClr val="FF0000"/>
                </a:solidFill>
              </a:rPr>
              <a:t>linx</a:t>
            </a:r>
            <a:r>
              <a:rPr lang="en-US" dirty="0">
                <a:solidFill>
                  <a:srgbClr val="FF0000"/>
                </a:solidFill>
              </a:rPr>
              <a:t> DB)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9F490-37A5-8145-AC62-820A06A9A9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349F9-84C8-4250-86B8-5C1801EB41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350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DDC93-A013-15DC-C415-8A4CC1361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464432-3C74-F0ED-CEF4-331ACBB2D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88072-4281-5A16-24A4-937CCCD06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Questions:</a:t>
            </a:r>
          </a:p>
          <a:p>
            <a:r>
              <a:rPr lang="en-US" dirty="0"/>
              <a:t>1. Do we need Planning Date Type in ‘Order’? If multiple orders are there, should we show all the Planning Date Type for those Orders </a:t>
            </a:r>
            <a:r>
              <a:rPr lang="en-US" dirty="0" err="1"/>
              <a:t>eg</a:t>
            </a:r>
            <a:r>
              <a:rPr lang="en-US" dirty="0"/>
              <a:t>: RDD, SSD</a:t>
            </a:r>
          </a:p>
          <a:p>
            <a:r>
              <a:rPr lang="en-US" dirty="0"/>
              <a:t>2. Added Planning Date Type to the ‘Shipment’ – Logic for this field: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any of the Orders within the load are RDD, then the consolidation is considered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RDD.Otherwise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it is SSD.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Client Cost, Contact Exped (checkbox) -&gt; check with Doug</a:t>
            </a:r>
          </a:p>
          <a:p>
            <a:r>
              <a:rPr lang="en-US" dirty="0"/>
              <a:t>info to verify: </a:t>
            </a:r>
            <a:r>
              <a:rPr lang="en-US" dirty="0">
                <a:solidFill>
                  <a:srgbClr val="FF0000"/>
                </a:solidFill>
              </a:rPr>
              <a:t>Carrier API Quote No, Carrier API Quote Expires (David to check with Procurement), Break Pt</a:t>
            </a:r>
            <a:endParaRPr lang="en-US" dirty="0"/>
          </a:p>
          <a:p>
            <a:r>
              <a:rPr lang="en-US" dirty="0"/>
              <a:t>Check box: Indirect point, Round trip, Customer Preferred (from master data), Order Equip (Client supplied SCAC), Contact Exped</a:t>
            </a:r>
          </a:p>
          <a:p>
            <a:r>
              <a:rPr lang="en-US" dirty="0"/>
              <a:t>Required: Route Group, Carrier Pickup No, </a:t>
            </a:r>
            <a:r>
              <a:rPr lang="en-US" dirty="0">
                <a:solidFill>
                  <a:srgbClr val="FF0000"/>
                </a:solidFill>
              </a:rPr>
              <a:t>SMC info: Carrier API tender ID (required), Rate Source, Transit Time Source, Note</a:t>
            </a:r>
          </a:p>
          <a:p>
            <a:r>
              <a:rPr lang="en-US" dirty="0" err="1">
                <a:solidFill>
                  <a:srgbClr val="FF0000"/>
                </a:solidFill>
              </a:rPr>
              <a:t>Reuired</a:t>
            </a:r>
            <a:r>
              <a:rPr lang="en-US" dirty="0">
                <a:solidFill>
                  <a:srgbClr val="FF0000"/>
                </a:solidFill>
              </a:rPr>
              <a:t>(extra info): Distance Source, Description, TT ID, Modify User, Modify Date, RPC ID (ID of the route guide entry), LCE PK_ID (rename as Shipping Option ID) -&gt; (ID of the row (</a:t>
            </a:r>
            <a:r>
              <a:rPr lang="en-US" dirty="0" err="1"/>
              <a:t>shipping_option.shipping_option_id</a:t>
            </a:r>
            <a:r>
              <a:rPr lang="en-US" dirty="0">
                <a:solidFill>
                  <a:srgbClr val="FF0000"/>
                </a:solidFill>
              </a:rPr>
              <a:t>)Rank, </a:t>
            </a:r>
            <a:r>
              <a:rPr lang="en-US" dirty="0" err="1">
                <a:solidFill>
                  <a:srgbClr val="FF0000"/>
                </a:solidFill>
              </a:rPr>
              <a:t>Scac</a:t>
            </a:r>
            <a:r>
              <a:rPr lang="en-US" dirty="0">
                <a:solidFill>
                  <a:srgbClr val="FF0000"/>
                </a:solidFill>
              </a:rPr>
              <a:t> info row) in </a:t>
            </a:r>
            <a:r>
              <a:rPr lang="en-US" dirty="0" err="1">
                <a:solidFill>
                  <a:srgbClr val="FF0000"/>
                </a:solidFill>
              </a:rPr>
              <a:t>linx</a:t>
            </a:r>
            <a:r>
              <a:rPr lang="en-US" dirty="0">
                <a:solidFill>
                  <a:srgbClr val="FF0000"/>
                </a:solidFill>
              </a:rPr>
              <a:t> DB)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70397-3942-AFEC-83DB-7C25AFD67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349F9-84C8-4250-86B8-5C1801EB41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39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41073-98F6-00D4-2FAA-B7AFE3AAD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B5782-2A0A-CBB2-EE7E-59DAA4E26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514D8-B744-B90F-B61A-D5288F91B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Questions:</a:t>
            </a:r>
          </a:p>
          <a:p>
            <a:r>
              <a:rPr lang="en-US" dirty="0"/>
              <a:t>1. Do we need Planning Date Type in ‘Order’? If multiple orders are there, should we show all the Planning Date Type for those Orders </a:t>
            </a:r>
            <a:r>
              <a:rPr lang="en-US" dirty="0" err="1"/>
              <a:t>eg</a:t>
            </a:r>
            <a:r>
              <a:rPr lang="en-US" dirty="0"/>
              <a:t>: RDD, SSD</a:t>
            </a:r>
          </a:p>
          <a:p>
            <a:r>
              <a:rPr lang="en-US" dirty="0"/>
              <a:t>2. Added Planning Date Type to the ‘Shipment’ – Logic for this field: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any of the Orders within the load are RDD, then the consolidation is considered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RDD.Otherwise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it is SSD.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Client Cost, Contact Exped (checkbox) -&gt; check with Doug</a:t>
            </a:r>
          </a:p>
          <a:p>
            <a:r>
              <a:rPr lang="en-US" dirty="0"/>
              <a:t>info to verify: </a:t>
            </a:r>
            <a:r>
              <a:rPr lang="en-US" dirty="0">
                <a:solidFill>
                  <a:srgbClr val="FF0000"/>
                </a:solidFill>
              </a:rPr>
              <a:t>Carrier API Quote No, Carrier API Quote Expires (David to check with Procurement), Break Pt</a:t>
            </a:r>
            <a:endParaRPr lang="en-US" dirty="0"/>
          </a:p>
          <a:p>
            <a:r>
              <a:rPr lang="en-US" dirty="0"/>
              <a:t>Check box: Indirect point, Round trip, Customer Preferred (from master data), Order Equip (Client supplied SCAC), Contact Exped</a:t>
            </a:r>
          </a:p>
          <a:p>
            <a:r>
              <a:rPr lang="en-US" dirty="0"/>
              <a:t>Required: Route Group, Carrier Pickup No, </a:t>
            </a:r>
            <a:r>
              <a:rPr lang="en-US" dirty="0">
                <a:solidFill>
                  <a:srgbClr val="FF0000"/>
                </a:solidFill>
              </a:rPr>
              <a:t>SMC info: Carrier API tender ID (required), Rate Source, Transit Time Source, Note</a:t>
            </a:r>
          </a:p>
          <a:p>
            <a:r>
              <a:rPr lang="en-US" dirty="0" err="1">
                <a:solidFill>
                  <a:srgbClr val="FF0000"/>
                </a:solidFill>
              </a:rPr>
              <a:t>Reuired</a:t>
            </a:r>
            <a:r>
              <a:rPr lang="en-US" dirty="0">
                <a:solidFill>
                  <a:srgbClr val="FF0000"/>
                </a:solidFill>
              </a:rPr>
              <a:t>(extra info): Distance Source, Description, TT ID, Modify User, Modify Date, RPC ID (ID of the route guide entry), LCE PK_ID (rename as Shipping Option ID) -&gt; (ID of the row (</a:t>
            </a:r>
            <a:r>
              <a:rPr lang="en-US" dirty="0" err="1"/>
              <a:t>shipping_option.shipping_option_id</a:t>
            </a:r>
            <a:r>
              <a:rPr lang="en-US" dirty="0">
                <a:solidFill>
                  <a:srgbClr val="FF0000"/>
                </a:solidFill>
              </a:rPr>
              <a:t>)Rank, </a:t>
            </a:r>
            <a:r>
              <a:rPr lang="en-US" dirty="0" err="1">
                <a:solidFill>
                  <a:srgbClr val="FF0000"/>
                </a:solidFill>
              </a:rPr>
              <a:t>Scac</a:t>
            </a:r>
            <a:r>
              <a:rPr lang="en-US" dirty="0">
                <a:solidFill>
                  <a:srgbClr val="FF0000"/>
                </a:solidFill>
              </a:rPr>
              <a:t> info row) in </a:t>
            </a:r>
            <a:r>
              <a:rPr lang="en-US" dirty="0" err="1">
                <a:solidFill>
                  <a:srgbClr val="FF0000"/>
                </a:solidFill>
              </a:rPr>
              <a:t>linx</a:t>
            </a:r>
            <a:r>
              <a:rPr lang="en-US" dirty="0">
                <a:solidFill>
                  <a:srgbClr val="FF0000"/>
                </a:solidFill>
              </a:rPr>
              <a:t> DB)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C85FC-C46F-392C-BF55-E73EFE5BB3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349F9-84C8-4250-86B8-5C1801EB41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021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27F9A-AD75-F70B-F491-2C948A15C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FA9442-2455-DDC9-5626-C0C42EA9F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23720-1892-CE9E-CCC8-2F48485AB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3/9/2026: </a:t>
            </a:r>
            <a:r>
              <a:rPr lang="en-US" dirty="0"/>
              <a:t>Verify with business if they would want Customer Preferred and Indirect Point on ‘Routing Option’ Tab.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Questions:</a:t>
            </a:r>
          </a:p>
          <a:p>
            <a:r>
              <a:rPr lang="en-US" dirty="0"/>
              <a:t>1. Do we need Planning Date Type in ‘Order’? If multiple orders are there, should we show all the Planning Date Type for those Orders </a:t>
            </a:r>
            <a:r>
              <a:rPr lang="en-US" dirty="0" err="1"/>
              <a:t>eg</a:t>
            </a:r>
            <a:r>
              <a:rPr lang="en-US" dirty="0"/>
              <a:t>: RDD, SSD</a:t>
            </a:r>
          </a:p>
          <a:p>
            <a:r>
              <a:rPr lang="en-US" dirty="0"/>
              <a:t>2. Added Planning Date Type to the ‘Shipment’ – Logic for this field: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any of the Orders within the load are RDD, then the consolidation is considered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RDD.Otherwise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it is SSD.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Client Cost, Contact Exped (checkbox) -&gt; check with Doug</a:t>
            </a:r>
          </a:p>
          <a:p>
            <a:r>
              <a:rPr lang="en-US" dirty="0"/>
              <a:t>info to verify: </a:t>
            </a:r>
            <a:r>
              <a:rPr lang="en-US" dirty="0">
                <a:solidFill>
                  <a:srgbClr val="FF0000"/>
                </a:solidFill>
              </a:rPr>
              <a:t>Carrier API Quote No, Carrier API Quote Expires (David to check with Procurement), Break Pt</a:t>
            </a:r>
            <a:endParaRPr lang="en-US" dirty="0"/>
          </a:p>
          <a:p>
            <a:r>
              <a:rPr lang="en-US" dirty="0"/>
              <a:t>Check box: Indirect point, Round trip, Customer Preferred (from master data), Order Equip (Client supplied SCAC), Contact Exped</a:t>
            </a:r>
          </a:p>
          <a:p>
            <a:r>
              <a:rPr lang="en-US" dirty="0"/>
              <a:t>Required: Route Group, Carrier Pickup No, </a:t>
            </a:r>
            <a:r>
              <a:rPr lang="en-US" dirty="0">
                <a:solidFill>
                  <a:srgbClr val="FF0000"/>
                </a:solidFill>
              </a:rPr>
              <a:t>SMC info: Carrier API tender ID (required), Rate Source, Transit Time Source, Note</a:t>
            </a:r>
          </a:p>
          <a:p>
            <a:r>
              <a:rPr lang="en-US" dirty="0" err="1">
                <a:solidFill>
                  <a:srgbClr val="FF0000"/>
                </a:solidFill>
              </a:rPr>
              <a:t>Reuired</a:t>
            </a:r>
            <a:r>
              <a:rPr lang="en-US" dirty="0">
                <a:solidFill>
                  <a:srgbClr val="FF0000"/>
                </a:solidFill>
              </a:rPr>
              <a:t>(extra info): Distance Source, Description, TT ID, Modify User, Modify Date, RPC ID (ID of the route guide entry), LCE PK_ID (rename as Shipping Option ID) -&gt; (ID of the row (</a:t>
            </a:r>
            <a:r>
              <a:rPr lang="en-US" dirty="0" err="1"/>
              <a:t>shipping_option.shipping_option_id</a:t>
            </a:r>
            <a:r>
              <a:rPr lang="en-US" dirty="0">
                <a:solidFill>
                  <a:srgbClr val="FF0000"/>
                </a:solidFill>
              </a:rPr>
              <a:t>)Rank, </a:t>
            </a:r>
            <a:r>
              <a:rPr lang="en-US" dirty="0" err="1">
                <a:solidFill>
                  <a:srgbClr val="FF0000"/>
                </a:solidFill>
              </a:rPr>
              <a:t>Scac</a:t>
            </a:r>
            <a:r>
              <a:rPr lang="en-US" dirty="0">
                <a:solidFill>
                  <a:srgbClr val="FF0000"/>
                </a:solidFill>
              </a:rPr>
              <a:t> info row) in </a:t>
            </a:r>
            <a:r>
              <a:rPr lang="en-US" dirty="0" err="1">
                <a:solidFill>
                  <a:srgbClr val="FF0000"/>
                </a:solidFill>
              </a:rPr>
              <a:t>linx</a:t>
            </a:r>
            <a:r>
              <a:rPr lang="en-US" dirty="0">
                <a:solidFill>
                  <a:srgbClr val="FF0000"/>
                </a:solidFill>
              </a:rPr>
              <a:t> DB)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7B88B-5B9F-11C3-15D8-F6FF48A16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349F9-84C8-4250-86B8-5C1801EB41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10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1DFC8-95AA-0E82-52D4-305F4C37F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B18825-05AC-F715-297F-158D2BAEE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9E09B-1295-8DB6-F54B-3820ABBE5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7E51A-6577-46FD-1B81-9990A741F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A7DCC-9796-EE56-B4F1-84F79FCC0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9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A1CB7-AA53-67ED-4AFE-4C79E4D32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AEDC8-0560-1080-C35B-EC09B233D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128CE-CF56-0FE8-D615-844262E8E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76ECF-B217-103D-CD40-FA0689241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EE93B-F3F8-70A3-59C2-F65C422CE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227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9142F-EE2B-DB56-A655-3DAA06CDC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B4892-438F-AE79-BE95-6CCADF7AF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8BE8F-7CD1-59BF-F011-FC4A61872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D340A-EB54-38D1-C0F5-24F494838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BA30E-51DF-283D-0A93-76FD3F3C9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697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9B1CD-7939-D9A7-D4FE-6D3EF944E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C0CD3-C796-9421-0301-168385C3C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1047E-70A0-8720-B2CE-8489DA7AF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4E9FE-B0E2-6229-3350-571C6A652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52090-FEDF-6990-6A8D-A41B09DA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F7252-7E04-0184-4BBC-FDEB17FB9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78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3B0D9-F68C-4054-FF39-01C600CBC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9C896-77DD-108A-E802-619C9A2F5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BCBE8-B2D8-9F96-7AB1-8690DCBD8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39B093-95C4-3D21-83B3-587C33F9F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24A8E5-BACB-D446-91FF-A16A7541B4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F4B6B3-B005-1096-F3B7-8BEA76A4C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2BD72A-43E4-5317-4A0C-A0B4E2CE8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F57906-7902-48A7-5198-4858AFC95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4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C4B55-727B-B04E-9C0E-025D83255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4B395A-22D3-82FC-3564-BE2EBA8DA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8D58C8-E10D-A0B7-9365-1D3C4A66E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2B58B-5CAD-8F01-6944-1417623D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19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680F1B-85CA-A096-5EF4-38A841C70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64182-569C-45B4-74C5-AF705164A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4138F-EA79-276A-3C31-E1706A1A5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47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4C92D-F234-1E16-91C3-583B777B5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5AF6E-C2CC-8F9F-7F85-8AD53C0D7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C2B28-518C-502C-0B1D-D863A5358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34122-E743-BEF1-7AFA-8C3EDA45C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0C872-BD85-AF10-E4D2-82E908C79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8DF2A-7109-D5C2-E742-42F4D0369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3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6F838-98C6-2365-8BAE-D007C37D7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4F362B-DF60-82D4-D378-5A8472CBB4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7B7B2-9E02-BD32-9411-07A40BB0F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71069-6B2F-99BE-94E0-4DFDD3F2B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452B7-EDBE-A66C-04F9-116782027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3CBAA-05BA-2F03-6A75-FAA3240D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21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B4AB8-CEFD-427C-018F-075B4C483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FCB51-E89C-0F66-4B41-32655CCDC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835DF-FF40-823F-B810-C73AE0E81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F8346-F27B-2885-600F-D02853778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732E5-A4BD-A458-20B1-49ECB00A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55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432F90-BAF1-9CE2-FADA-83CA6AB70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D1C69-120C-4697-A95F-6C03DAB72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546EE-C6CC-CFE2-17E0-DED4B19AE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9CB87-3565-A836-60EA-66A535C44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635BE-5B85-61BC-4573-52325B2AE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28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41ED35-8F10-9A63-CD8E-649715A99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71AC4-B58D-56C3-CE9B-062DEB582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8B031-6E03-CBDA-E02E-9E10AB5994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2A8517-842F-4976-9D6C-E62F17758380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6418D-E661-485F-B6E3-48E118577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8F4E1-69ED-7311-37D1-DF70399EA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DF3951-C297-41AF-9024-023318672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28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A9DE6-D8C5-E9BA-DBCF-3C6758224D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Shipment</a:t>
            </a:r>
          </a:p>
        </p:txBody>
      </p:sp>
    </p:spTree>
    <p:extLst>
      <p:ext uri="{BB962C8B-B14F-4D97-AF65-F5344CB8AC3E}">
        <p14:creationId xmlns:p14="http://schemas.microsoft.com/office/powerpoint/2010/main" val="1653896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A1FA8-46CA-9D9A-79BB-16C393B5D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3D38C-C014-8827-058B-24B99BB9DC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Tendering </a:t>
            </a:r>
          </a:p>
        </p:txBody>
      </p:sp>
    </p:spTree>
    <p:extLst>
      <p:ext uri="{BB962C8B-B14F-4D97-AF65-F5344CB8AC3E}">
        <p14:creationId xmlns:p14="http://schemas.microsoft.com/office/powerpoint/2010/main" val="2301771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BBD53-6F1B-0828-776A-E6666B2B7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2E2D54-917F-34F8-97FA-ED87B93B4F92}"/>
              </a:ext>
            </a:extLst>
          </p:cNvPr>
          <p:cNvSpPr txBox="1"/>
          <p:nvPr/>
        </p:nvSpPr>
        <p:spPr>
          <a:xfrm>
            <a:off x="-38807" y="-46213"/>
            <a:ext cx="166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Shipment Planning View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4039358-9BFD-9422-D668-AB136E4876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764"/>
          <a:stretch>
            <a:fillRect/>
          </a:stretch>
        </p:blipFill>
        <p:spPr>
          <a:xfrm>
            <a:off x="10196144" y="2290072"/>
            <a:ext cx="1070636" cy="25718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3D2D931-3EC9-8846-83A3-27FA0134D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58" y="2587760"/>
            <a:ext cx="1070636" cy="2346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9E57C2B-8C41-B46D-08AE-D8F589C84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779" y="2319983"/>
            <a:ext cx="1244664" cy="25401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3C770D3-DF22-B629-988B-1994C23EC5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9777" y="2280402"/>
            <a:ext cx="1143059" cy="311166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79FB9BA9-C998-4D61-1BF7-EE5936769894}"/>
              </a:ext>
            </a:extLst>
          </p:cNvPr>
          <p:cNvSpPr/>
          <p:nvPr/>
        </p:nvSpPr>
        <p:spPr>
          <a:xfrm>
            <a:off x="276444" y="2246510"/>
            <a:ext cx="387421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F7E85B9-2C28-CBA0-B380-D3A371FD6CED}"/>
              </a:ext>
            </a:extLst>
          </p:cNvPr>
          <p:cNvSpPr/>
          <p:nvPr/>
        </p:nvSpPr>
        <p:spPr>
          <a:xfrm>
            <a:off x="3084300" y="2236683"/>
            <a:ext cx="387421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61ABAD4-0FFF-1DA0-72AC-44D93B1663FC}"/>
              </a:ext>
            </a:extLst>
          </p:cNvPr>
          <p:cNvSpPr/>
          <p:nvPr/>
        </p:nvSpPr>
        <p:spPr>
          <a:xfrm>
            <a:off x="8818067" y="2277882"/>
            <a:ext cx="387421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9BEE6B4-9556-D1CE-AFCF-7ECE0819728D}"/>
              </a:ext>
            </a:extLst>
          </p:cNvPr>
          <p:cNvSpPr/>
          <p:nvPr/>
        </p:nvSpPr>
        <p:spPr>
          <a:xfrm>
            <a:off x="11266780" y="2246510"/>
            <a:ext cx="387421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08377F1-BDB6-903A-BDE8-92993888E94C}"/>
              </a:ext>
            </a:extLst>
          </p:cNvPr>
          <p:cNvSpPr/>
          <p:nvPr/>
        </p:nvSpPr>
        <p:spPr>
          <a:xfrm>
            <a:off x="0" y="2822419"/>
            <a:ext cx="387421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572A9A92-D039-B8E9-BD71-5DA8851F4C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0" y="3396339"/>
            <a:ext cx="461664" cy="36933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0168071-730E-2B4A-FD8A-19E0449C60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2" y="3847073"/>
            <a:ext cx="461664" cy="369332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D3B2782-F6D8-7206-37C5-0BFEBA7456C2}"/>
              </a:ext>
            </a:extLst>
          </p:cNvPr>
          <p:cNvCxnSpPr>
            <a:cxnSpLocks/>
          </p:cNvCxnSpPr>
          <p:nvPr/>
        </p:nvCxnSpPr>
        <p:spPr>
          <a:xfrm>
            <a:off x="421310" y="4521561"/>
            <a:ext cx="11363725" cy="123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5BC340DF-83FD-5388-AF66-169287BF7263}"/>
              </a:ext>
            </a:extLst>
          </p:cNvPr>
          <p:cNvSpPr/>
          <p:nvPr/>
        </p:nvSpPr>
        <p:spPr>
          <a:xfrm>
            <a:off x="1757562" y="4636837"/>
            <a:ext cx="1037228" cy="2455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lt1"/>
                </a:solidFill>
              </a:rPr>
              <a:t>Order   V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0351C8A-892E-75E1-50AD-149C6E2C88FC}"/>
              </a:ext>
            </a:extLst>
          </p:cNvPr>
          <p:cNvSpPr/>
          <p:nvPr/>
        </p:nvSpPr>
        <p:spPr>
          <a:xfrm>
            <a:off x="2840920" y="4647265"/>
            <a:ext cx="1037228" cy="2455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lt1"/>
                </a:solidFill>
              </a:rPr>
              <a:t>Product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C4FE0CA-7E91-B67B-E664-030A8544368B}"/>
              </a:ext>
            </a:extLst>
          </p:cNvPr>
          <p:cNvSpPr/>
          <p:nvPr/>
        </p:nvSpPr>
        <p:spPr>
          <a:xfrm>
            <a:off x="7262270" y="4657279"/>
            <a:ext cx="1037228" cy="2455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lt1"/>
                </a:solidFill>
              </a:rPr>
              <a:t>Documents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2F5E77D-D643-443C-CB10-FD4230227D63}"/>
              </a:ext>
            </a:extLst>
          </p:cNvPr>
          <p:cNvSpPr/>
          <p:nvPr/>
        </p:nvSpPr>
        <p:spPr>
          <a:xfrm>
            <a:off x="669575" y="4644591"/>
            <a:ext cx="1037228" cy="2455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chemeClr val="lt1"/>
                </a:solidFill>
              </a:rPr>
              <a:t>tStops</a:t>
            </a:r>
            <a:r>
              <a:rPr lang="en-US" sz="1000" b="1" dirty="0">
                <a:solidFill>
                  <a:schemeClr val="lt1"/>
                </a:solidFill>
              </a:rPr>
              <a:t> and </a:t>
            </a:r>
            <a:r>
              <a:rPr lang="en-US" sz="1000" b="1" dirty="0" err="1">
                <a:solidFill>
                  <a:schemeClr val="lt1"/>
                </a:solidFill>
              </a:rPr>
              <a:t>Appointmen</a:t>
            </a:r>
            <a:endParaRPr lang="en-US" sz="1000" b="1" dirty="0">
              <a:solidFill>
                <a:schemeClr val="lt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EA28ABC-0F6C-4805-8923-14F939C9F565}"/>
              </a:ext>
            </a:extLst>
          </p:cNvPr>
          <p:cNvSpPr/>
          <p:nvPr/>
        </p:nvSpPr>
        <p:spPr>
          <a:xfrm>
            <a:off x="6164734" y="4662091"/>
            <a:ext cx="1037228" cy="2455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lt1"/>
                </a:solidFill>
              </a:rPr>
              <a:t>Instructions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F069E2B-4A71-C06A-E51B-7151E8E68932}"/>
              </a:ext>
            </a:extLst>
          </p:cNvPr>
          <p:cNvSpPr/>
          <p:nvPr/>
        </p:nvSpPr>
        <p:spPr>
          <a:xfrm>
            <a:off x="5078201" y="4653582"/>
            <a:ext cx="1037228" cy="2455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lt1"/>
                </a:solidFill>
              </a:rPr>
              <a:t>Cost Allocation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A4C024-3EB4-D3D9-A622-4EF08479DAA2}"/>
              </a:ext>
            </a:extLst>
          </p:cNvPr>
          <p:cNvSpPr/>
          <p:nvPr/>
        </p:nvSpPr>
        <p:spPr>
          <a:xfrm>
            <a:off x="3987908" y="4643977"/>
            <a:ext cx="1037228" cy="2730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lt1"/>
                </a:solidFill>
              </a:rPr>
              <a:t>Tender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977E53E-CF0B-3F88-A53A-C1D9516E4412}"/>
              </a:ext>
            </a:extLst>
          </p:cNvPr>
          <p:cNvSpPr/>
          <p:nvPr/>
        </p:nvSpPr>
        <p:spPr>
          <a:xfrm>
            <a:off x="8372122" y="4645661"/>
            <a:ext cx="1037228" cy="2455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lt1"/>
                </a:solidFill>
              </a:rPr>
              <a:t>Notes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5D1E1BB6-2CF4-CE23-52A0-0A75D9D425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7421" y="4632426"/>
            <a:ext cx="249308" cy="27829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0C736FA4-4C60-C082-3AFB-E060A34D18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96955" y="4632426"/>
            <a:ext cx="228612" cy="254013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EFB31017-0C33-C4DD-BD5D-FB317473AF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25567" y="4611166"/>
            <a:ext cx="247663" cy="273064"/>
          </a:xfrm>
          <a:prstGeom prst="rect">
            <a:avLst/>
          </a:prstGeom>
        </p:spPr>
      </p:pic>
      <p:sp>
        <p:nvSpPr>
          <p:cNvPr id="67" name="Oval 66">
            <a:extLst>
              <a:ext uri="{FF2B5EF4-FFF2-40B4-BE49-F238E27FC236}">
                <a16:creationId xmlns:a16="http://schemas.microsoft.com/office/drawing/2014/main" id="{1F850E23-2FE1-F0DD-02ED-C8F28FF60348}"/>
              </a:ext>
            </a:extLst>
          </p:cNvPr>
          <p:cNvSpPr/>
          <p:nvPr/>
        </p:nvSpPr>
        <p:spPr>
          <a:xfrm>
            <a:off x="11949398" y="4295123"/>
            <a:ext cx="387421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E137CC58-C89A-4259-C905-E1507AF8BDD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5488" y="2328029"/>
            <a:ext cx="1054154" cy="21591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067BE86-51F4-674B-D862-3284599EDE90}"/>
              </a:ext>
            </a:extLst>
          </p:cNvPr>
          <p:cNvSpPr/>
          <p:nvPr/>
        </p:nvSpPr>
        <p:spPr>
          <a:xfrm>
            <a:off x="3707672" y="2335404"/>
            <a:ext cx="931640" cy="2627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/>
              <a:t>Actions   v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4F63819-1BAB-2484-80B2-DDE21C092789}"/>
              </a:ext>
            </a:extLst>
          </p:cNvPr>
          <p:cNvGraphicFramePr>
            <a:graphicFrameLocks noGrp="1"/>
          </p:cNvGraphicFramePr>
          <p:nvPr/>
        </p:nvGraphicFramePr>
        <p:xfrm>
          <a:off x="4692367" y="2319983"/>
          <a:ext cx="1041400" cy="368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256831416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Buy Shipment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126209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Edit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57553344"/>
                  </a:ext>
                </a:extLst>
              </a:tr>
            </a:tbl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B7E7BFB9-F42F-A99C-B258-B6EB8B260B0F}"/>
              </a:ext>
            </a:extLst>
          </p:cNvPr>
          <p:cNvSpPr/>
          <p:nvPr/>
        </p:nvSpPr>
        <p:spPr>
          <a:xfrm>
            <a:off x="1856614" y="399787"/>
            <a:ext cx="2052356" cy="131969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900" dirty="0"/>
          </a:p>
          <a:p>
            <a:pPr>
              <a:lnSpc>
                <a:spcPct val="150000"/>
              </a:lnSpc>
            </a:pPr>
            <a:r>
              <a:rPr lang="en-US" sz="900" dirty="0"/>
              <a:t>Date Issues                                   5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Routing Review                           7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Tender Issues                              7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Tender Review                            5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Bid Review                                    2</a:t>
            </a:r>
          </a:p>
          <a:p>
            <a:pPr>
              <a:lnSpc>
                <a:spcPct val="150000"/>
              </a:lnSpc>
            </a:pPr>
            <a:endParaRPr lang="en-US" sz="900" dirty="0"/>
          </a:p>
          <a:p>
            <a:pPr>
              <a:lnSpc>
                <a:spcPct val="150000"/>
              </a:lnSpc>
            </a:pPr>
            <a:endParaRPr lang="en-US" sz="9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197984-0825-A634-074B-D1767001C9E2}"/>
              </a:ext>
            </a:extLst>
          </p:cNvPr>
          <p:cNvSpPr/>
          <p:nvPr/>
        </p:nvSpPr>
        <p:spPr>
          <a:xfrm>
            <a:off x="1872503" y="56249"/>
            <a:ext cx="2027114" cy="27554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Planning Exceptions</a:t>
            </a:r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20B5BF8D-46F4-C222-8868-15D84379E689}"/>
              </a:ext>
            </a:extLst>
          </p:cNvPr>
          <p:cNvSpPr/>
          <p:nvPr/>
        </p:nvSpPr>
        <p:spPr>
          <a:xfrm>
            <a:off x="421310" y="1844370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All (Exceptions)  </a:t>
            </a:r>
          </a:p>
        </p:txBody>
      </p:sp>
      <p:sp>
        <p:nvSpPr>
          <p:cNvPr id="70" name="Rectangle: Top Corners Rounded 69">
            <a:extLst>
              <a:ext uri="{FF2B5EF4-FFF2-40B4-BE49-F238E27FC236}">
                <a16:creationId xmlns:a16="http://schemas.microsoft.com/office/drawing/2014/main" id="{43CC153D-17F9-A300-1735-5ECB30299DC3}"/>
              </a:ext>
            </a:extLst>
          </p:cNvPr>
          <p:cNvSpPr/>
          <p:nvPr/>
        </p:nvSpPr>
        <p:spPr>
          <a:xfrm>
            <a:off x="3922211" y="1858869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Sent</a:t>
            </a:r>
          </a:p>
        </p:txBody>
      </p:sp>
      <p:sp>
        <p:nvSpPr>
          <p:cNvPr id="80" name="Rectangle: Top Corners Rounded 79">
            <a:extLst>
              <a:ext uri="{FF2B5EF4-FFF2-40B4-BE49-F238E27FC236}">
                <a16:creationId xmlns:a16="http://schemas.microsoft.com/office/drawing/2014/main" id="{E27574FF-E2E0-81EB-9371-B0CAD1BDDCBC}"/>
              </a:ext>
            </a:extLst>
          </p:cNvPr>
          <p:cNvSpPr/>
          <p:nvPr/>
        </p:nvSpPr>
        <p:spPr>
          <a:xfrm>
            <a:off x="5105759" y="1858652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Spot Bid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1A364E-4598-DC08-3769-6B6A14D41527}"/>
              </a:ext>
            </a:extLst>
          </p:cNvPr>
          <p:cNvSpPr/>
          <p:nvPr/>
        </p:nvSpPr>
        <p:spPr>
          <a:xfrm>
            <a:off x="4437638" y="423919"/>
            <a:ext cx="2247900" cy="9781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050" b="1" dirty="0"/>
          </a:p>
          <a:p>
            <a:pPr>
              <a:lnSpc>
                <a:spcPct val="150000"/>
              </a:lnSpc>
            </a:pPr>
            <a:r>
              <a:rPr lang="en-US" sz="1050" b="1" dirty="0"/>
              <a:t>Hold                                                            4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Consolidation                                       3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Sent                                                            5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Spot Bid                                                    3</a:t>
            </a:r>
          </a:p>
          <a:p>
            <a:pPr>
              <a:lnSpc>
                <a:spcPct val="150000"/>
              </a:lnSpc>
            </a:pPr>
            <a:endParaRPr lang="en-US" sz="105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81FF72-0397-7BFC-215B-C71DFAF4C520}"/>
              </a:ext>
            </a:extLst>
          </p:cNvPr>
          <p:cNvSpPr/>
          <p:nvPr/>
        </p:nvSpPr>
        <p:spPr>
          <a:xfrm>
            <a:off x="4437638" y="79286"/>
            <a:ext cx="2247900" cy="228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Planning Monitoring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A2CA64-D5F2-006C-B26C-5C5035A7D505}"/>
              </a:ext>
            </a:extLst>
          </p:cNvPr>
          <p:cNvSpPr/>
          <p:nvPr/>
        </p:nvSpPr>
        <p:spPr>
          <a:xfrm>
            <a:off x="6921098" y="331793"/>
            <a:ext cx="2247900" cy="92416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900" dirty="0"/>
              <a:t>PGI Errors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Manual PGI/PGR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Missed PGI/PGR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Rating Failure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C95473-EA9C-6160-BB6C-E52D064FAC11}"/>
              </a:ext>
            </a:extLst>
          </p:cNvPr>
          <p:cNvSpPr/>
          <p:nvPr/>
        </p:nvSpPr>
        <p:spPr>
          <a:xfrm>
            <a:off x="6921098" y="52394"/>
            <a:ext cx="2247900" cy="2286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PGI/PGR Exceptions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0CFDDE-24A7-2355-2ED1-6F5E24C6B62B}"/>
              </a:ext>
            </a:extLst>
          </p:cNvPr>
          <p:cNvSpPr txBox="1"/>
          <p:nvPr/>
        </p:nvSpPr>
        <p:spPr>
          <a:xfrm>
            <a:off x="6824625" y="1407745"/>
            <a:ext cx="4022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Sent</a:t>
            </a:r>
          </a:p>
          <a:p>
            <a:endParaRPr lang="en-US" sz="1000" dirty="0"/>
          </a:p>
          <a:p>
            <a:r>
              <a:rPr lang="en-US" sz="1000" dirty="0"/>
              <a:t>To Be Tendered, To Be Cancelled, Cancel failed and Decline failed tenders will be in Tender Issues?  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3731F30-D404-CF96-A711-EE5889840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983445"/>
              </p:ext>
            </p:extLst>
          </p:nvPr>
        </p:nvGraphicFramePr>
        <p:xfrm>
          <a:off x="387420" y="2819828"/>
          <a:ext cx="11363727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046">
                  <a:extLst>
                    <a:ext uri="{9D8B030D-6E8A-4147-A177-3AD203B41FA5}">
                      <a16:colId xmlns:a16="http://schemas.microsoft.com/office/drawing/2014/main" val="2299961496"/>
                    </a:ext>
                  </a:extLst>
                </a:gridCol>
                <a:gridCol w="1018295">
                  <a:extLst>
                    <a:ext uri="{9D8B030D-6E8A-4147-A177-3AD203B41FA5}">
                      <a16:colId xmlns:a16="http://schemas.microsoft.com/office/drawing/2014/main" val="63472440"/>
                    </a:ext>
                  </a:extLst>
                </a:gridCol>
                <a:gridCol w="940629">
                  <a:extLst>
                    <a:ext uri="{9D8B030D-6E8A-4147-A177-3AD203B41FA5}">
                      <a16:colId xmlns:a16="http://schemas.microsoft.com/office/drawing/2014/main" val="137753275"/>
                    </a:ext>
                  </a:extLst>
                </a:gridCol>
                <a:gridCol w="543665">
                  <a:extLst>
                    <a:ext uri="{9D8B030D-6E8A-4147-A177-3AD203B41FA5}">
                      <a16:colId xmlns:a16="http://schemas.microsoft.com/office/drawing/2014/main" val="1150411051"/>
                    </a:ext>
                  </a:extLst>
                </a:gridCol>
                <a:gridCol w="819812">
                  <a:extLst>
                    <a:ext uri="{9D8B030D-6E8A-4147-A177-3AD203B41FA5}">
                      <a16:colId xmlns:a16="http://schemas.microsoft.com/office/drawing/2014/main" val="3252033987"/>
                    </a:ext>
                  </a:extLst>
                </a:gridCol>
                <a:gridCol w="793922">
                  <a:extLst>
                    <a:ext uri="{9D8B030D-6E8A-4147-A177-3AD203B41FA5}">
                      <a16:colId xmlns:a16="http://schemas.microsoft.com/office/drawing/2014/main" val="4235384241"/>
                    </a:ext>
                  </a:extLst>
                </a:gridCol>
                <a:gridCol w="802553">
                  <a:extLst>
                    <a:ext uri="{9D8B030D-6E8A-4147-A177-3AD203B41FA5}">
                      <a16:colId xmlns:a16="http://schemas.microsoft.com/office/drawing/2014/main" val="1006403190"/>
                    </a:ext>
                  </a:extLst>
                </a:gridCol>
                <a:gridCol w="819813">
                  <a:extLst>
                    <a:ext uri="{9D8B030D-6E8A-4147-A177-3AD203B41FA5}">
                      <a16:colId xmlns:a16="http://schemas.microsoft.com/office/drawing/2014/main" val="923378335"/>
                    </a:ext>
                  </a:extLst>
                </a:gridCol>
                <a:gridCol w="793922">
                  <a:extLst>
                    <a:ext uri="{9D8B030D-6E8A-4147-A177-3AD203B41FA5}">
                      <a16:colId xmlns:a16="http://schemas.microsoft.com/office/drawing/2014/main" val="3417147507"/>
                    </a:ext>
                  </a:extLst>
                </a:gridCol>
                <a:gridCol w="673107">
                  <a:extLst>
                    <a:ext uri="{9D8B030D-6E8A-4147-A177-3AD203B41FA5}">
                      <a16:colId xmlns:a16="http://schemas.microsoft.com/office/drawing/2014/main" val="1350056266"/>
                    </a:ext>
                  </a:extLst>
                </a:gridCol>
                <a:gridCol w="923368">
                  <a:extLst>
                    <a:ext uri="{9D8B030D-6E8A-4147-A177-3AD203B41FA5}">
                      <a16:colId xmlns:a16="http://schemas.microsoft.com/office/drawing/2014/main" val="1042750234"/>
                    </a:ext>
                  </a:extLst>
                </a:gridCol>
                <a:gridCol w="716257">
                  <a:extLst>
                    <a:ext uri="{9D8B030D-6E8A-4147-A177-3AD203B41FA5}">
                      <a16:colId xmlns:a16="http://schemas.microsoft.com/office/drawing/2014/main" val="59263022"/>
                    </a:ext>
                  </a:extLst>
                </a:gridCol>
                <a:gridCol w="786320">
                  <a:extLst>
                    <a:ext uri="{9D8B030D-6E8A-4147-A177-3AD203B41FA5}">
                      <a16:colId xmlns:a16="http://schemas.microsoft.com/office/drawing/2014/main" val="1428556272"/>
                    </a:ext>
                  </a:extLst>
                </a:gridCol>
                <a:gridCol w="867018">
                  <a:extLst>
                    <a:ext uri="{9D8B030D-6E8A-4147-A177-3AD203B41FA5}">
                      <a16:colId xmlns:a16="http://schemas.microsoft.com/office/drawing/2014/main" val="693219657"/>
                    </a:ext>
                  </a:extLst>
                </a:gridCol>
              </a:tblGrid>
              <a:tr h="255019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Buy Shipment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Customer ID(s)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Order 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Order Count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Pickup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Delivery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Gross 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SCAC / Shipment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Validation 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AP Freight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893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B28826319</a:t>
                      </a:r>
                      <a:endParaRPr lang="en-US" sz="9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ERCO_SYS_01 , USALCO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S2600074M , JAN7ERCO7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01/12/2026 09:00 CST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01/29/2026 09:00 CST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Houston, TX, US, 77001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Galena Park, TX, US, 77547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6000 LB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53FTDryVan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SEFL –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Date 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1080 USD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794972"/>
                  </a:ext>
                </a:extLst>
              </a:tr>
              <a:tr h="30929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B28826319</a:t>
                      </a:r>
                      <a:endParaRPr lang="en-US" sz="9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ERCO_SYS_01 , USALCO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S2600074M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01/12/2026 09:00 CST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01/29/2026 09:00 CST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Houston, TX, US, 77001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Galena Park, TX, US, 77547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6000 LB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53FTDryVan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SEFL -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Routing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2000 USD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778212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6C64EE14-EB73-2989-F1A6-A07E9BF45F23}"/>
              </a:ext>
            </a:extLst>
          </p:cNvPr>
          <p:cNvSpPr/>
          <p:nvPr/>
        </p:nvSpPr>
        <p:spPr>
          <a:xfrm>
            <a:off x="9471740" y="4642394"/>
            <a:ext cx="1037228" cy="2455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lt1"/>
                </a:solidFill>
              </a:rPr>
              <a:t>Tender History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48A374-AE41-807C-C32F-38A842D12714}"/>
              </a:ext>
            </a:extLst>
          </p:cNvPr>
          <p:cNvSpPr txBox="1"/>
          <p:nvPr/>
        </p:nvSpPr>
        <p:spPr>
          <a:xfrm>
            <a:off x="2244081" y="5085912"/>
            <a:ext cx="16340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Consignor / Pickup / Origin</a:t>
            </a:r>
          </a:p>
          <a:p>
            <a:endParaRPr lang="en-US" sz="1200" dirty="0"/>
          </a:p>
          <a:p>
            <a:r>
              <a:rPr lang="en-US" sz="1200" dirty="0"/>
              <a:t>Pickup location name                             </a:t>
            </a:r>
          </a:p>
          <a:p>
            <a:r>
              <a:rPr lang="en-US" sz="1200" dirty="0"/>
              <a:t>Country</a:t>
            </a:r>
          </a:p>
          <a:p>
            <a:r>
              <a:rPr lang="en-US" sz="1200" dirty="0"/>
              <a:t>State</a:t>
            </a:r>
          </a:p>
          <a:p>
            <a:r>
              <a:rPr lang="en-US" sz="1200" dirty="0"/>
              <a:t>City</a:t>
            </a:r>
          </a:p>
          <a:p>
            <a:r>
              <a:rPr lang="en-US" sz="1200" dirty="0"/>
              <a:t>Postal Code</a:t>
            </a:r>
          </a:p>
          <a:p>
            <a:r>
              <a:rPr lang="en-US" sz="1200" dirty="0"/>
              <a:t>Pickup Date/Time</a:t>
            </a:r>
          </a:p>
          <a:p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FE6DC7-3C26-B34C-DCFE-AB3FB09A25B9}"/>
              </a:ext>
            </a:extLst>
          </p:cNvPr>
          <p:cNvSpPr txBox="1"/>
          <p:nvPr/>
        </p:nvSpPr>
        <p:spPr>
          <a:xfrm>
            <a:off x="3940454" y="5064775"/>
            <a:ext cx="17104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Consignee / Delivery / Destination</a:t>
            </a:r>
          </a:p>
          <a:p>
            <a:endParaRPr lang="en-US" sz="1200" dirty="0"/>
          </a:p>
          <a:p>
            <a:r>
              <a:rPr lang="en-US" sz="1200" dirty="0"/>
              <a:t>Delivery location name                             </a:t>
            </a:r>
          </a:p>
          <a:p>
            <a:r>
              <a:rPr lang="en-US" sz="1200" dirty="0"/>
              <a:t>Country</a:t>
            </a:r>
          </a:p>
          <a:p>
            <a:r>
              <a:rPr lang="en-US" sz="1200" dirty="0"/>
              <a:t>State</a:t>
            </a:r>
          </a:p>
          <a:p>
            <a:r>
              <a:rPr lang="en-US" sz="1200" dirty="0"/>
              <a:t>City</a:t>
            </a:r>
          </a:p>
          <a:p>
            <a:r>
              <a:rPr lang="en-US" sz="1200" dirty="0"/>
              <a:t>Postal code</a:t>
            </a:r>
          </a:p>
          <a:p>
            <a:r>
              <a:rPr lang="en-US" sz="1200" dirty="0"/>
              <a:t>Delivery Date/Time</a:t>
            </a:r>
          </a:p>
          <a:p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F8F798-48FB-3BF1-A670-C32397812FD7}"/>
              </a:ext>
            </a:extLst>
          </p:cNvPr>
          <p:cNvSpPr txBox="1"/>
          <p:nvPr/>
        </p:nvSpPr>
        <p:spPr>
          <a:xfrm>
            <a:off x="327117" y="5040411"/>
            <a:ext cx="191632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Planning Date Type</a:t>
            </a:r>
          </a:p>
          <a:p>
            <a:endParaRPr lang="en-US" sz="1200" dirty="0"/>
          </a:p>
          <a:p>
            <a:r>
              <a:rPr lang="en-US" sz="1200" dirty="0"/>
              <a:t>Order Pickup Date/Time</a:t>
            </a:r>
          </a:p>
          <a:p>
            <a:r>
              <a:rPr lang="en-US" sz="1200" dirty="0"/>
              <a:t>Order Delivery Date/Time</a:t>
            </a:r>
          </a:p>
          <a:p>
            <a:endParaRPr lang="en-US" sz="1200" dirty="0"/>
          </a:p>
          <a:p>
            <a:r>
              <a:rPr lang="en-US" sz="1200" dirty="0"/>
              <a:t>Buy Shipment ID</a:t>
            </a:r>
          </a:p>
          <a:p>
            <a:r>
              <a:rPr lang="en-US" sz="1200" dirty="0"/>
              <a:t>Sell Shipment ID</a:t>
            </a:r>
          </a:p>
          <a:p>
            <a:endParaRPr lang="en-US" sz="1200" dirty="0"/>
          </a:p>
          <a:p>
            <a:r>
              <a:rPr lang="en-US" sz="1200" dirty="0"/>
              <a:t>Order #:</a:t>
            </a: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B0392E64-13C7-5A42-13D0-808EB415D5AB}"/>
              </a:ext>
            </a:extLst>
          </p:cNvPr>
          <p:cNvSpPr/>
          <p:nvPr/>
        </p:nvSpPr>
        <p:spPr>
          <a:xfrm>
            <a:off x="1574880" y="1842454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Hold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3BA0B3B4-696F-79FC-26BD-8B7406AFC813}"/>
              </a:ext>
            </a:extLst>
          </p:cNvPr>
          <p:cNvSpPr/>
          <p:nvPr/>
        </p:nvSpPr>
        <p:spPr>
          <a:xfrm>
            <a:off x="2758428" y="1842237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Consolidation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6B45E5-1D6C-4CB7-BE8C-E17DC42F74EA}"/>
              </a:ext>
            </a:extLst>
          </p:cNvPr>
          <p:cNvSpPr/>
          <p:nvPr/>
        </p:nvSpPr>
        <p:spPr>
          <a:xfrm>
            <a:off x="10534347" y="4642231"/>
            <a:ext cx="1037228" cy="2455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lt1"/>
                </a:solidFill>
              </a:rPr>
              <a:t>Audit</a:t>
            </a:r>
          </a:p>
        </p:txBody>
      </p:sp>
    </p:spTree>
    <p:extLst>
      <p:ext uri="{BB962C8B-B14F-4D97-AF65-F5344CB8AC3E}">
        <p14:creationId xmlns:p14="http://schemas.microsoft.com/office/powerpoint/2010/main" val="3660284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3FF36-77FA-7C73-BC1F-E6399C0E2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B6DD8BA-43DE-E942-43AB-0B72DD15054D}"/>
              </a:ext>
            </a:extLst>
          </p:cNvPr>
          <p:cNvGrpSpPr/>
          <p:nvPr/>
        </p:nvGrpSpPr>
        <p:grpSpPr>
          <a:xfrm>
            <a:off x="9703946" y="4014439"/>
            <a:ext cx="2277067" cy="738682"/>
            <a:chOff x="6886451" y="3968719"/>
            <a:chExt cx="2277067" cy="738682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9FA56B6-3077-A7A4-E25F-3D93E3FDD9F0}"/>
                </a:ext>
              </a:extLst>
            </p:cNvPr>
            <p:cNvSpPr/>
            <p:nvPr/>
          </p:nvSpPr>
          <p:spPr>
            <a:xfrm>
              <a:off x="6938827" y="4249136"/>
              <a:ext cx="2224691" cy="4582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609956A-3C7D-1581-1E23-E39DA036A54E}"/>
                </a:ext>
              </a:extLst>
            </p:cNvPr>
            <p:cNvSpPr txBox="1"/>
            <p:nvPr/>
          </p:nvSpPr>
          <p:spPr>
            <a:xfrm>
              <a:off x="6886451" y="3968719"/>
              <a:ext cx="19019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Actions – Shipment Option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0CD2E2F-BCE6-4177-E976-085BD46CA7E9}"/>
              </a:ext>
            </a:extLst>
          </p:cNvPr>
          <p:cNvGrpSpPr/>
          <p:nvPr/>
        </p:nvGrpSpPr>
        <p:grpSpPr>
          <a:xfrm>
            <a:off x="6973144" y="3613696"/>
            <a:ext cx="2647501" cy="1157714"/>
            <a:chOff x="3899617" y="3549688"/>
            <a:chExt cx="2647501" cy="1157714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30EC8F8-3712-302B-C64E-C4E38E7200C6}"/>
                </a:ext>
              </a:extLst>
            </p:cNvPr>
            <p:cNvSpPr/>
            <p:nvPr/>
          </p:nvSpPr>
          <p:spPr>
            <a:xfrm>
              <a:off x="3899617" y="3888170"/>
              <a:ext cx="2647501" cy="8192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4A328A3-4D87-8AD6-DA20-B3EE36B6A6C3}"/>
                </a:ext>
              </a:extLst>
            </p:cNvPr>
            <p:cNvSpPr txBox="1"/>
            <p:nvPr/>
          </p:nvSpPr>
          <p:spPr>
            <a:xfrm>
              <a:off x="3899617" y="3549688"/>
              <a:ext cx="18492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Tender Actions 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2C431F3A-25EB-EAB0-3ACD-5F00E153B29C}"/>
              </a:ext>
            </a:extLst>
          </p:cNvPr>
          <p:cNvSpPr/>
          <p:nvPr/>
        </p:nvSpPr>
        <p:spPr>
          <a:xfrm>
            <a:off x="10537379" y="1939420"/>
            <a:ext cx="1353129" cy="1019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62896-2F34-EEC3-B320-E2CFB35AD82A}"/>
              </a:ext>
            </a:extLst>
          </p:cNvPr>
          <p:cNvSpPr txBox="1"/>
          <p:nvPr/>
        </p:nvSpPr>
        <p:spPr>
          <a:xfrm>
            <a:off x="-38807" y="-46213"/>
            <a:ext cx="1660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Tender Page  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0B53D1-FB65-AD57-8AE9-C8E2B151834F}"/>
              </a:ext>
            </a:extLst>
          </p:cNvPr>
          <p:cNvSpPr/>
          <p:nvPr/>
        </p:nvSpPr>
        <p:spPr>
          <a:xfrm>
            <a:off x="1856614" y="399787"/>
            <a:ext cx="2052356" cy="11449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900" dirty="0"/>
          </a:p>
          <a:p>
            <a:pPr>
              <a:lnSpc>
                <a:spcPct val="150000"/>
              </a:lnSpc>
            </a:pPr>
            <a:r>
              <a:rPr lang="en-US" sz="900" dirty="0"/>
              <a:t>Date Issues                                   5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Routing Review                           7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Tender Issues                              7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Tender Review                            5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Bid Review                                    2</a:t>
            </a:r>
          </a:p>
          <a:p>
            <a:pPr>
              <a:lnSpc>
                <a:spcPct val="150000"/>
              </a:lnSpc>
            </a:pPr>
            <a:endParaRPr lang="en-US" sz="900" dirty="0"/>
          </a:p>
          <a:p>
            <a:pPr>
              <a:lnSpc>
                <a:spcPct val="150000"/>
              </a:lnSpc>
            </a:pPr>
            <a:endParaRPr lang="en-US" sz="9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332C99-9A9D-719A-8591-A475BA0465C5}"/>
              </a:ext>
            </a:extLst>
          </p:cNvPr>
          <p:cNvSpPr/>
          <p:nvPr/>
        </p:nvSpPr>
        <p:spPr>
          <a:xfrm>
            <a:off x="1872503" y="56249"/>
            <a:ext cx="2027114" cy="27554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Planning Exceptions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AB174F-8A05-9350-80AB-A6426F2257BA}"/>
              </a:ext>
            </a:extLst>
          </p:cNvPr>
          <p:cNvSpPr/>
          <p:nvPr/>
        </p:nvSpPr>
        <p:spPr>
          <a:xfrm>
            <a:off x="4444598" y="52394"/>
            <a:ext cx="2247900" cy="228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Planning Monitoring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46F6F2-35DB-52E6-038D-709DDE16A2A8}"/>
              </a:ext>
            </a:extLst>
          </p:cNvPr>
          <p:cNvSpPr/>
          <p:nvPr/>
        </p:nvSpPr>
        <p:spPr>
          <a:xfrm>
            <a:off x="6921098" y="331793"/>
            <a:ext cx="2247900" cy="9781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900" dirty="0"/>
              <a:t>PGI Errors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Manual PGI/PGR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Missed PGI/PGR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Rating Failure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7EE21C-27A8-0A77-E497-03B830859820}"/>
              </a:ext>
            </a:extLst>
          </p:cNvPr>
          <p:cNvSpPr/>
          <p:nvPr/>
        </p:nvSpPr>
        <p:spPr>
          <a:xfrm>
            <a:off x="6921098" y="52394"/>
            <a:ext cx="2247900" cy="2286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PGI/PGR </a:t>
            </a:r>
            <a:r>
              <a:rPr lang="en-US" sz="1100" dirty="0" err="1"/>
              <a:t>Excptions</a:t>
            </a:r>
            <a:endParaRPr lang="en-US" sz="11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DB160BD-C433-31A8-1D4A-FE08863A3DCA}"/>
              </a:ext>
            </a:extLst>
          </p:cNvPr>
          <p:cNvCxnSpPr/>
          <p:nvPr/>
        </p:nvCxnSpPr>
        <p:spPr>
          <a:xfrm>
            <a:off x="212580" y="1662255"/>
            <a:ext cx="1152144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D5CAABA-41A3-63D9-92FC-D6E30DF165EF}"/>
              </a:ext>
            </a:extLst>
          </p:cNvPr>
          <p:cNvSpPr txBox="1"/>
          <p:nvPr/>
        </p:nvSpPr>
        <p:spPr>
          <a:xfrm>
            <a:off x="5272671" y="1743623"/>
            <a:ext cx="2893819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Initial Pickup </a:t>
            </a:r>
          </a:p>
          <a:p>
            <a:endParaRPr lang="en-US" sz="1050" dirty="0"/>
          </a:p>
          <a:p>
            <a:r>
              <a:rPr lang="en-US" sz="1050" b="1" dirty="0"/>
              <a:t>Pickup location name  &amp; Address                         </a:t>
            </a:r>
          </a:p>
          <a:p>
            <a:r>
              <a:rPr lang="en-US" sz="1050" i="1" dirty="0"/>
              <a:t>G2O TECHNOLOGIES LLC</a:t>
            </a:r>
          </a:p>
          <a:p>
            <a:r>
              <a:rPr lang="en-US" sz="1050" i="1" dirty="0"/>
              <a:t>1502 NORTH WASHINGTON</a:t>
            </a:r>
          </a:p>
          <a:p>
            <a:r>
              <a:rPr lang="en-US" sz="1050" i="1" dirty="0"/>
              <a:t>COLUMBUS</a:t>
            </a:r>
          </a:p>
          <a:p>
            <a:r>
              <a:rPr lang="en-US" sz="1050" i="1" dirty="0"/>
              <a:t>31907 GA</a:t>
            </a:r>
          </a:p>
          <a:p>
            <a:r>
              <a:rPr lang="en-US" sz="1050" i="1" dirty="0"/>
              <a:t>US</a:t>
            </a:r>
          </a:p>
          <a:p>
            <a:endParaRPr lang="en-US" sz="1050" dirty="0"/>
          </a:p>
          <a:p>
            <a:r>
              <a:rPr lang="en-US" sz="1050" b="1" dirty="0"/>
              <a:t>Pickup Date/Time (Preferred carrier)</a:t>
            </a:r>
          </a:p>
          <a:p>
            <a:r>
              <a:rPr lang="en-US" sz="1050" dirty="0"/>
              <a:t>02/14/2026 03:00 CST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7BCB30-52A4-169D-5744-AD0CA8D393E1}"/>
              </a:ext>
            </a:extLst>
          </p:cNvPr>
          <p:cNvSpPr txBox="1"/>
          <p:nvPr/>
        </p:nvSpPr>
        <p:spPr>
          <a:xfrm>
            <a:off x="8005505" y="1758871"/>
            <a:ext cx="2604725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Final Delivery</a:t>
            </a:r>
          </a:p>
          <a:p>
            <a:endParaRPr lang="en-US" sz="1050" b="1" dirty="0"/>
          </a:p>
          <a:p>
            <a:r>
              <a:rPr lang="en-US" sz="1050" b="1" dirty="0"/>
              <a:t>Delivery location name &amp; Address  </a:t>
            </a:r>
            <a:r>
              <a:rPr lang="en-US" sz="1050" dirty="0"/>
              <a:t>                           </a:t>
            </a:r>
          </a:p>
          <a:p>
            <a:r>
              <a:rPr lang="en-US" sz="1050" i="1" dirty="0"/>
              <a:t>NALCO ENERGY SERVICES</a:t>
            </a:r>
          </a:p>
          <a:p>
            <a:r>
              <a:rPr lang="en-US" sz="1050" dirty="0"/>
              <a:t>6717 S. 61ST WEST AVE</a:t>
            </a:r>
          </a:p>
          <a:p>
            <a:r>
              <a:rPr lang="en-US" sz="1050" dirty="0"/>
              <a:t>NEENAH</a:t>
            </a:r>
          </a:p>
          <a:p>
            <a:r>
              <a:rPr lang="en-US" sz="1050" dirty="0"/>
              <a:t>54956 WI</a:t>
            </a:r>
          </a:p>
          <a:p>
            <a:r>
              <a:rPr lang="en-US" sz="1050" dirty="0"/>
              <a:t>US</a:t>
            </a:r>
          </a:p>
          <a:p>
            <a:endParaRPr lang="en-US" sz="1050" dirty="0"/>
          </a:p>
          <a:p>
            <a:r>
              <a:rPr lang="en-US" sz="1050" b="1" dirty="0"/>
              <a:t>Delivery Date/Time (Preferred Carrier)</a:t>
            </a:r>
          </a:p>
          <a:p>
            <a:r>
              <a:rPr lang="en-US" sz="1050" dirty="0"/>
              <a:t>02/22/2025 14:00 CST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C07029-08F9-90D4-455A-459B38E17D1A}"/>
              </a:ext>
            </a:extLst>
          </p:cNvPr>
          <p:cNvSpPr txBox="1"/>
          <p:nvPr/>
        </p:nvSpPr>
        <p:spPr>
          <a:xfrm>
            <a:off x="212580" y="1837380"/>
            <a:ext cx="253166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Shipment</a:t>
            </a:r>
          </a:p>
          <a:p>
            <a:endParaRPr lang="en-US" sz="1050" dirty="0"/>
          </a:p>
          <a:p>
            <a:r>
              <a:rPr lang="en-US" sz="1050" b="1" dirty="0"/>
              <a:t>Buy Shipment ID:</a:t>
            </a:r>
            <a:r>
              <a:rPr lang="en-US" sz="1050" dirty="0"/>
              <a:t> B288263 </a:t>
            </a:r>
          </a:p>
          <a:p>
            <a:r>
              <a:rPr lang="en-US" sz="1050" b="1" dirty="0"/>
              <a:t>Sell Shipment ID:</a:t>
            </a:r>
            <a:r>
              <a:rPr lang="en-US" sz="1050" dirty="0"/>
              <a:t> S453678</a:t>
            </a:r>
          </a:p>
          <a:p>
            <a:r>
              <a:rPr lang="en-US" sz="1050" b="1" dirty="0"/>
              <a:t>Mode: </a:t>
            </a:r>
            <a:r>
              <a:rPr lang="en-US" sz="1050" dirty="0"/>
              <a:t>TL / LTL / RR / IMD /AIR</a:t>
            </a:r>
          </a:p>
          <a:p>
            <a:r>
              <a:rPr lang="en-US" sz="1050" b="1" dirty="0"/>
              <a:t>Seed Equipment:</a:t>
            </a:r>
            <a:r>
              <a:rPr lang="en-US" sz="1050" dirty="0"/>
              <a:t> LTL</a:t>
            </a:r>
          </a:p>
          <a:p>
            <a:r>
              <a:rPr lang="en-US" sz="1050" b="1" dirty="0">
                <a:solidFill>
                  <a:srgbClr val="0000FF"/>
                </a:solidFill>
              </a:rPr>
              <a:t>Planning Date Type:  </a:t>
            </a:r>
            <a:r>
              <a:rPr lang="en-US" sz="1050" dirty="0">
                <a:solidFill>
                  <a:srgbClr val="0000FF"/>
                </a:solidFill>
              </a:rPr>
              <a:t>RDD</a:t>
            </a:r>
          </a:p>
          <a:p>
            <a:r>
              <a:rPr lang="en-US" sz="1050" b="1" dirty="0"/>
              <a:t>Gross Weight:</a:t>
            </a:r>
            <a:r>
              <a:rPr lang="en-US" sz="1050" dirty="0"/>
              <a:t> 420 LB</a:t>
            </a:r>
          </a:p>
          <a:p>
            <a:r>
              <a:rPr lang="en-US" sz="1050" b="1" dirty="0"/>
              <a:t>Pkg Count:</a:t>
            </a:r>
            <a:r>
              <a:rPr lang="en-US" sz="1050" dirty="0"/>
              <a:t> 12 PLT </a:t>
            </a:r>
          </a:p>
          <a:p>
            <a:r>
              <a:rPr lang="en-US" sz="1050" b="1" dirty="0"/>
              <a:t>Volume: </a:t>
            </a:r>
            <a:r>
              <a:rPr lang="en-US" sz="1050" dirty="0"/>
              <a:t>45 </a:t>
            </a:r>
            <a:r>
              <a:rPr lang="en-US" sz="1050" dirty="0" err="1"/>
              <a:t>cuft</a:t>
            </a:r>
            <a:endParaRPr lang="en-US" sz="1050" dirty="0"/>
          </a:p>
          <a:p>
            <a:r>
              <a:rPr lang="en-US" sz="1050" b="1" dirty="0"/>
              <a:t>Distance:</a:t>
            </a:r>
            <a:r>
              <a:rPr lang="en-US" sz="1050" dirty="0"/>
              <a:t> 1000 MI</a:t>
            </a:r>
          </a:p>
          <a:p>
            <a:endParaRPr lang="en-US" sz="1050" dirty="0"/>
          </a:p>
          <a:p>
            <a:r>
              <a:rPr lang="en-US" sz="1050" dirty="0"/>
              <a:t>Instructions: </a:t>
            </a:r>
          </a:p>
          <a:p>
            <a:r>
              <a:rPr lang="en-US" sz="1050" dirty="0"/>
              <a:t>Hazardous: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F697BC-95F5-316C-325D-FC562E7E44FD}"/>
              </a:ext>
            </a:extLst>
          </p:cNvPr>
          <p:cNvSpPr txBox="1"/>
          <p:nvPr/>
        </p:nvSpPr>
        <p:spPr>
          <a:xfrm>
            <a:off x="2080291" y="1796834"/>
            <a:ext cx="3668532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Order</a:t>
            </a:r>
          </a:p>
          <a:p>
            <a:endParaRPr lang="en-US" sz="1050" dirty="0"/>
          </a:p>
          <a:p>
            <a:r>
              <a:rPr lang="en-US" sz="1050" b="1" dirty="0">
                <a:solidFill>
                  <a:srgbClr val="0000FF"/>
                </a:solidFill>
              </a:rPr>
              <a:t>Planning Date Type:  </a:t>
            </a:r>
            <a:r>
              <a:rPr lang="en-US" sz="1050" dirty="0">
                <a:solidFill>
                  <a:srgbClr val="0000FF"/>
                </a:solidFill>
              </a:rPr>
              <a:t>RDD</a:t>
            </a:r>
          </a:p>
          <a:p>
            <a:r>
              <a:rPr lang="en-US" sz="1050" b="1" dirty="0"/>
              <a:t>Order Pickup Date/Time: </a:t>
            </a:r>
            <a:r>
              <a:rPr lang="en-US" sz="1050" dirty="0"/>
              <a:t>02/14/2026 03:00 CST</a:t>
            </a:r>
          </a:p>
          <a:p>
            <a:r>
              <a:rPr lang="en-US" sz="1050" b="1" dirty="0"/>
              <a:t>Order Delivery Date/Time: </a:t>
            </a:r>
            <a:r>
              <a:rPr lang="en-US" sz="1050" dirty="0"/>
              <a:t>02/22/2025 14:00 CST</a:t>
            </a:r>
          </a:p>
          <a:p>
            <a:r>
              <a:rPr lang="en-US" sz="1050" b="1" dirty="0"/>
              <a:t>Order #:</a:t>
            </a:r>
            <a:r>
              <a:rPr lang="en-US" sz="1050" dirty="0"/>
              <a:t>O345, O098</a:t>
            </a:r>
          </a:p>
          <a:p>
            <a:r>
              <a:rPr lang="en-US" sz="1050" b="1" dirty="0"/>
              <a:t>Direct Cost: </a:t>
            </a:r>
            <a:r>
              <a:rPr lang="en-US" sz="1050" dirty="0"/>
              <a:t>410 USD, 240 USD</a:t>
            </a:r>
          </a:p>
          <a:p>
            <a:endParaRPr lang="en-US" sz="1050" dirty="0"/>
          </a:p>
          <a:p>
            <a:r>
              <a:rPr lang="en-US" sz="1050" dirty="0"/>
              <a:t>Pickup #: 234696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8322DE9-E5BA-4F61-4E9B-5E495042C1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607" y="3690245"/>
            <a:ext cx="461664" cy="36933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95A1C3D-6B83-CF90-6945-8058F93BF0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26" y="3928940"/>
            <a:ext cx="461664" cy="369332"/>
          </a:xfrm>
          <a:prstGeom prst="rect">
            <a:avLst/>
          </a:prstGeom>
        </p:spPr>
      </p:pic>
      <p:sp>
        <p:nvSpPr>
          <p:cNvPr id="31" name="Rectangle: Top Corners Rounded 30">
            <a:extLst>
              <a:ext uri="{FF2B5EF4-FFF2-40B4-BE49-F238E27FC236}">
                <a16:creationId xmlns:a16="http://schemas.microsoft.com/office/drawing/2014/main" id="{4F8B4A87-0576-035A-3FF7-BD6BC1BE2D75}"/>
              </a:ext>
            </a:extLst>
          </p:cNvPr>
          <p:cNvSpPr/>
          <p:nvPr/>
        </p:nvSpPr>
        <p:spPr>
          <a:xfrm>
            <a:off x="9823958" y="4345714"/>
            <a:ext cx="879772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Add Quote</a:t>
            </a:r>
          </a:p>
        </p:txBody>
      </p:sp>
      <p:sp>
        <p:nvSpPr>
          <p:cNvPr id="33" name="Rectangle: Top Corners Rounded 32">
            <a:extLst>
              <a:ext uri="{FF2B5EF4-FFF2-40B4-BE49-F238E27FC236}">
                <a16:creationId xmlns:a16="http://schemas.microsoft.com/office/drawing/2014/main" id="{1CFEB63D-AC2E-B479-EAC3-AEC5F9E9146E}"/>
              </a:ext>
            </a:extLst>
          </p:cNvPr>
          <p:cNvSpPr/>
          <p:nvPr/>
        </p:nvSpPr>
        <p:spPr>
          <a:xfrm>
            <a:off x="2780942" y="4474903"/>
            <a:ext cx="1044003" cy="329569"/>
          </a:xfrm>
          <a:prstGeom prst="round2Same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View Volume Commitment</a:t>
            </a:r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9B8AAC33-9A56-F7BB-45E8-9DA553D56F3C}"/>
              </a:ext>
            </a:extLst>
          </p:cNvPr>
          <p:cNvSpPr/>
          <p:nvPr/>
        </p:nvSpPr>
        <p:spPr>
          <a:xfrm>
            <a:off x="10823000" y="4323062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Show Rate Details (QCA)</a:t>
            </a:r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FBC9DE41-4CAD-1BDD-FAA7-ED398CA017B8}"/>
              </a:ext>
            </a:extLst>
          </p:cNvPr>
          <p:cNvSpPr/>
          <p:nvPr/>
        </p:nvSpPr>
        <p:spPr>
          <a:xfrm>
            <a:off x="10686216" y="2084026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Routing Query (QCP)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AD58208B-755C-8378-FC5F-20A0EAE5D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421146"/>
              </p:ext>
            </p:extLst>
          </p:nvPr>
        </p:nvGraphicFramePr>
        <p:xfrm>
          <a:off x="329314" y="4855823"/>
          <a:ext cx="11957937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063">
                  <a:extLst>
                    <a:ext uri="{9D8B030D-6E8A-4147-A177-3AD203B41FA5}">
                      <a16:colId xmlns:a16="http://schemas.microsoft.com/office/drawing/2014/main" val="2299961496"/>
                    </a:ext>
                  </a:extLst>
                </a:gridCol>
                <a:gridCol w="428729">
                  <a:extLst>
                    <a:ext uri="{9D8B030D-6E8A-4147-A177-3AD203B41FA5}">
                      <a16:colId xmlns:a16="http://schemas.microsoft.com/office/drawing/2014/main" val="63472440"/>
                    </a:ext>
                  </a:extLst>
                </a:gridCol>
                <a:gridCol w="539883">
                  <a:extLst>
                    <a:ext uri="{9D8B030D-6E8A-4147-A177-3AD203B41FA5}">
                      <a16:colId xmlns:a16="http://schemas.microsoft.com/office/drawing/2014/main" val="2417404039"/>
                    </a:ext>
                  </a:extLst>
                </a:gridCol>
                <a:gridCol w="717715">
                  <a:extLst>
                    <a:ext uri="{9D8B030D-6E8A-4147-A177-3AD203B41FA5}">
                      <a16:colId xmlns:a16="http://schemas.microsoft.com/office/drawing/2014/main" val="137753275"/>
                    </a:ext>
                  </a:extLst>
                </a:gridCol>
                <a:gridCol w="489080">
                  <a:extLst>
                    <a:ext uri="{9D8B030D-6E8A-4147-A177-3AD203B41FA5}">
                      <a16:colId xmlns:a16="http://schemas.microsoft.com/office/drawing/2014/main" val="1150411051"/>
                    </a:ext>
                  </a:extLst>
                </a:gridCol>
                <a:gridCol w="667551">
                  <a:extLst>
                    <a:ext uri="{9D8B030D-6E8A-4147-A177-3AD203B41FA5}">
                      <a16:colId xmlns:a16="http://schemas.microsoft.com/office/drawing/2014/main" val="3252033987"/>
                    </a:ext>
                  </a:extLst>
                </a:gridCol>
                <a:gridCol w="689126">
                  <a:extLst>
                    <a:ext uri="{9D8B030D-6E8A-4147-A177-3AD203B41FA5}">
                      <a16:colId xmlns:a16="http://schemas.microsoft.com/office/drawing/2014/main" val="1006403190"/>
                    </a:ext>
                  </a:extLst>
                </a:gridCol>
                <a:gridCol w="1140113">
                  <a:extLst>
                    <a:ext uri="{9D8B030D-6E8A-4147-A177-3AD203B41FA5}">
                      <a16:colId xmlns:a16="http://schemas.microsoft.com/office/drawing/2014/main" val="1350056266"/>
                    </a:ext>
                  </a:extLst>
                </a:gridCol>
                <a:gridCol w="993945">
                  <a:extLst>
                    <a:ext uri="{9D8B030D-6E8A-4147-A177-3AD203B41FA5}">
                      <a16:colId xmlns:a16="http://schemas.microsoft.com/office/drawing/2014/main" val="1042750234"/>
                    </a:ext>
                  </a:extLst>
                </a:gridCol>
                <a:gridCol w="721097">
                  <a:extLst>
                    <a:ext uri="{9D8B030D-6E8A-4147-A177-3AD203B41FA5}">
                      <a16:colId xmlns:a16="http://schemas.microsoft.com/office/drawing/2014/main" val="59263022"/>
                    </a:ext>
                  </a:extLst>
                </a:gridCol>
                <a:gridCol w="545695">
                  <a:extLst>
                    <a:ext uri="{9D8B030D-6E8A-4147-A177-3AD203B41FA5}">
                      <a16:colId xmlns:a16="http://schemas.microsoft.com/office/drawing/2014/main" val="693219657"/>
                    </a:ext>
                  </a:extLst>
                </a:gridCol>
                <a:gridCol w="565184">
                  <a:extLst>
                    <a:ext uri="{9D8B030D-6E8A-4147-A177-3AD203B41FA5}">
                      <a16:colId xmlns:a16="http://schemas.microsoft.com/office/drawing/2014/main" val="3207406835"/>
                    </a:ext>
                  </a:extLst>
                </a:gridCol>
                <a:gridCol w="730842">
                  <a:extLst>
                    <a:ext uri="{9D8B030D-6E8A-4147-A177-3AD203B41FA5}">
                      <a16:colId xmlns:a16="http://schemas.microsoft.com/office/drawing/2014/main" val="1759089070"/>
                    </a:ext>
                  </a:extLst>
                </a:gridCol>
                <a:gridCol w="603063">
                  <a:extLst>
                    <a:ext uri="{9D8B030D-6E8A-4147-A177-3AD203B41FA5}">
                      <a16:colId xmlns:a16="http://schemas.microsoft.com/office/drawing/2014/main" val="98140208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38003463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413559345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741827967"/>
                    </a:ext>
                  </a:extLst>
                </a:gridCol>
                <a:gridCol w="781051">
                  <a:extLst>
                    <a:ext uri="{9D8B030D-6E8A-4147-A177-3AD203B41FA5}">
                      <a16:colId xmlns:a16="http://schemas.microsoft.com/office/drawing/2014/main" val="3160132439"/>
                    </a:ext>
                  </a:extLst>
                </a:gridCol>
              </a:tblGrid>
              <a:tr h="255019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Route Rank?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SCAC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Carrier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AP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Tender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Pickup Date/Time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Delivery Date/Time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Transit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Notify 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Notify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Response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Response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Response 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Carrier 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Network Leverage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893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9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AAA COOPER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LTL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311.98 USD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2/23/2026 14:00 WED (08:00-16:00 CST)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2/27/2026 15:00 Thu (00:00-23:59 * 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925 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02/21/2026 19:00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Automatic 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02/21/2026 19:30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Email 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794972"/>
                  </a:ext>
                </a:extLst>
              </a:tr>
              <a:tr h="30929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9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SAIA 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411.25 USD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2/23/2026 14:00 WED (08:00-16:00 CST)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2/27/2026 15:00 Thu (00:00-23:59 * 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925 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778212"/>
                  </a:ext>
                </a:extLst>
              </a:tr>
            </a:tbl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E16B207B-2938-753F-E10C-AB84F71BD132}"/>
              </a:ext>
            </a:extLst>
          </p:cNvPr>
          <p:cNvSpPr/>
          <p:nvPr/>
        </p:nvSpPr>
        <p:spPr>
          <a:xfrm>
            <a:off x="4444598" y="367516"/>
            <a:ext cx="2247900" cy="1029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050" b="1" dirty="0"/>
          </a:p>
          <a:p>
            <a:pPr>
              <a:lnSpc>
                <a:spcPct val="150000"/>
              </a:lnSpc>
            </a:pPr>
            <a:r>
              <a:rPr lang="en-US" sz="1050" b="1" dirty="0"/>
              <a:t>Hold                                                            4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Consolidation                                       3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Sent                                                            5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Spot Bid                                                    3</a:t>
            </a:r>
          </a:p>
          <a:p>
            <a:pPr>
              <a:lnSpc>
                <a:spcPct val="150000"/>
              </a:lnSpc>
            </a:pPr>
            <a:endParaRPr lang="en-US" sz="1050" b="1" dirty="0"/>
          </a:p>
          <a:p>
            <a:pPr>
              <a:lnSpc>
                <a:spcPct val="150000"/>
              </a:lnSpc>
            </a:pPr>
            <a:endParaRPr lang="en-US" sz="1050" b="1" dirty="0"/>
          </a:p>
        </p:txBody>
      </p:sp>
      <p:sp>
        <p:nvSpPr>
          <p:cNvPr id="45" name="Rectangle: Top Corners Rounded 44">
            <a:extLst>
              <a:ext uri="{FF2B5EF4-FFF2-40B4-BE49-F238E27FC236}">
                <a16:creationId xmlns:a16="http://schemas.microsoft.com/office/drawing/2014/main" id="{6360215A-819B-4588-76B8-27A1B8F6C376}"/>
              </a:ext>
            </a:extLst>
          </p:cNvPr>
          <p:cNvSpPr/>
          <p:nvPr/>
        </p:nvSpPr>
        <p:spPr>
          <a:xfrm>
            <a:off x="10666205" y="2512632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View Stops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612E0F3-CAB1-29EA-8629-8F525A185D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1" y="6132218"/>
            <a:ext cx="461664" cy="369332"/>
          </a:xfrm>
          <a:prstGeom prst="rect">
            <a:avLst/>
          </a:prstGeom>
        </p:spPr>
      </p:pic>
      <p:sp>
        <p:nvSpPr>
          <p:cNvPr id="58" name="Rectangle: Top Corners Rounded 57">
            <a:extLst>
              <a:ext uri="{FF2B5EF4-FFF2-40B4-BE49-F238E27FC236}">
                <a16:creationId xmlns:a16="http://schemas.microsoft.com/office/drawing/2014/main" id="{F6CAB9F4-7915-EDBA-8372-2DD8023572C2}"/>
              </a:ext>
            </a:extLst>
          </p:cNvPr>
          <p:cNvSpPr/>
          <p:nvPr/>
        </p:nvSpPr>
        <p:spPr>
          <a:xfrm>
            <a:off x="363215" y="4474904"/>
            <a:ext cx="1110112" cy="329568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50" dirty="0"/>
              <a:t>Routing Options</a:t>
            </a:r>
          </a:p>
        </p:txBody>
      </p:sp>
      <p:sp>
        <p:nvSpPr>
          <p:cNvPr id="61" name="Rectangle: Top Corners Rounded 60">
            <a:extLst>
              <a:ext uri="{FF2B5EF4-FFF2-40B4-BE49-F238E27FC236}">
                <a16:creationId xmlns:a16="http://schemas.microsoft.com/office/drawing/2014/main" id="{4F2196C9-661A-58EB-A991-949B0A748CFC}"/>
              </a:ext>
            </a:extLst>
          </p:cNvPr>
          <p:cNvSpPr/>
          <p:nvPr/>
        </p:nvSpPr>
        <p:spPr>
          <a:xfrm>
            <a:off x="7827996" y="4007167"/>
            <a:ext cx="838752" cy="317885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Re-Tender</a:t>
            </a:r>
          </a:p>
        </p:txBody>
      </p:sp>
      <p:sp>
        <p:nvSpPr>
          <p:cNvPr id="63" name="Rectangle: Top Corners Rounded 62">
            <a:extLst>
              <a:ext uri="{FF2B5EF4-FFF2-40B4-BE49-F238E27FC236}">
                <a16:creationId xmlns:a16="http://schemas.microsoft.com/office/drawing/2014/main" id="{B10FBF30-D990-BB58-1837-05211B31399E}"/>
              </a:ext>
            </a:extLst>
          </p:cNvPr>
          <p:cNvSpPr/>
          <p:nvPr/>
        </p:nvSpPr>
        <p:spPr>
          <a:xfrm>
            <a:off x="7037323" y="4383999"/>
            <a:ext cx="687597" cy="299413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Decline</a:t>
            </a:r>
          </a:p>
        </p:txBody>
      </p:sp>
      <p:sp>
        <p:nvSpPr>
          <p:cNvPr id="65" name="Rectangle: Top Corners Rounded 64">
            <a:extLst>
              <a:ext uri="{FF2B5EF4-FFF2-40B4-BE49-F238E27FC236}">
                <a16:creationId xmlns:a16="http://schemas.microsoft.com/office/drawing/2014/main" id="{77EEE40A-96E4-1F2F-C881-FCC3D4AF7740}"/>
              </a:ext>
            </a:extLst>
          </p:cNvPr>
          <p:cNvSpPr/>
          <p:nvPr/>
        </p:nvSpPr>
        <p:spPr>
          <a:xfrm>
            <a:off x="8776952" y="4013967"/>
            <a:ext cx="687597" cy="299413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Cancel</a:t>
            </a:r>
          </a:p>
        </p:txBody>
      </p:sp>
      <p:sp>
        <p:nvSpPr>
          <p:cNvPr id="68" name="Rectangle: Top Corners Rounded 67">
            <a:extLst>
              <a:ext uri="{FF2B5EF4-FFF2-40B4-BE49-F238E27FC236}">
                <a16:creationId xmlns:a16="http://schemas.microsoft.com/office/drawing/2014/main" id="{8A9C7A8D-DB19-9DF6-2E8D-2F81CC609B08}"/>
              </a:ext>
            </a:extLst>
          </p:cNvPr>
          <p:cNvSpPr/>
          <p:nvPr/>
        </p:nvSpPr>
        <p:spPr>
          <a:xfrm>
            <a:off x="7037323" y="3998656"/>
            <a:ext cx="680469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Tender</a:t>
            </a:r>
          </a:p>
        </p:txBody>
      </p:sp>
      <p:sp>
        <p:nvSpPr>
          <p:cNvPr id="72" name="Rectangle: Top Corners Rounded 71">
            <a:extLst>
              <a:ext uri="{FF2B5EF4-FFF2-40B4-BE49-F238E27FC236}">
                <a16:creationId xmlns:a16="http://schemas.microsoft.com/office/drawing/2014/main" id="{E90D321A-398E-C758-20A3-E2A266DFC5AC}"/>
              </a:ext>
            </a:extLst>
          </p:cNvPr>
          <p:cNvSpPr/>
          <p:nvPr/>
        </p:nvSpPr>
        <p:spPr>
          <a:xfrm>
            <a:off x="7827996" y="4418245"/>
            <a:ext cx="687597" cy="277551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Accept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47621D-C818-A2EC-AA16-DAA011F6C4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3745" y="3777442"/>
            <a:ext cx="159435" cy="1522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0DB9F8-493D-55F8-14E9-BF291074EA65}"/>
              </a:ext>
            </a:extLst>
          </p:cNvPr>
          <p:cNvSpPr txBox="1"/>
          <p:nvPr/>
        </p:nvSpPr>
        <p:spPr>
          <a:xfrm>
            <a:off x="1572078" y="3690568"/>
            <a:ext cx="1803400" cy="2616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/>
              <a:t>Instructions Display 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EDAED4-E320-0CFF-A573-DB9BC7D06F9B}"/>
              </a:ext>
            </a:extLst>
          </p:cNvPr>
          <p:cNvSpPr txBox="1"/>
          <p:nvPr/>
        </p:nvSpPr>
        <p:spPr>
          <a:xfrm>
            <a:off x="10423172" y="1671812"/>
            <a:ext cx="1467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Actions - Shipment</a:t>
            </a: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79683F06-8EB3-F698-3528-6DE8631D5507}"/>
              </a:ext>
            </a:extLst>
          </p:cNvPr>
          <p:cNvSpPr/>
          <p:nvPr/>
        </p:nvSpPr>
        <p:spPr>
          <a:xfrm>
            <a:off x="1572078" y="4454578"/>
            <a:ext cx="1110112" cy="329568"/>
          </a:xfrm>
          <a:prstGeom prst="round2SameRect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900" dirty="0"/>
              <a:t>Notify &amp; Response Method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A402409-3FAE-8D81-EAF3-36020528A1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8324" y="6147983"/>
            <a:ext cx="461664" cy="36933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0A054F4-3C46-505F-8201-521952D3C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0181" y="5556276"/>
            <a:ext cx="461664" cy="36933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2A8CB03-93BE-7CC9-9FD0-74E7144A25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5587" y="6098280"/>
            <a:ext cx="461664" cy="36933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A9333D0-1688-1FCE-9169-D40F69BB27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8324" y="5539441"/>
            <a:ext cx="461664" cy="36933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F502DE4-2487-C71A-21B2-A1B528BDA9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1" y="5542382"/>
            <a:ext cx="461664" cy="369332"/>
          </a:xfrm>
          <a:prstGeom prst="rect">
            <a:avLst/>
          </a:prstGeom>
        </p:spPr>
      </p:pic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3746E4FE-201E-65EA-5F3B-62D0D3591367}"/>
              </a:ext>
            </a:extLst>
          </p:cNvPr>
          <p:cNvSpPr/>
          <p:nvPr/>
        </p:nvSpPr>
        <p:spPr>
          <a:xfrm>
            <a:off x="5027839" y="4463359"/>
            <a:ext cx="1044003" cy="329569"/>
          </a:xfrm>
          <a:prstGeom prst="round2Same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Others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FF3EF1C8-A24E-0ADA-B42D-4C3D63C79142}"/>
              </a:ext>
            </a:extLst>
          </p:cNvPr>
          <p:cNvSpPr/>
          <p:nvPr/>
        </p:nvSpPr>
        <p:spPr>
          <a:xfrm>
            <a:off x="3899345" y="4474903"/>
            <a:ext cx="1044003" cy="329569"/>
          </a:xfrm>
          <a:prstGeom prst="round2Same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Additional Info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6730AD-AD48-1827-9A5C-6E6166532F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0764"/>
          <a:stretch>
            <a:fillRect/>
          </a:stretch>
        </p:blipFill>
        <p:spPr>
          <a:xfrm>
            <a:off x="4724971" y="4154827"/>
            <a:ext cx="1070636" cy="25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63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A1EF5-9567-F6A9-8EFE-F62449C32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65A97A7-95B6-311A-998E-459998B7EE48}"/>
              </a:ext>
            </a:extLst>
          </p:cNvPr>
          <p:cNvGrpSpPr/>
          <p:nvPr/>
        </p:nvGrpSpPr>
        <p:grpSpPr>
          <a:xfrm>
            <a:off x="9703946" y="4014439"/>
            <a:ext cx="2277067" cy="738682"/>
            <a:chOff x="6886451" y="3968719"/>
            <a:chExt cx="2277067" cy="738682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0033EDF-56BC-7902-A2E0-90511E8E0D12}"/>
                </a:ext>
              </a:extLst>
            </p:cNvPr>
            <p:cNvSpPr/>
            <p:nvPr/>
          </p:nvSpPr>
          <p:spPr>
            <a:xfrm>
              <a:off x="6938827" y="4249136"/>
              <a:ext cx="2224691" cy="4582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957FED6-A46E-ABF7-3639-856A16B1326F}"/>
                </a:ext>
              </a:extLst>
            </p:cNvPr>
            <p:cNvSpPr txBox="1"/>
            <p:nvPr/>
          </p:nvSpPr>
          <p:spPr>
            <a:xfrm>
              <a:off x="6886451" y="3968719"/>
              <a:ext cx="19019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Actions – Shipment Option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E911AE4-BD8C-CD60-1ADF-5AB6DEBCA810}"/>
              </a:ext>
            </a:extLst>
          </p:cNvPr>
          <p:cNvGrpSpPr/>
          <p:nvPr/>
        </p:nvGrpSpPr>
        <p:grpSpPr>
          <a:xfrm>
            <a:off x="6973144" y="3613696"/>
            <a:ext cx="2647501" cy="1157714"/>
            <a:chOff x="3899617" y="3549688"/>
            <a:chExt cx="2647501" cy="1157714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E164B73-6C5B-8B35-9B5A-07F1FF7CA3AC}"/>
                </a:ext>
              </a:extLst>
            </p:cNvPr>
            <p:cNvSpPr/>
            <p:nvPr/>
          </p:nvSpPr>
          <p:spPr>
            <a:xfrm>
              <a:off x="3899617" y="3888170"/>
              <a:ext cx="2647501" cy="8192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7F9BA59-85DA-0B95-0DCD-FE635CF65A33}"/>
                </a:ext>
              </a:extLst>
            </p:cNvPr>
            <p:cNvSpPr txBox="1"/>
            <p:nvPr/>
          </p:nvSpPr>
          <p:spPr>
            <a:xfrm>
              <a:off x="3899617" y="3549688"/>
              <a:ext cx="18492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Tender Actions 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7AFBA404-9D3A-DDFD-EA58-85E30330E2B8}"/>
              </a:ext>
            </a:extLst>
          </p:cNvPr>
          <p:cNvSpPr/>
          <p:nvPr/>
        </p:nvSpPr>
        <p:spPr>
          <a:xfrm>
            <a:off x="10537379" y="1939420"/>
            <a:ext cx="1353129" cy="1019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B139D6-B0BF-7EE7-F487-A5614F9BBCDA}"/>
              </a:ext>
            </a:extLst>
          </p:cNvPr>
          <p:cNvSpPr txBox="1"/>
          <p:nvPr/>
        </p:nvSpPr>
        <p:spPr>
          <a:xfrm>
            <a:off x="-38807" y="-46213"/>
            <a:ext cx="1660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Tender Page  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42A350-56AC-29F2-8080-A691552A5C55}"/>
              </a:ext>
            </a:extLst>
          </p:cNvPr>
          <p:cNvSpPr/>
          <p:nvPr/>
        </p:nvSpPr>
        <p:spPr>
          <a:xfrm>
            <a:off x="1856614" y="399787"/>
            <a:ext cx="2052356" cy="11449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900" dirty="0"/>
          </a:p>
          <a:p>
            <a:pPr>
              <a:lnSpc>
                <a:spcPct val="150000"/>
              </a:lnSpc>
            </a:pPr>
            <a:r>
              <a:rPr lang="en-US" sz="900" dirty="0"/>
              <a:t>Date Issues                                   5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Routing Review                           7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Tender Issues                              7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Tender Review                            5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Bid Review                                    2</a:t>
            </a:r>
          </a:p>
          <a:p>
            <a:pPr>
              <a:lnSpc>
                <a:spcPct val="150000"/>
              </a:lnSpc>
            </a:pPr>
            <a:endParaRPr lang="en-US" sz="900" dirty="0"/>
          </a:p>
          <a:p>
            <a:pPr>
              <a:lnSpc>
                <a:spcPct val="150000"/>
              </a:lnSpc>
            </a:pPr>
            <a:endParaRPr lang="en-US" sz="9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6020D8-4AFA-ADB8-453C-81E1CC62B5F8}"/>
              </a:ext>
            </a:extLst>
          </p:cNvPr>
          <p:cNvSpPr/>
          <p:nvPr/>
        </p:nvSpPr>
        <p:spPr>
          <a:xfrm>
            <a:off x="1872503" y="56249"/>
            <a:ext cx="2027114" cy="27554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Planning Exceptions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6542DF-47B1-14C8-C664-2E58D72A853B}"/>
              </a:ext>
            </a:extLst>
          </p:cNvPr>
          <p:cNvSpPr/>
          <p:nvPr/>
        </p:nvSpPr>
        <p:spPr>
          <a:xfrm>
            <a:off x="4444598" y="52394"/>
            <a:ext cx="2247900" cy="228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Planning Monitoring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32BF61-0136-4DEB-A739-A214EB8AE97D}"/>
              </a:ext>
            </a:extLst>
          </p:cNvPr>
          <p:cNvSpPr/>
          <p:nvPr/>
        </p:nvSpPr>
        <p:spPr>
          <a:xfrm>
            <a:off x="6921098" y="331793"/>
            <a:ext cx="2247900" cy="9781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900" dirty="0"/>
              <a:t>PGI Errors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Manual PGI/PGR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Missed PGI/PGR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Rating Failure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2E8458-9051-CABC-6D9A-E6553DBCF049}"/>
              </a:ext>
            </a:extLst>
          </p:cNvPr>
          <p:cNvSpPr/>
          <p:nvPr/>
        </p:nvSpPr>
        <p:spPr>
          <a:xfrm>
            <a:off x="6921098" y="52394"/>
            <a:ext cx="2247900" cy="2286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PGI/PGR </a:t>
            </a:r>
            <a:r>
              <a:rPr lang="en-US" sz="1100" dirty="0" err="1"/>
              <a:t>Excptions</a:t>
            </a:r>
            <a:endParaRPr lang="en-US" sz="11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28B3D4D-B1C0-AB89-E805-9715664BA35D}"/>
              </a:ext>
            </a:extLst>
          </p:cNvPr>
          <p:cNvCxnSpPr/>
          <p:nvPr/>
        </p:nvCxnSpPr>
        <p:spPr>
          <a:xfrm>
            <a:off x="212580" y="1662255"/>
            <a:ext cx="1152144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0632E2E-1686-98D2-2775-D61CBC6D4D26}"/>
              </a:ext>
            </a:extLst>
          </p:cNvPr>
          <p:cNvSpPr txBox="1"/>
          <p:nvPr/>
        </p:nvSpPr>
        <p:spPr>
          <a:xfrm>
            <a:off x="5272671" y="1743623"/>
            <a:ext cx="2893819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Initial Pickup </a:t>
            </a:r>
          </a:p>
          <a:p>
            <a:endParaRPr lang="en-US" sz="1050" dirty="0"/>
          </a:p>
          <a:p>
            <a:r>
              <a:rPr lang="en-US" sz="1050" b="1" dirty="0"/>
              <a:t>Pickup location name  &amp; Address                         </a:t>
            </a:r>
          </a:p>
          <a:p>
            <a:r>
              <a:rPr lang="en-US" sz="1050" i="1" dirty="0"/>
              <a:t>G2O TECHNOLOGIES LLC</a:t>
            </a:r>
          </a:p>
          <a:p>
            <a:r>
              <a:rPr lang="en-US" sz="1050" i="1" dirty="0"/>
              <a:t>1502 NORTH WASHINGTON</a:t>
            </a:r>
          </a:p>
          <a:p>
            <a:r>
              <a:rPr lang="en-US" sz="1050" i="1" dirty="0"/>
              <a:t>COLUMBUS</a:t>
            </a:r>
          </a:p>
          <a:p>
            <a:r>
              <a:rPr lang="en-US" sz="1050" i="1" dirty="0"/>
              <a:t>31907 GA</a:t>
            </a:r>
          </a:p>
          <a:p>
            <a:r>
              <a:rPr lang="en-US" sz="1050" i="1" dirty="0"/>
              <a:t>US</a:t>
            </a:r>
          </a:p>
          <a:p>
            <a:endParaRPr lang="en-US" sz="1050" dirty="0"/>
          </a:p>
          <a:p>
            <a:r>
              <a:rPr lang="en-US" sz="1050" b="1" dirty="0"/>
              <a:t>Pickup Date/Time (Preferred carrier)</a:t>
            </a:r>
          </a:p>
          <a:p>
            <a:r>
              <a:rPr lang="en-US" sz="1050" dirty="0"/>
              <a:t>02/14/2026 03:00 CST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649B6-C31A-1F33-2334-2CFD17F1D30C}"/>
              </a:ext>
            </a:extLst>
          </p:cNvPr>
          <p:cNvSpPr txBox="1"/>
          <p:nvPr/>
        </p:nvSpPr>
        <p:spPr>
          <a:xfrm>
            <a:off x="8005505" y="1758871"/>
            <a:ext cx="2604725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Final Delivery</a:t>
            </a:r>
          </a:p>
          <a:p>
            <a:endParaRPr lang="en-US" sz="1050" b="1" dirty="0"/>
          </a:p>
          <a:p>
            <a:r>
              <a:rPr lang="en-US" sz="1050" b="1" dirty="0"/>
              <a:t>Delivery location name &amp; Address  </a:t>
            </a:r>
            <a:r>
              <a:rPr lang="en-US" sz="1050" dirty="0"/>
              <a:t>                           </a:t>
            </a:r>
          </a:p>
          <a:p>
            <a:r>
              <a:rPr lang="en-US" sz="1050" i="1" dirty="0"/>
              <a:t>NALCO ENERGY SERVICES</a:t>
            </a:r>
          </a:p>
          <a:p>
            <a:r>
              <a:rPr lang="en-US" sz="1050" dirty="0"/>
              <a:t>6717 S. 61ST WEST AVE</a:t>
            </a:r>
          </a:p>
          <a:p>
            <a:r>
              <a:rPr lang="en-US" sz="1050" dirty="0"/>
              <a:t>NEENAH</a:t>
            </a:r>
          </a:p>
          <a:p>
            <a:r>
              <a:rPr lang="en-US" sz="1050" dirty="0"/>
              <a:t>54956 WI</a:t>
            </a:r>
          </a:p>
          <a:p>
            <a:r>
              <a:rPr lang="en-US" sz="1050" dirty="0"/>
              <a:t>US</a:t>
            </a:r>
          </a:p>
          <a:p>
            <a:endParaRPr lang="en-US" sz="1050" dirty="0"/>
          </a:p>
          <a:p>
            <a:r>
              <a:rPr lang="en-US" sz="1050" b="1" dirty="0"/>
              <a:t>Delivery Date/Time (Preferred Carrier)</a:t>
            </a:r>
          </a:p>
          <a:p>
            <a:r>
              <a:rPr lang="en-US" sz="1050" dirty="0"/>
              <a:t>02/22/2025 14:00 CST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289032-B41B-CC22-744F-8FFEA413B03D}"/>
              </a:ext>
            </a:extLst>
          </p:cNvPr>
          <p:cNvSpPr txBox="1"/>
          <p:nvPr/>
        </p:nvSpPr>
        <p:spPr>
          <a:xfrm>
            <a:off x="212580" y="1837380"/>
            <a:ext cx="253166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Shipment</a:t>
            </a:r>
          </a:p>
          <a:p>
            <a:endParaRPr lang="en-US" sz="1050" dirty="0"/>
          </a:p>
          <a:p>
            <a:r>
              <a:rPr lang="en-US" sz="1050" b="1" dirty="0"/>
              <a:t>Buy Shipment ID:</a:t>
            </a:r>
            <a:r>
              <a:rPr lang="en-US" sz="1050" dirty="0"/>
              <a:t> B288263 </a:t>
            </a:r>
          </a:p>
          <a:p>
            <a:r>
              <a:rPr lang="en-US" sz="1050" b="1" dirty="0"/>
              <a:t>Sell Shipment ID:</a:t>
            </a:r>
            <a:r>
              <a:rPr lang="en-US" sz="1050" dirty="0"/>
              <a:t> S453678</a:t>
            </a:r>
          </a:p>
          <a:p>
            <a:r>
              <a:rPr lang="en-US" sz="1050" b="1" dirty="0"/>
              <a:t>Mode: </a:t>
            </a:r>
            <a:r>
              <a:rPr lang="en-US" sz="1050" dirty="0"/>
              <a:t>TL / LTL / RR / IMD /AIR</a:t>
            </a:r>
          </a:p>
          <a:p>
            <a:r>
              <a:rPr lang="en-US" sz="1050" b="1" dirty="0"/>
              <a:t>Seed Equipment:</a:t>
            </a:r>
            <a:r>
              <a:rPr lang="en-US" sz="1050" dirty="0"/>
              <a:t> LTL</a:t>
            </a:r>
          </a:p>
          <a:p>
            <a:r>
              <a:rPr lang="en-US" sz="1050" b="1" dirty="0">
                <a:solidFill>
                  <a:srgbClr val="0000FF"/>
                </a:solidFill>
              </a:rPr>
              <a:t>Planning Date Type:  </a:t>
            </a:r>
            <a:r>
              <a:rPr lang="en-US" sz="1050" dirty="0">
                <a:solidFill>
                  <a:srgbClr val="0000FF"/>
                </a:solidFill>
              </a:rPr>
              <a:t>RDD</a:t>
            </a:r>
          </a:p>
          <a:p>
            <a:r>
              <a:rPr lang="en-US" sz="1050" b="1" dirty="0"/>
              <a:t>Gross Weight:</a:t>
            </a:r>
            <a:r>
              <a:rPr lang="en-US" sz="1050" dirty="0"/>
              <a:t> 420 LB</a:t>
            </a:r>
          </a:p>
          <a:p>
            <a:r>
              <a:rPr lang="en-US" sz="1050" b="1" dirty="0"/>
              <a:t>Pkg Count:</a:t>
            </a:r>
            <a:r>
              <a:rPr lang="en-US" sz="1050" dirty="0"/>
              <a:t> 12 PLT </a:t>
            </a:r>
          </a:p>
          <a:p>
            <a:r>
              <a:rPr lang="en-US" sz="1050" b="1" dirty="0"/>
              <a:t>Volume: </a:t>
            </a:r>
            <a:r>
              <a:rPr lang="en-US" sz="1050" dirty="0"/>
              <a:t>45 </a:t>
            </a:r>
            <a:r>
              <a:rPr lang="en-US" sz="1050" dirty="0" err="1"/>
              <a:t>cuft</a:t>
            </a:r>
            <a:endParaRPr lang="en-US" sz="1050" dirty="0"/>
          </a:p>
          <a:p>
            <a:r>
              <a:rPr lang="en-US" sz="1050" b="1" dirty="0"/>
              <a:t>Distance:</a:t>
            </a:r>
            <a:r>
              <a:rPr lang="en-US" sz="1050" dirty="0"/>
              <a:t> 1000 MI</a:t>
            </a:r>
          </a:p>
          <a:p>
            <a:endParaRPr lang="en-US" sz="1050" dirty="0"/>
          </a:p>
          <a:p>
            <a:r>
              <a:rPr lang="en-US" sz="1050" dirty="0"/>
              <a:t>Instructions: </a:t>
            </a:r>
          </a:p>
          <a:p>
            <a:r>
              <a:rPr lang="en-US" sz="1050" dirty="0"/>
              <a:t>Hazardous: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CC9A20-55DE-95E1-70AE-977ED489620C}"/>
              </a:ext>
            </a:extLst>
          </p:cNvPr>
          <p:cNvSpPr txBox="1"/>
          <p:nvPr/>
        </p:nvSpPr>
        <p:spPr>
          <a:xfrm>
            <a:off x="2080291" y="1796834"/>
            <a:ext cx="3668532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Order</a:t>
            </a:r>
          </a:p>
          <a:p>
            <a:endParaRPr lang="en-US" sz="1050" dirty="0"/>
          </a:p>
          <a:p>
            <a:r>
              <a:rPr lang="en-US" sz="1050" b="1" dirty="0">
                <a:solidFill>
                  <a:srgbClr val="0000FF"/>
                </a:solidFill>
              </a:rPr>
              <a:t>Planning Date Type:  </a:t>
            </a:r>
            <a:r>
              <a:rPr lang="en-US" sz="1050" dirty="0">
                <a:solidFill>
                  <a:srgbClr val="0000FF"/>
                </a:solidFill>
              </a:rPr>
              <a:t>RDD</a:t>
            </a:r>
          </a:p>
          <a:p>
            <a:r>
              <a:rPr lang="en-US" sz="1050" b="1" dirty="0"/>
              <a:t>Order Pickup Date/Time: </a:t>
            </a:r>
            <a:r>
              <a:rPr lang="en-US" sz="1050" dirty="0"/>
              <a:t>02/14/2026 03:00 CST</a:t>
            </a:r>
          </a:p>
          <a:p>
            <a:r>
              <a:rPr lang="en-US" sz="1050" b="1" dirty="0"/>
              <a:t>Order Delivery Date/Time: </a:t>
            </a:r>
            <a:r>
              <a:rPr lang="en-US" sz="1050" dirty="0"/>
              <a:t>02/22/2025 14:00 CST</a:t>
            </a:r>
          </a:p>
          <a:p>
            <a:r>
              <a:rPr lang="en-US" sz="1050" b="1" dirty="0"/>
              <a:t>Order #:</a:t>
            </a:r>
            <a:r>
              <a:rPr lang="en-US" sz="1050" dirty="0"/>
              <a:t>O345, O098</a:t>
            </a:r>
          </a:p>
          <a:p>
            <a:r>
              <a:rPr lang="en-US" sz="1050" b="1" dirty="0"/>
              <a:t>Direct Cost: </a:t>
            </a:r>
            <a:r>
              <a:rPr lang="en-US" sz="1050" dirty="0"/>
              <a:t>410 USD, 240 USD</a:t>
            </a:r>
          </a:p>
          <a:p>
            <a:endParaRPr lang="en-US" sz="1050" dirty="0"/>
          </a:p>
          <a:p>
            <a:r>
              <a:rPr lang="en-US" sz="1050" dirty="0"/>
              <a:t>Pickup #: 234696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7D6EDF4-56F3-C1C7-2E30-6E545E9C0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607" y="3690245"/>
            <a:ext cx="461664" cy="36933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B7AF30E-8F82-685E-0AA0-FF70487C63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26" y="3928940"/>
            <a:ext cx="461664" cy="369332"/>
          </a:xfrm>
          <a:prstGeom prst="rect">
            <a:avLst/>
          </a:prstGeom>
        </p:spPr>
      </p:pic>
      <p:sp>
        <p:nvSpPr>
          <p:cNvPr id="31" name="Rectangle: Top Corners Rounded 30">
            <a:extLst>
              <a:ext uri="{FF2B5EF4-FFF2-40B4-BE49-F238E27FC236}">
                <a16:creationId xmlns:a16="http://schemas.microsoft.com/office/drawing/2014/main" id="{01FFCA48-8C6D-2749-6D26-76466B9D3ADF}"/>
              </a:ext>
            </a:extLst>
          </p:cNvPr>
          <p:cNvSpPr/>
          <p:nvPr/>
        </p:nvSpPr>
        <p:spPr>
          <a:xfrm>
            <a:off x="9823958" y="4345714"/>
            <a:ext cx="879772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Add Quote</a:t>
            </a:r>
          </a:p>
        </p:txBody>
      </p:sp>
      <p:sp>
        <p:nvSpPr>
          <p:cNvPr id="33" name="Rectangle: Top Corners Rounded 32">
            <a:extLst>
              <a:ext uri="{FF2B5EF4-FFF2-40B4-BE49-F238E27FC236}">
                <a16:creationId xmlns:a16="http://schemas.microsoft.com/office/drawing/2014/main" id="{8B815D09-702A-68EE-ABB0-B5C44E0A0DD3}"/>
              </a:ext>
            </a:extLst>
          </p:cNvPr>
          <p:cNvSpPr/>
          <p:nvPr/>
        </p:nvSpPr>
        <p:spPr>
          <a:xfrm>
            <a:off x="2780942" y="4474903"/>
            <a:ext cx="1044003" cy="329569"/>
          </a:xfrm>
          <a:prstGeom prst="round2Same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View Volume Commitment</a:t>
            </a:r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9CACF496-DFCA-AECE-FD88-442F4BF516BE}"/>
              </a:ext>
            </a:extLst>
          </p:cNvPr>
          <p:cNvSpPr/>
          <p:nvPr/>
        </p:nvSpPr>
        <p:spPr>
          <a:xfrm>
            <a:off x="10823000" y="4323062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Show Rate Details (QCA)</a:t>
            </a:r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177E25D2-237C-5D57-0CEB-8483E969A496}"/>
              </a:ext>
            </a:extLst>
          </p:cNvPr>
          <p:cNvSpPr/>
          <p:nvPr/>
        </p:nvSpPr>
        <p:spPr>
          <a:xfrm>
            <a:off x="10686216" y="2084026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Routing Query (QCP)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CA6AE071-4CEC-7B73-336F-4478F73CF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308546"/>
              </p:ext>
            </p:extLst>
          </p:nvPr>
        </p:nvGraphicFramePr>
        <p:xfrm>
          <a:off x="329314" y="4888231"/>
          <a:ext cx="11561192" cy="176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939">
                  <a:extLst>
                    <a:ext uri="{9D8B030D-6E8A-4147-A177-3AD203B41FA5}">
                      <a16:colId xmlns:a16="http://schemas.microsoft.com/office/drawing/2014/main" val="2299961496"/>
                    </a:ext>
                  </a:extLst>
                </a:gridCol>
                <a:gridCol w="500903">
                  <a:extLst>
                    <a:ext uri="{9D8B030D-6E8A-4147-A177-3AD203B41FA5}">
                      <a16:colId xmlns:a16="http://schemas.microsoft.com/office/drawing/2014/main" val="63472440"/>
                    </a:ext>
                  </a:extLst>
                </a:gridCol>
                <a:gridCol w="630769">
                  <a:extLst>
                    <a:ext uri="{9D8B030D-6E8A-4147-A177-3AD203B41FA5}">
                      <a16:colId xmlns:a16="http://schemas.microsoft.com/office/drawing/2014/main" val="2417404039"/>
                    </a:ext>
                  </a:extLst>
                </a:gridCol>
                <a:gridCol w="838539">
                  <a:extLst>
                    <a:ext uri="{9D8B030D-6E8A-4147-A177-3AD203B41FA5}">
                      <a16:colId xmlns:a16="http://schemas.microsoft.com/office/drawing/2014/main" val="137753275"/>
                    </a:ext>
                  </a:extLst>
                </a:gridCol>
                <a:gridCol w="571414">
                  <a:extLst>
                    <a:ext uri="{9D8B030D-6E8A-4147-A177-3AD203B41FA5}">
                      <a16:colId xmlns:a16="http://schemas.microsoft.com/office/drawing/2014/main" val="1150411051"/>
                    </a:ext>
                  </a:extLst>
                </a:gridCol>
                <a:gridCol w="779929">
                  <a:extLst>
                    <a:ext uri="{9D8B030D-6E8A-4147-A177-3AD203B41FA5}">
                      <a16:colId xmlns:a16="http://schemas.microsoft.com/office/drawing/2014/main" val="3252033987"/>
                    </a:ext>
                  </a:extLst>
                </a:gridCol>
                <a:gridCol w="580701">
                  <a:extLst>
                    <a:ext uri="{9D8B030D-6E8A-4147-A177-3AD203B41FA5}">
                      <a16:colId xmlns:a16="http://schemas.microsoft.com/office/drawing/2014/main" val="1006403190"/>
                    </a:ext>
                  </a:extLst>
                </a:gridCol>
                <a:gridCol w="1226249">
                  <a:extLst>
                    <a:ext uri="{9D8B030D-6E8A-4147-A177-3AD203B41FA5}">
                      <a16:colId xmlns:a16="http://schemas.microsoft.com/office/drawing/2014/main" val="1350056266"/>
                    </a:ext>
                  </a:extLst>
                </a:gridCol>
                <a:gridCol w="1003745">
                  <a:extLst>
                    <a:ext uri="{9D8B030D-6E8A-4147-A177-3AD203B41FA5}">
                      <a16:colId xmlns:a16="http://schemas.microsoft.com/office/drawing/2014/main" val="1042750234"/>
                    </a:ext>
                  </a:extLst>
                </a:gridCol>
                <a:gridCol w="654959">
                  <a:extLst>
                    <a:ext uri="{9D8B030D-6E8A-4147-A177-3AD203B41FA5}">
                      <a16:colId xmlns:a16="http://schemas.microsoft.com/office/drawing/2014/main" val="59263022"/>
                    </a:ext>
                  </a:extLst>
                </a:gridCol>
                <a:gridCol w="818147">
                  <a:extLst>
                    <a:ext uri="{9D8B030D-6E8A-4147-A177-3AD203B41FA5}">
                      <a16:colId xmlns:a16="http://schemas.microsoft.com/office/drawing/2014/main" val="693219657"/>
                    </a:ext>
                  </a:extLst>
                </a:gridCol>
                <a:gridCol w="741146">
                  <a:extLst>
                    <a:ext uri="{9D8B030D-6E8A-4147-A177-3AD203B41FA5}">
                      <a16:colId xmlns:a16="http://schemas.microsoft.com/office/drawing/2014/main" val="3207406835"/>
                    </a:ext>
                  </a:extLst>
                </a:gridCol>
                <a:gridCol w="837398">
                  <a:extLst>
                    <a:ext uri="{9D8B030D-6E8A-4147-A177-3AD203B41FA5}">
                      <a16:colId xmlns:a16="http://schemas.microsoft.com/office/drawing/2014/main" val="3486532907"/>
                    </a:ext>
                  </a:extLst>
                </a:gridCol>
                <a:gridCol w="770021">
                  <a:extLst>
                    <a:ext uri="{9D8B030D-6E8A-4147-A177-3AD203B41FA5}">
                      <a16:colId xmlns:a16="http://schemas.microsoft.com/office/drawing/2014/main" val="1068128131"/>
                    </a:ext>
                  </a:extLst>
                </a:gridCol>
                <a:gridCol w="1004333">
                  <a:extLst>
                    <a:ext uri="{9D8B030D-6E8A-4147-A177-3AD203B41FA5}">
                      <a16:colId xmlns:a16="http://schemas.microsoft.com/office/drawing/2014/main" val="1759089070"/>
                    </a:ext>
                  </a:extLst>
                </a:gridCol>
              </a:tblGrid>
              <a:tr h="255019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Route Rank?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SCAC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Carrier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AP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Tender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Pickup Date/Time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Delivery Date/Time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 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Transporting Carrier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Equip 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Route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9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9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893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9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AACT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AAA COOPER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LTL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311.98 USD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2/23/2026 14:00 WED (08:00-16:00 CST)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2/27/2026 15:00 Thu (00:00-23:59 * 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WX9190827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&lt;Rail related&gt;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&lt;Rail related&gt;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&lt;Rail related&gt;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9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794972"/>
                  </a:ext>
                </a:extLst>
              </a:tr>
              <a:tr h="30929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9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SAIA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SAIA 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LTH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411.25 USD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2/23/2026 14:00 WED (08:00-16:00 CST)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2/27/2026 15:00 Thu (00:00-23:59 * 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778212"/>
                  </a:ext>
                </a:extLst>
              </a:tr>
            </a:tbl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37BF2A6F-C36C-68FF-544C-740BD545B9B5}"/>
              </a:ext>
            </a:extLst>
          </p:cNvPr>
          <p:cNvSpPr/>
          <p:nvPr/>
        </p:nvSpPr>
        <p:spPr>
          <a:xfrm>
            <a:off x="4444598" y="367516"/>
            <a:ext cx="2247900" cy="1029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050" b="1" dirty="0"/>
          </a:p>
          <a:p>
            <a:pPr>
              <a:lnSpc>
                <a:spcPct val="150000"/>
              </a:lnSpc>
            </a:pPr>
            <a:r>
              <a:rPr lang="en-US" sz="1050" b="1" dirty="0"/>
              <a:t>Hold                                                            4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Consolidation                                       3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Sent                                                            5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Spot Bid                                                    3</a:t>
            </a:r>
          </a:p>
          <a:p>
            <a:pPr>
              <a:lnSpc>
                <a:spcPct val="150000"/>
              </a:lnSpc>
            </a:pPr>
            <a:endParaRPr lang="en-US" sz="1050" b="1" dirty="0"/>
          </a:p>
          <a:p>
            <a:pPr>
              <a:lnSpc>
                <a:spcPct val="150000"/>
              </a:lnSpc>
            </a:pPr>
            <a:endParaRPr lang="en-US" sz="1050" b="1" dirty="0"/>
          </a:p>
        </p:txBody>
      </p:sp>
      <p:sp>
        <p:nvSpPr>
          <p:cNvPr id="45" name="Rectangle: Top Corners Rounded 44">
            <a:extLst>
              <a:ext uri="{FF2B5EF4-FFF2-40B4-BE49-F238E27FC236}">
                <a16:creationId xmlns:a16="http://schemas.microsoft.com/office/drawing/2014/main" id="{62D0DB01-8E92-CAAF-612A-0F4042926107}"/>
              </a:ext>
            </a:extLst>
          </p:cNvPr>
          <p:cNvSpPr/>
          <p:nvPr/>
        </p:nvSpPr>
        <p:spPr>
          <a:xfrm>
            <a:off x="10666205" y="2512632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View Stops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6B5BC8A-801A-6DD0-EA23-364A51763E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1" y="6132218"/>
            <a:ext cx="461664" cy="369332"/>
          </a:xfrm>
          <a:prstGeom prst="rect">
            <a:avLst/>
          </a:prstGeom>
        </p:spPr>
      </p:pic>
      <p:sp>
        <p:nvSpPr>
          <p:cNvPr id="58" name="Rectangle: Top Corners Rounded 57">
            <a:extLst>
              <a:ext uri="{FF2B5EF4-FFF2-40B4-BE49-F238E27FC236}">
                <a16:creationId xmlns:a16="http://schemas.microsoft.com/office/drawing/2014/main" id="{DE681137-38B1-3BBC-5DDB-587CA43C684A}"/>
              </a:ext>
            </a:extLst>
          </p:cNvPr>
          <p:cNvSpPr/>
          <p:nvPr/>
        </p:nvSpPr>
        <p:spPr>
          <a:xfrm>
            <a:off x="363215" y="4474904"/>
            <a:ext cx="1110112" cy="329568"/>
          </a:xfrm>
          <a:prstGeom prst="round2SameRect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50" dirty="0"/>
              <a:t>Routing Options</a:t>
            </a:r>
          </a:p>
        </p:txBody>
      </p:sp>
      <p:sp>
        <p:nvSpPr>
          <p:cNvPr id="61" name="Rectangle: Top Corners Rounded 60">
            <a:extLst>
              <a:ext uri="{FF2B5EF4-FFF2-40B4-BE49-F238E27FC236}">
                <a16:creationId xmlns:a16="http://schemas.microsoft.com/office/drawing/2014/main" id="{CAF5C253-8D2F-1049-C5CF-9D83C1986943}"/>
              </a:ext>
            </a:extLst>
          </p:cNvPr>
          <p:cNvSpPr/>
          <p:nvPr/>
        </p:nvSpPr>
        <p:spPr>
          <a:xfrm>
            <a:off x="7827996" y="4007167"/>
            <a:ext cx="838752" cy="317885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Re-Tender</a:t>
            </a:r>
          </a:p>
        </p:txBody>
      </p:sp>
      <p:sp>
        <p:nvSpPr>
          <p:cNvPr id="63" name="Rectangle: Top Corners Rounded 62">
            <a:extLst>
              <a:ext uri="{FF2B5EF4-FFF2-40B4-BE49-F238E27FC236}">
                <a16:creationId xmlns:a16="http://schemas.microsoft.com/office/drawing/2014/main" id="{C0EC850B-6005-7768-302E-44CB5DB20AA5}"/>
              </a:ext>
            </a:extLst>
          </p:cNvPr>
          <p:cNvSpPr/>
          <p:nvPr/>
        </p:nvSpPr>
        <p:spPr>
          <a:xfrm>
            <a:off x="7037323" y="4383999"/>
            <a:ext cx="687597" cy="299413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Decline</a:t>
            </a:r>
          </a:p>
        </p:txBody>
      </p:sp>
      <p:sp>
        <p:nvSpPr>
          <p:cNvPr id="65" name="Rectangle: Top Corners Rounded 64">
            <a:extLst>
              <a:ext uri="{FF2B5EF4-FFF2-40B4-BE49-F238E27FC236}">
                <a16:creationId xmlns:a16="http://schemas.microsoft.com/office/drawing/2014/main" id="{0CDE1EC3-E732-C7AD-FF00-F87294F45C29}"/>
              </a:ext>
            </a:extLst>
          </p:cNvPr>
          <p:cNvSpPr/>
          <p:nvPr/>
        </p:nvSpPr>
        <p:spPr>
          <a:xfrm>
            <a:off x="8776952" y="4013967"/>
            <a:ext cx="687597" cy="299413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Cancel</a:t>
            </a:r>
          </a:p>
        </p:txBody>
      </p:sp>
      <p:sp>
        <p:nvSpPr>
          <p:cNvPr id="68" name="Rectangle: Top Corners Rounded 67">
            <a:extLst>
              <a:ext uri="{FF2B5EF4-FFF2-40B4-BE49-F238E27FC236}">
                <a16:creationId xmlns:a16="http://schemas.microsoft.com/office/drawing/2014/main" id="{091C3BA2-6E49-4CD9-F325-7CFBE3AB3E1E}"/>
              </a:ext>
            </a:extLst>
          </p:cNvPr>
          <p:cNvSpPr/>
          <p:nvPr/>
        </p:nvSpPr>
        <p:spPr>
          <a:xfrm>
            <a:off x="7037323" y="3998656"/>
            <a:ext cx="680469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Tender</a:t>
            </a:r>
          </a:p>
        </p:txBody>
      </p:sp>
      <p:sp>
        <p:nvSpPr>
          <p:cNvPr id="72" name="Rectangle: Top Corners Rounded 71">
            <a:extLst>
              <a:ext uri="{FF2B5EF4-FFF2-40B4-BE49-F238E27FC236}">
                <a16:creationId xmlns:a16="http://schemas.microsoft.com/office/drawing/2014/main" id="{8D7AA358-2BAE-E69D-BD17-C58E088E4C56}"/>
              </a:ext>
            </a:extLst>
          </p:cNvPr>
          <p:cNvSpPr/>
          <p:nvPr/>
        </p:nvSpPr>
        <p:spPr>
          <a:xfrm>
            <a:off x="7827996" y="4418245"/>
            <a:ext cx="687597" cy="277551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Accept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E38CAB-0A41-7885-E123-914E1C1F7B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3745" y="3777442"/>
            <a:ext cx="159435" cy="1522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BB0835-EB1A-8A7C-D0C1-62222AD0F2A1}"/>
              </a:ext>
            </a:extLst>
          </p:cNvPr>
          <p:cNvSpPr txBox="1"/>
          <p:nvPr/>
        </p:nvSpPr>
        <p:spPr>
          <a:xfrm>
            <a:off x="1572078" y="3690568"/>
            <a:ext cx="1803400" cy="2616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/>
              <a:t>Instructions Display 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0C0231-F950-4BC6-7CCD-3D21C6FCA8F7}"/>
              </a:ext>
            </a:extLst>
          </p:cNvPr>
          <p:cNvSpPr txBox="1"/>
          <p:nvPr/>
        </p:nvSpPr>
        <p:spPr>
          <a:xfrm>
            <a:off x="10423172" y="1671812"/>
            <a:ext cx="1467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Actions - Shipment</a:t>
            </a: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228212F4-E362-43DC-002B-58F474722654}"/>
              </a:ext>
            </a:extLst>
          </p:cNvPr>
          <p:cNvSpPr/>
          <p:nvPr/>
        </p:nvSpPr>
        <p:spPr>
          <a:xfrm>
            <a:off x="1572078" y="4454578"/>
            <a:ext cx="1110112" cy="329568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Pro &amp; Equipment Info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307C7C8-A88F-4B0E-0B81-3501BEA2AA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1" y="5542382"/>
            <a:ext cx="461664" cy="369332"/>
          </a:xfrm>
          <a:prstGeom prst="rect">
            <a:avLst/>
          </a:prstGeom>
        </p:spPr>
      </p:pic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FD7F2F94-3F58-3C5D-8991-5662F01835E2}"/>
              </a:ext>
            </a:extLst>
          </p:cNvPr>
          <p:cNvSpPr/>
          <p:nvPr/>
        </p:nvSpPr>
        <p:spPr>
          <a:xfrm>
            <a:off x="5043893" y="4454578"/>
            <a:ext cx="1044003" cy="329569"/>
          </a:xfrm>
          <a:prstGeom prst="round2Same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Others</a:t>
            </a: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D6D30C00-A655-CD08-9106-9F449DFBC1A6}"/>
              </a:ext>
            </a:extLst>
          </p:cNvPr>
          <p:cNvSpPr/>
          <p:nvPr/>
        </p:nvSpPr>
        <p:spPr>
          <a:xfrm>
            <a:off x="3908970" y="4474903"/>
            <a:ext cx="1044003" cy="329569"/>
          </a:xfrm>
          <a:prstGeom prst="round2Same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Additional Info</a:t>
            </a:r>
          </a:p>
        </p:txBody>
      </p:sp>
    </p:spTree>
    <p:extLst>
      <p:ext uri="{BB962C8B-B14F-4D97-AF65-F5344CB8AC3E}">
        <p14:creationId xmlns:p14="http://schemas.microsoft.com/office/powerpoint/2010/main" val="3337284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7C9CE-F527-5BF7-1A2C-F375A996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1D0ED06-FB31-D19F-AF82-71815FC472DF}"/>
              </a:ext>
            </a:extLst>
          </p:cNvPr>
          <p:cNvGrpSpPr/>
          <p:nvPr/>
        </p:nvGrpSpPr>
        <p:grpSpPr>
          <a:xfrm>
            <a:off x="9703946" y="4014439"/>
            <a:ext cx="2277067" cy="738682"/>
            <a:chOff x="6886451" y="3968719"/>
            <a:chExt cx="2277067" cy="738682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ACF8B30-16BC-741D-2494-439AE410A2A8}"/>
                </a:ext>
              </a:extLst>
            </p:cNvPr>
            <p:cNvSpPr/>
            <p:nvPr/>
          </p:nvSpPr>
          <p:spPr>
            <a:xfrm>
              <a:off x="6938827" y="4249136"/>
              <a:ext cx="2224691" cy="4582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F8F4C60-377A-1179-6F33-CB8F92262179}"/>
                </a:ext>
              </a:extLst>
            </p:cNvPr>
            <p:cNvSpPr txBox="1"/>
            <p:nvPr/>
          </p:nvSpPr>
          <p:spPr>
            <a:xfrm>
              <a:off x="6886451" y="3968719"/>
              <a:ext cx="19019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Actions – Shipment Option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997FBA6-7445-FCD3-5185-F2FDA266F654}"/>
              </a:ext>
            </a:extLst>
          </p:cNvPr>
          <p:cNvGrpSpPr/>
          <p:nvPr/>
        </p:nvGrpSpPr>
        <p:grpSpPr>
          <a:xfrm>
            <a:off x="6973144" y="3613696"/>
            <a:ext cx="2647501" cy="1157714"/>
            <a:chOff x="3899617" y="3549688"/>
            <a:chExt cx="2647501" cy="1157714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43E1CE7-2E99-4C5E-83A9-184C06B59AC0}"/>
                </a:ext>
              </a:extLst>
            </p:cNvPr>
            <p:cNvSpPr/>
            <p:nvPr/>
          </p:nvSpPr>
          <p:spPr>
            <a:xfrm>
              <a:off x="3899617" y="3888170"/>
              <a:ext cx="2647501" cy="8192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7B9922F-2DC4-6A4A-B8BD-1BEF1D69CC79}"/>
                </a:ext>
              </a:extLst>
            </p:cNvPr>
            <p:cNvSpPr txBox="1"/>
            <p:nvPr/>
          </p:nvSpPr>
          <p:spPr>
            <a:xfrm>
              <a:off x="3899617" y="3549688"/>
              <a:ext cx="18492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Tender Actions 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3185F8C4-1B33-EE34-A788-A52753781B76}"/>
              </a:ext>
            </a:extLst>
          </p:cNvPr>
          <p:cNvSpPr/>
          <p:nvPr/>
        </p:nvSpPr>
        <p:spPr>
          <a:xfrm>
            <a:off x="10537379" y="1939420"/>
            <a:ext cx="1353129" cy="1019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72C44-F600-5EE4-23A0-7223D0DD5E7C}"/>
              </a:ext>
            </a:extLst>
          </p:cNvPr>
          <p:cNvSpPr txBox="1"/>
          <p:nvPr/>
        </p:nvSpPr>
        <p:spPr>
          <a:xfrm>
            <a:off x="-38807" y="-46213"/>
            <a:ext cx="1660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Tender Page  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F3010A-08F5-721F-FCBD-4EFDCB0845CD}"/>
              </a:ext>
            </a:extLst>
          </p:cNvPr>
          <p:cNvSpPr/>
          <p:nvPr/>
        </p:nvSpPr>
        <p:spPr>
          <a:xfrm>
            <a:off x="1856614" y="399787"/>
            <a:ext cx="2052356" cy="11449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900" dirty="0"/>
          </a:p>
          <a:p>
            <a:pPr>
              <a:lnSpc>
                <a:spcPct val="150000"/>
              </a:lnSpc>
            </a:pPr>
            <a:r>
              <a:rPr lang="en-US" sz="900" dirty="0"/>
              <a:t>Date Issues                                   5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Routing Review                           7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Tender Issues                              7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Tender Review                            5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Bid Review                                    2</a:t>
            </a:r>
          </a:p>
          <a:p>
            <a:pPr>
              <a:lnSpc>
                <a:spcPct val="150000"/>
              </a:lnSpc>
            </a:pPr>
            <a:endParaRPr lang="en-US" sz="900" dirty="0"/>
          </a:p>
          <a:p>
            <a:pPr>
              <a:lnSpc>
                <a:spcPct val="150000"/>
              </a:lnSpc>
            </a:pPr>
            <a:endParaRPr lang="en-US" sz="9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6805F12-FD60-FFB4-4365-783FF18E3179}"/>
              </a:ext>
            </a:extLst>
          </p:cNvPr>
          <p:cNvSpPr/>
          <p:nvPr/>
        </p:nvSpPr>
        <p:spPr>
          <a:xfrm>
            <a:off x="1872503" y="56249"/>
            <a:ext cx="2027114" cy="27554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Planning Exceptions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909D6D-B78E-641D-3BDD-CFD98B04A714}"/>
              </a:ext>
            </a:extLst>
          </p:cNvPr>
          <p:cNvSpPr/>
          <p:nvPr/>
        </p:nvSpPr>
        <p:spPr>
          <a:xfrm>
            <a:off x="4444598" y="52394"/>
            <a:ext cx="2247900" cy="228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Planning Monitoring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75140C-86FE-01E4-08C9-FD41EFADFBD6}"/>
              </a:ext>
            </a:extLst>
          </p:cNvPr>
          <p:cNvSpPr/>
          <p:nvPr/>
        </p:nvSpPr>
        <p:spPr>
          <a:xfrm>
            <a:off x="6921098" y="331793"/>
            <a:ext cx="2247900" cy="9781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900" dirty="0"/>
              <a:t>PGI Errors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Manual PGI/PGR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Missed PGI/PGR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Rating Failure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A539A7-5A4A-D629-8871-870C63E54139}"/>
              </a:ext>
            </a:extLst>
          </p:cNvPr>
          <p:cNvSpPr/>
          <p:nvPr/>
        </p:nvSpPr>
        <p:spPr>
          <a:xfrm>
            <a:off x="6921098" y="52394"/>
            <a:ext cx="2247900" cy="2286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PGI/PGR </a:t>
            </a:r>
            <a:r>
              <a:rPr lang="en-US" sz="1100" dirty="0" err="1"/>
              <a:t>Excptions</a:t>
            </a:r>
            <a:endParaRPr lang="en-US" sz="11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AC807C0-1868-EBDA-E603-2A8FF1A3D8A7}"/>
              </a:ext>
            </a:extLst>
          </p:cNvPr>
          <p:cNvCxnSpPr/>
          <p:nvPr/>
        </p:nvCxnSpPr>
        <p:spPr>
          <a:xfrm>
            <a:off x="212580" y="1662255"/>
            <a:ext cx="1152144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409143-3009-6573-BCBD-CB47EB86A730}"/>
              </a:ext>
            </a:extLst>
          </p:cNvPr>
          <p:cNvSpPr txBox="1"/>
          <p:nvPr/>
        </p:nvSpPr>
        <p:spPr>
          <a:xfrm>
            <a:off x="5272671" y="1743623"/>
            <a:ext cx="2893819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Initial Pickup </a:t>
            </a:r>
          </a:p>
          <a:p>
            <a:endParaRPr lang="en-US" sz="1050" dirty="0"/>
          </a:p>
          <a:p>
            <a:r>
              <a:rPr lang="en-US" sz="1050" b="1" dirty="0"/>
              <a:t>Pickup location name  &amp; Address                         </a:t>
            </a:r>
          </a:p>
          <a:p>
            <a:r>
              <a:rPr lang="en-US" sz="1050" i="1" dirty="0"/>
              <a:t>G2O TECHNOLOGIES LLC</a:t>
            </a:r>
          </a:p>
          <a:p>
            <a:r>
              <a:rPr lang="en-US" sz="1050" i="1" dirty="0"/>
              <a:t>1502 NORTH WASHINGTON</a:t>
            </a:r>
          </a:p>
          <a:p>
            <a:r>
              <a:rPr lang="en-US" sz="1050" i="1" dirty="0"/>
              <a:t>COLUMBUS</a:t>
            </a:r>
          </a:p>
          <a:p>
            <a:r>
              <a:rPr lang="en-US" sz="1050" i="1" dirty="0"/>
              <a:t>31907 GA</a:t>
            </a:r>
          </a:p>
          <a:p>
            <a:r>
              <a:rPr lang="en-US" sz="1050" i="1" dirty="0"/>
              <a:t>US</a:t>
            </a:r>
          </a:p>
          <a:p>
            <a:endParaRPr lang="en-US" sz="1050" dirty="0"/>
          </a:p>
          <a:p>
            <a:r>
              <a:rPr lang="en-US" sz="1050" b="1" dirty="0"/>
              <a:t>Pickup Date/Time (Preferred carrier)</a:t>
            </a:r>
          </a:p>
          <a:p>
            <a:r>
              <a:rPr lang="en-US" sz="1050" dirty="0"/>
              <a:t>02/14/2026 03:00 CST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8938C9-757B-9576-29B4-974E213ED752}"/>
              </a:ext>
            </a:extLst>
          </p:cNvPr>
          <p:cNvSpPr txBox="1"/>
          <p:nvPr/>
        </p:nvSpPr>
        <p:spPr>
          <a:xfrm>
            <a:off x="8005505" y="1758871"/>
            <a:ext cx="2604725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Final Delivery</a:t>
            </a:r>
          </a:p>
          <a:p>
            <a:endParaRPr lang="en-US" sz="1050" b="1" dirty="0"/>
          </a:p>
          <a:p>
            <a:r>
              <a:rPr lang="en-US" sz="1050" b="1" dirty="0"/>
              <a:t>Delivery location name &amp; Address  </a:t>
            </a:r>
            <a:r>
              <a:rPr lang="en-US" sz="1050" dirty="0"/>
              <a:t>                           </a:t>
            </a:r>
          </a:p>
          <a:p>
            <a:r>
              <a:rPr lang="en-US" sz="1050" i="1" dirty="0"/>
              <a:t>NALCO ENERGY SERVICES</a:t>
            </a:r>
          </a:p>
          <a:p>
            <a:r>
              <a:rPr lang="en-US" sz="1050" dirty="0"/>
              <a:t>6717 S. 61ST WEST AVE</a:t>
            </a:r>
          </a:p>
          <a:p>
            <a:r>
              <a:rPr lang="en-US" sz="1050" dirty="0"/>
              <a:t>NEENAH</a:t>
            </a:r>
          </a:p>
          <a:p>
            <a:r>
              <a:rPr lang="en-US" sz="1050" dirty="0"/>
              <a:t>54956 WI</a:t>
            </a:r>
          </a:p>
          <a:p>
            <a:r>
              <a:rPr lang="en-US" sz="1050" dirty="0"/>
              <a:t>US</a:t>
            </a:r>
          </a:p>
          <a:p>
            <a:endParaRPr lang="en-US" sz="1050" dirty="0"/>
          </a:p>
          <a:p>
            <a:r>
              <a:rPr lang="en-US" sz="1050" b="1" dirty="0"/>
              <a:t>Delivery Date/Time (Preferred Carrier)</a:t>
            </a:r>
          </a:p>
          <a:p>
            <a:r>
              <a:rPr lang="en-US" sz="1050" dirty="0"/>
              <a:t>02/22/2025 14:00 CST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A9DD1C-26B8-1A04-7856-9D24F7F478AE}"/>
              </a:ext>
            </a:extLst>
          </p:cNvPr>
          <p:cNvSpPr txBox="1"/>
          <p:nvPr/>
        </p:nvSpPr>
        <p:spPr>
          <a:xfrm>
            <a:off x="212580" y="1837380"/>
            <a:ext cx="253166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Shipment</a:t>
            </a:r>
          </a:p>
          <a:p>
            <a:endParaRPr lang="en-US" sz="1050" dirty="0"/>
          </a:p>
          <a:p>
            <a:r>
              <a:rPr lang="en-US" sz="1050" b="1" dirty="0"/>
              <a:t>Buy Shipment ID:</a:t>
            </a:r>
            <a:r>
              <a:rPr lang="en-US" sz="1050" dirty="0"/>
              <a:t> B288263 </a:t>
            </a:r>
          </a:p>
          <a:p>
            <a:r>
              <a:rPr lang="en-US" sz="1050" b="1" dirty="0"/>
              <a:t>Sell Shipment ID:</a:t>
            </a:r>
            <a:r>
              <a:rPr lang="en-US" sz="1050" dirty="0"/>
              <a:t> S453678</a:t>
            </a:r>
          </a:p>
          <a:p>
            <a:r>
              <a:rPr lang="en-US" sz="1050" b="1" dirty="0"/>
              <a:t>Mode: </a:t>
            </a:r>
            <a:r>
              <a:rPr lang="en-US" sz="1050" dirty="0"/>
              <a:t>TL / LTL / RR / IMD /AIR</a:t>
            </a:r>
          </a:p>
          <a:p>
            <a:r>
              <a:rPr lang="en-US" sz="1050" b="1" dirty="0"/>
              <a:t>Seed Equipment:</a:t>
            </a:r>
            <a:r>
              <a:rPr lang="en-US" sz="1050" dirty="0"/>
              <a:t> LTL</a:t>
            </a:r>
          </a:p>
          <a:p>
            <a:r>
              <a:rPr lang="en-US" sz="1050" b="1" dirty="0">
                <a:solidFill>
                  <a:srgbClr val="0000FF"/>
                </a:solidFill>
              </a:rPr>
              <a:t>Planning Date Type:  </a:t>
            </a:r>
            <a:r>
              <a:rPr lang="en-US" sz="1050" dirty="0">
                <a:solidFill>
                  <a:srgbClr val="0000FF"/>
                </a:solidFill>
              </a:rPr>
              <a:t>RDD</a:t>
            </a:r>
          </a:p>
          <a:p>
            <a:r>
              <a:rPr lang="en-US" sz="1050" b="1" dirty="0"/>
              <a:t>Gross Weight:</a:t>
            </a:r>
            <a:r>
              <a:rPr lang="en-US" sz="1050" dirty="0"/>
              <a:t> 420 LB</a:t>
            </a:r>
          </a:p>
          <a:p>
            <a:r>
              <a:rPr lang="en-US" sz="1050" b="1" dirty="0"/>
              <a:t>Pkg Count:</a:t>
            </a:r>
            <a:r>
              <a:rPr lang="en-US" sz="1050" dirty="0"/>
              <a:t> 12 PLT </a:t>
            </a:r>
          </a:p>
          <a:p>
            <a:r>
              <a:rPr lang="en-US" sz="1050" b="1" dirty="0"/>
              <a:t>Volume: </a:t>
            </a:r>
            <a:r>
              <a:rPr lang="en-US" sz="1050" dirty="0"/>
              <a:t>45 </a:t>
            </a:r>
            <a:r>
              <a:rPr lang="en-US" sz="1050" dirty="0" err="1"/>
              <a:t>cuft</a:t>
            </a:r>
            <a:endParaRPr lang="en-US" sz="1050" dirty="0"/>
          </a:p>
          <a:p>
            <a:r>
              <a:rPr lang="en-US" sz="1050" b="1" dirty="0"/>
              <a:t>Distance:</a:t>
            </a:r>
            <a:r>
              <a:rPr lang="en-US" sz="1050" dirty="0"/>
              <a:t> 1000 MI</a:t>
            </a:r>
          </a:p>
          <a:p>
            <a:endParaRPr lang="en-US" sz="1050" dirty="0"/>
          </a:p>
          <a:p>
            <a:r>
              <a:rPr lang="en-US" sz="1050" dirty="0"/>
              <a:t>Instructions: </a:t>
            </a:r>
          </a:p>
          <a:p>
            <a:r>
              <a:rPr lang="en-US" sz="1050" dirty="0"/>
              <a:t>Hazardous: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40DA4F-2436-77B4-6A0B-0C35553C6C9D}"/>
              </a:ext>
            </a:extLst>
          </p:cNvPr>
          <p:cNvSpPr txBox="1"/>
          <p:nvPr/>
        </p:nvSpPr>
        <p:spPr>
          <a:xfrm>
            <a:off x="2080291" y="1796834"/>
            <a:ext cx="3668532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Order</a:t>
            </a:r>
          </a:p>
          <a:p>
            <a:endParaRPr lang="en-US" sz="1050" dirty="0"/>
          </a:p>
          <a:p>
            <a:r>
              <a:rPr lang="en-US" sz="1050" b="1" dirty="0">
                <a:solidFill>
                  <a:srgbClr val="0000FF"/>
                </a:solidFill>
              </a:rPr>
              <a:t>Planning Date Type:  </a:t>
            </a:r>
            <a:r>
              <a:rPr lang="en-US" sz="1050" dirty="0">
                <a:solidFill>
                  <a:srgbClr val="0000FF"/>
                </a:solidFill>
              </a:rPr>
              <a:t>RDD</a:t>
            </a:r>
          </a:p>
          <a:p>
            <a:r>
              <a:rPr lang="en-US" sz="1050" b="1" dirty="0"/>
              <a:t>Order Pickup Date/Time: </a:t>
            </a:r>
            <a:r>
              <a:rPr lang="en-US" sz="1050" dirty="0"/>
              <a:t>02/14/2026 03:00 CST</a:t>
            </a:r>
          </a:p>
          <a:p>
            <a:r>
              <a:rPr lang="en-US" sz="1050" b="1" dirty="0"/>
              <a:t>Order Delivery Date/Time: </a:t>
            </a:r>
            <a:r>
              <a:rPr lang="en-US" sz="1050" dirty="0"/>
              <a:t>02/22/2025 14:00 CST</a:t>
            </a:r>
          </a:p>
          <a:p>
            <a:r>
              <a:rPr lang="en-US" sz="1050" b="1" dirty="0"/>
              <a:t>Order #:</a:t>
            </a:r>
            <a:r>
              <a:rPr lang="en-US" sz="1050" dirty="0"/>
              <a:t>O345, O098</a:t>
            </a:r>
          </a:p>
          <a:p>
            <a:r>
              <a:rPr lang="en-US" sz="1050" b="1" dirty="0"/>
              <a:t>Direct Cost: </a:t>
            </a:r>
            <a:r>
              <a:rPr lang="en-US" sz="1050" dirty="0"/>
              <a:t>410 USD, 240 USD</a:t>
            </a:r>
          </a:p>
          <a:p>
            <a:endParaRPr lang="en-US" sz="1050" dirty="0"/>
          </a:p>
          <a:p>
            <a:r>
              <a:rPr lang="en-US" sz="1050" dirty="0"/>
              <a:t>Pickup #: 234696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AA241F0-0061-B5EF-CB21-F784176B6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607" y="3690245"/>
            <a:ext cx="461664" cy="36933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54980F3-245F-9E26-9443-9EDAE9DE81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26" y="3928940"/>
            <a:ext cx="461664" cy="369332"/>
          </a:xfrm>
          <a:prstGeom prst="rect">
            <a:avLst/>
          </a:prstGeom>
        </p:spPr>
      </p:pic>
      <p:sp>
        <p:nvSpPr>
          <p:cNvPr id="31" name="Rectangle: Top Corners Rounded 30">
            <a:extLst>
              <a:ext uri="{FF2B5EF4-FFF2-40B4-BE49-F238E27FC236}">
                <a16:creationId xmlns:a16="http://schemas.microsoft.com/office/drawing/2014/main" id="{B950B10B-8182-C72F-CB96-FC14034B1468}"/>
              </a:ext>
            </a:extLst>
          </p:cNvPr>
          <p:cNvSpPr/>
          <p:nvPr/>
        </p:nvSpPr>
        <p:spPr>
          <a:xfrm>
            <a:off x="9823958" y="4345714"/>
            <a:ext cx="879772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Add Quote</a:t>
            </a:r>
          </a:p>
        </p:txBody>
      </p:sp>
      <p:sp>
        <p:nvSpPr>
          <p:cNvPr id="33" name="Rectangle: Top Corners Rounded 32">
            <a:extLst>
              <a:ext uri="{FF2B5EF4-FFF2-40B4-BE49-F238E27FC236}">
                <a16:creationId xmlns:a16="http://schemas.microsoft.com/office/drawing/2014/main" id="{AAF0AB61-64A1-410F-527A-5D9FAA4AE301}"/>
              </a:ext>
            </a:extLst>
          </p:cNvPr>
          <p:cNvSpPr/>
          <p:nvPr/>
        </p:nvSpPr>
        <p:spPr>
          <a:xfrm>
            <a:off x="2780942" y="4474903"/>
            <a:ext cx="1044003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View Volume Commitment</a:t>
            </a:r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BDD59EDF-3FD0-FEE2-6AE6-D0DF7C170645}"/>
              </a:ext>
            </a:extLst>
          </p:cNvPr>
          <p:cNvSpPr/>
          <p:nvPr/>
        </p:nvSpPr>
        <p:spPr>
          <a:xfrm>
            <a:off x="10823000" y="4323062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Show Rate Details (QCA)</a:t>
            </a:r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A197ED4D-DF25-B3DE-2F25-76BFED3EE614}"/>
              </a:ext>
            </a:extLst>
          </p:cNvPr>
          <p:cNvSpPr/>
          <p:nvPr/>
        </p:nvSpPr>
        <p:spPr>
          <a:xfrm>
            <a:off x="10686216" y="2084026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Routing Query (QCP)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C56BF8EA-B251-288B-B76B-007A03373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524208"/>
              </p:ext>
            </p:extLst>
          </p:nvPr>
        </p:nvGraphicFramePr>
        <p:xfrm>
          <a:off x="329314" y="4855823"/>
          <a:ext cx="11312353" cy="176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198">
                  <a:extLst>
                    <a:ext uri="{9D8B030D-6E8A-4147-A177-3AD203B41FA5}">
                      <a16:colId xmlns:a16="http://schemas.microsoft.com/office/drawing/2014/main" val="2299961496"/>
                    </a:ext>
                  </a:extLst>
                </a:gridCol>
                <a:gridCol w="572564">
                  <a:extLst>
                    <a:ext uri="{9D8B030D-6E8A-4147-A177-3AD203B41FA5}">
                      <a16:colId xmlns:a16="http://schemas.microsoft.com/office/drawing/2014/main" val="63472440"/>
                    </a:ext>
                  </a:extLst>
                </a:gridCol>
                <a:gridCol w="721009">
                  <a:extLst>
                    <a:ext uri="{9D8B030D-6E8A-4147-A177-3AD203B41FA5}">
                      <a16:colId xmlns:a16="http://schemas.microsoft.com/office/drawing/2014/main" val="2417404039"/>
                    </a:ext>
                  </a:extLst>
                </a:gridCol>
                <a:gridCol w="958503">
                  <a:extLst>
                    <a:ext uri="{9D8B030D-6E8A-4147-A177-3AD203B41FA5}">
                      <a16:colId xmlns:a16="http://schemas.microsoft.com/office/drawing/2014/main" val="137753275"/>
                    </a:ext>
                  </a:extLst>
                </a:gridCol>
                <a:gridCol w="653163">
                  <a:extLst>
                    <a:ext uri="{9D8B030D-6E8A-4147-A177-3AD203B41FA5}">
                      <a16:colId xmlns:a16="http://schemas.microsoft.com/office/drawing/2014/main" val="1150411051"/>
                    </a:ext>
                  </a:extLst>
                </a:gridCol>
                <a:gridCol w="891510">
                  <a:extLst>
                    <a:ext uri="{9D8B030D-6E8A-4147-A177-3AD203B41FA5}">
                      <a16:colId xmlns:a16="http://schemas.microsoft.com/office/drawing/2014/main" val="3252033987"/>
                    </a:ext>
                  </a:extLst>
                </a:gridCol>
                <a:gridCol w="663779">
                  <a:extLst>
                    <a:ext uri="{9D8B030D-6E8A-4147-A177-3AD203B41FA5}">
                      <a16:colId xmlns:a16="http://schemas.microsoft.com/office/drawing/2014/main" val="1006403190"/>
                    </a:ext>
                  </a:extLst>
                </a:gridCol>
                <a:gridCol w="1043452">
                  <a:extLst>
                    <a:ext uri="{9D8B030D-6E8A-4147-A177-3AD203B41FA5}">
                      <a16:colId xmlns:a16="http://schemas.microsoft.com/office/drawing/2014/main" val="1350056266"/>
                    </a:ext>
                  </a:extLst>
                </a:gridCol>
                <a:gridCol w="889499">
                  <a:extLst>
                    <a:ext uri="{9D8B030D-6E8A-4147-A177-3AD203B41FA5}">
                      <a16:colId xmlns:a16="http://schemas.microsoft.com/office/drawing/2014/main" val="1042750234"/>
                    </a:ext>
                  </a:extLst>
                </a:gridCol>
                <a:gridCol w="590148">
                  <a:extLst>
                    <a:ext uri="{9D8B030D-6E8A-4147-A177-3AD203B41FA5}">
                      <a16:colId xmlns:a16="http://schemas.microsoft.com/office/drawing/2014/main" val="59263022"/>
                    </a:ext>
                  </a:extLst>
                </a:gridCol>
                <a:gridCol w="675678">
                  <a:extLst>
                    <a:ext uri="{9D8B030D-6E8A-4147-A177-3AD203B41FA5}">
                      <a16:colId xmlns:a16="http://schemas.microsoft.com/office/drawing/2014/main" val="693219657"/>
                    </a:ext>
                  </a:extLst>
                </a:gridCol>
                <a:gridCol w="769759">
                  <a:extLst>
                    <a:ext uri="{9D8B030D-6E8A-4147-A177-3AD203B41FA5}">
                      <a16:colId xmlns:a16="http://schemas.microsoft.com/office/drawing/2014/main" val="3207406835"/>
                    </a:ext>
                  </a:extLst>
                </a:gridCol>
                <a:gridCol w="769759">
                  <a:extLst>
                    <a:ext uri="{9D8B030D-6E8A-4147-A177-3AD203B41FA5}">
                      <a16:colId xmlns:a16="http://schemas.microsoft.com/office/drawing/2014/main" val="2089277385"/>
                    </a:ext>
                  </a:extLst>
                </a:gridCol>
                <a:gridCol w="769759">
                  <a:extLst>
                    <a:ext uri="{9D8B030D-6E8A-4147-A177-3AD203B41FA5}">
                      <a16:colId xmlns:a16="http://schemas.microsoft.com/office/drawing/2014/main" val="1679010256"/>
                    </a:ext>
                  </a:extLst>
                </a:gridCol>
                <a:gridCol w="654573">
                  <a:extLst>
                    <a:ext uri="{9D8B030D-6E8A-4147-A177-3AD203B41FA5}">
                      <a16:colId xmlns:a16="http://schemas.microsoft.com/office/drawing/2014/main" val="2215236444"/>
                    </a:ext>
                  </a:extLst>
                </a:gridCol>
              </a:tblGrid>
              <a:tr h="255019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Route Rank?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SCAC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Carrier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AP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Tender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Pickup Date/Time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Delivery Date/Time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Commitment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UOM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Equip 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Open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Decline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893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9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AACT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AAA COOPER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LTL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311.98 USD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2/23/2026 14:00 WED (08:00-16:00 CST)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2/27/2026 15:00 Thu (00:00-23:59 * 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794972"/>
                  </a:ext>
                </a:extLst>
              </a:tr>
              <a:tr h="30929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9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SAIA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SAIA 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LTH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411.25 USD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2/23/2026 14:00 WED (08:00-16:00 CST)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2/27/2026 15:00 Thu (00:00-23:59 * 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778212"/>
                  </a:ext>
                </a:extLst>
              </a:tr>
            </a:tbl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94C28B57-55B3-0B24-041D-850231BB8C74}"/>
              </a:ext>
            </a:extLst>
          </p:cNvPr>
          <p:cNvSpPr/>
          <p:nvPr/>
        </p:nvSpPr>
        <p:spPr>
          <a:xfrm>
            <a:off x="4444598" y="367516"/>
            <a:ext cx="2247900" cy="1029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050" b="1" dirty="0"/>
          </a:p>
          <a:p>
            <a:pPr>
              <a:lnSpc>
                <a:spcPct val="150000"/>
              </a:lnSpc>
            </a:pPr>
            <a:r>
              <a:rPr lang="en-US" sz="1050" b="1" dirty="0"/>
              <a:t>Hold                                                            4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Consolidation                                       3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Sent                                                            5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Spot Bid                                                    3</a:t>
            </a:r>
          </a:p>
          <a:p>
            <a:pPr>
              <a:lnSpc>
                <a:spcPct val="150000"/>
              </a:lnSpc>
            </a:pPr>
            <a:endParaRPr lang="en-US" sz="1050" b="1" dirty="0"/>
          </a:p>
          <a:p>
            <a:pPr>
              <a:lnSpc>
                <a:spcPct val="150000"/>
              </a:lnSpc>
            </a:pPr>
            <a:endParaRPr lang="en-US" sz="1050" b="1" dirty="0"/>
          </a:p>
        </p:txBody>
      </p:sp>
      <p:sp>
        <p:nvSpPr>
          <p:cNvPr id="45" name="Rectangle: Top Corners Rounded 44">
            <a:extLst>
              <a:ext uri="{FF2B5EF4-FFF2-40B4-BE49-F238E27FC236}">
                <a16:creationId xmlns:a16="http://schemas.microsoft.com/office/drawing/2014/main" id="{3C44FEBB-69F9-9B23-E4D2-E198FB984704}"/>
              </a:ext>
            </a:extLst>
          </p:cNvPr>
          <p:cNvSpPr/>
          <p:nvPr/>
        </p:nvSpPr>
        <p:spPr>
          <a:xfrm>
            <a:off x="10666205" y="2512632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View Stops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0ADBA07B-3920-E17A-2D04-21DFF6B9F3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1" y="6132218"/>
            <a:ext cx="461664" cy="369332"/>
          </a:xfrm>
          <a:prstGeom prst="rect">
            <a:avLst/>
          </a:prstGeom>
        </p:spPr>
      </p:pic>
      <p:sp>
        <p:nvSpPr>
          <p:cNvPr id="58" name="Rectangle: Top Corners Rounded 57">
            <a:extLst>
              <a:ext uri="{FF2B5EF4-FFF2-40B4-BE49-F238E27FC236}">
                <a16:creationId xmlns:a16="http://schemas.microsoft.com/office/drawing/2014/main" id="{669536DD-ACFF-B221-7657-5914080F6D4C}"/>
              </a:ext>
            </a:extLst>
          </p:cNvPr>
          <p:cNvSpPr/>
          <p:nvPr/>
        </p:nvSpPr>
        <p:spPr>
          <a:xfrm>
            <a:off x="363215" y="4474904"/>
            <a:ext cx="1110112" cy="329568"/>
          </a:xfrm>
          <a:prstGeom prst="round2SameRect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50" dirty="0"/>
              <a:t>Routing Options</a:t>
            </a:r>
          </a:p>
        </p:txBody>
      </p:sp>
      <p:sp>
        <p:nvSpPr>
          <p:cNvPr id="61" name="Rectangle: Top Corners Rounded 60">
            <a:extLst>
              <a:ext uri="{FF2B5EF4-FFF2-40B4-BE49-F238E27FC236}">
                <a16:creationId xmlns:a16="http://schemas.microsoft.com/office/drawing/2014/main" id="{3CFDD0C9-8136-6A90-BED0-3317E1BDA267}"/>
              </a:ext>
            </a:extLst>
          </p:cNvPr>
          <p:cNvSpPr/>
          <p:nvPr/>
        </p:nvSpPr>
        <p:spPr>
          <a:xfrm>
            <a:off x="7827996" y="4007167"/>
            <a:ext cx="838752" cy="317885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Re-Tender</a:t>
            </a:r>
          </a:p>
        </p:txBody>
      </p:sp>
      <p:sp>
        <p:nvSpPr>
          <p:cNvPr id="63" name="Rectangle: Top Corners Rounded 62">
            <a:extLst>
              <a:ext uri="{FF2B5EF4-FFF2-40B4-BE49-F238E27FC236}">
                <a16:creationId xmlns:a16="http://schemas.microsoft.com/office/drawing/2014/main" id="{C52B676A-44F2-3756-9BD0-EFCE0D6DD7E7}"/>
              </a:ext>
            </a:extLst>
          </p:cNvPr>
          <p:cNvSpPr/>
          <p:nvPr/>
        </p:nvSpPr>
        <p:spPr>
          <a:xfrm>
            <a:off x="7037323" y="4383999"/>
            <a:ext cx="687597" cy="299413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Decline</a:t>
            </a:r>
          </a:p>
        </p:txBody>
      </p:sp>
      <p:sp>
        <p:nvSpPr>
          <p:cNvPr id="65" name="Rectangle: Top Corners Rounded 64">
            <a:extLst>
              <a:ext uri="{FF2B5EF4-FFF2-40B4-BE49-F238E27FC236}">
                <a16:creationId xmlns:a16="http://schemas.microsoft.com/office/drawing/2014/main" id="{F01D4A0D-3287-C416-5B30-0C2D434C6480}"/>
              </a:ext>
            </a:extLst>
          </p:cNvPr>
          <p:cNvSpPr/>
          <p:nvPr/>
        </p:nvSpPr>
        <p:spPr>
          <a:xfrm>
            <a:off x="8776952" y="4013967"/>
            <a:ext cx="687597" cy="299413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Cancel</a:t>
            </a:r>
          </a:p>
        </p:txBody>
      </p:sp>
      <p:sp>
        <p:nvSpPr>
          <p:cNvPr id="68" name="Rectangle: Top Corners Rounded 67">
            <a:extLst>
              <a:ext uri="{FF2B5EF4-FFF2-40B4-BE49-F238E27FC236}">
                <a16:creationId xmlns:a16="http://schemas.microsoft.com/office/drawing/2014/main" id="{4BF04FF9-BBF6-2673-A8B7-EF4D69B70875}"/>
              </a:ext>
            </a:extLst>
          </p:cNvPr>
          <p:cNvSpPr/>
          <p:nvPr/>
        </p:nvSpPr>
        <p:spPr>
          <a:xfrm>
            <a:off x="7037323" y="3998656"/>
            <a:ext cx="680469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Tender</a:t>
            </a:r>
          </a:p>
        </p:txBody>
      </p:sp>
      <p:sp>
        <p:nvSpPr>
          <p:cNvPr id="72" name="Rectangle: Top Corners Rounded 71">
            <a:extLst>
              <a:ext uri="{FF2B5EF4-FFF2-40B4-BE49-F238E27FC236}">
                <a16:creationId xmlns:a16="http://schemas.microsoft.com/office/drawing/2014/main" id="{68C89E93-BBD2-BE8F-58DC-83F1085F0F1D}"/>
              </a:ext>
            </a:extLst>
          </p:cNvPr>
          <p:cNvSpPr/>
          <p:nvPr/>
        </p:nvSpPr>
        <p:spPr>
          <a:xfrm>
            <a:off x="7827996" y="4418245"/>
            <a:ext cx="687597" cy="277551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Accept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48F2E0-AE63-D8DA-7DE1-AC66AD7C5E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3745" y="3777442"/>
            <a:ext cx="159435" cy="1522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436265-126C-DB6B-C91A-2D46D7A36F2F}"/>
              </a:ext>
            </a:extLst>
          </p:cNvPr>
          <p:cNvSpPr txBox="1"/>
          <p:nvPr/>
        </p:nvSpPr>
        <p:spPr>
          <a:xfrm>
            <a:off x="1572078" y="3690568"/>
            <a:ext cx="1803400" cy="2616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/>
              <a:t>Instructions Display 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20B356-2C81-4517-CE66-EEBD6B8D4CE3}"/>
              </a:ext>
            </a:extLst>
          </p:cNvPr>
          <p:cNvSpPr txBox="1"/>
          <p:nvPr/>
        </p:nvSpPr>
        <p:spPr>
          <a:xfrm>
            <a:off x="10423172" y="1671812"/>
            <a:ext cx="1467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Actions - Shipment</a:t>
            </a: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C002A4DA-1C26-09DF-8000-7FE08C87F911}"/>
              </a:ext>
            </a:extLst>
          </p:cNvPr>
          <p:cNvSpPr/>
          <p:nvPr/>
        </p:nvSpPr>
        <p:spPr>
          <a:xfrm>
            <a:off x="1572078" y="4454578"/>
            <a:ext cx="1110112" cy="329568"/>
          </a:xfrm>
          <a:prstGeom prst="round2SameRect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Pro &amp; Equipment Info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3D277C-ACA8-7A76-F261-E2AB980FA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1" y="5542382"/>
            <a:ext cx="461664" cy="369332"/>
          </a:xfrm>
          <a:prstGeom prst="rect">
            <a:avLst/>
          </a:prstGeom>
        </p:spPr>
      </p:pic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5C324DB2-4B91-0698-F2A2-638AEF97884B}"/>
              </a:ext>
            </a:extLst>
          </p:cNvPr>
          <p:cNvSpPr/>
          <p:nvPr/>
        </p:nvSpPr>
        <p:spPr>
          <a:xfrm>
            <a:off x="5043893" y="4478532"/>
            <a:ext cx="1044003" cy="329569"/>
          </a:xfrm>
          <a:prstGeom prst="round2Same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Others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2B3E9C-AF82-EEB0-3E67-9C4D291CBC6B}"/>
              </a:ext>
            </a:extLst>
          </p:cNvPr>
          <p:cNvSpPr/>
          <p:nvPr/>
        </p:nvSpPr>
        <p:spPr>
          <a:xfrm>
            <a:off x="9745746" y="4785620"/>
            <a:ext cx="1583266" cy="1543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TENDERS</a:t>
            </a: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F52D91C1-16D2-233F-7FB4-695A0A3A3639}"/>
              </a:ext>
            </a:extLst>
          </p:cNvPr>
          <p:cNvSpPr/>
          <p:nvPr/>
        </p:nvSpPr>
        <p:spPr>
          <a:xfrm>
            <a:off x="3908970" y="4474903"/>
            <a:ext cx="1044003" cy="329569"/>
          </a:xfrm>
          <a:prstGeom prst="round2Same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Additional Info</a:t>
            </a:r>
          </a:p>
        </p:txBody>
      </p:sp>
    </p:spTree>
    <p:extLst>
      <p:ext uri="{BB962C8B-B14F-4D97-AF65-F5344CB8AC3E}">
        <p14:creationId xmlns:p14="http://schemas.microsoft.com/office/powerpoint/2010/main" val="3191307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8B068-2708-3C21-F68B-80E49071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2737E58-F9DC-972E-65F8-A413FD954DAF}"/>
              </a:ext>
            </a:extLst>
          </p:cNvPr>
          <p:cNvGrpSpPr/>
          <p:nvPr/>
        </p:nvGrpSpPr>
        <p:grpSpPr>
          <a:xfrm>
            <a:off x="9703946" y="4014439"/>
            <a:ext cx="2277067" cy="738682"/>
            <a:chOff x="6886451" y="3968719"/>
            <a:chExt cx="2277067" cy="738682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48AACBA-02A1-0F66-12DD-F01D7CB7F72E}"/>
                </a:ext>
              </a:extLst>
            </p:cNvPr>
            <p:cNvSpPr/>
            <p:nvPr/>
          </p:nvSpPr>
          <p:spPr>
            <a:xfrm>
              <a:off x="6938827" y="4249136"/>
              <a:ext cx="2224691" cy="4582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5C3DD7B-CCDB-C1AC-EFE8-9F56ABEDDBE9}"/>
                </a:ext>
              </a:extLst>
            </p:cNvPr>
            <p:cNvSpPr txBox="1"/>
            <p:nvPr/>
          </p:nvSpPr>
          <p:spPr>
            <a:xfrm>
              <a:off x="6886451" y="3968719"/>
              <a:ext cx="19019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Actions – Shipment Option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269FB8-9D2C-96FA-AC40-1AA39F2EBA3A}"/>
              </a:ext>
            </a:extLst>
          </p:cNvPr>
          <p:cNvGrpSpPr/>
          <p:nvPr/>
        </p:nvGrpSpPr>
        <p:grpSpPr>
          <a:xfrm>
            <a:off x="6973144" y="3613696"/>
            <a:ext cx="2647501" cy="1157714"/>
            <a:chOff x="3899617" y="3549688"/>
            <a:chExt cx="2647501" cy="1157714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8237D16-69B3-B346-3F9D-57E8A18E4A56}"/>
                </a:ext>
              </a:extLst>
            </p:cNvPr>
            <p:cNvSpPr/>
            <p:nvPr/>
          </p:nvSpPr>
          <p:spPr>
            <a:xfrm>
              <a:off x="3899617" y="3888170"/>
              <a:ext cx="2647501" cy="8192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A7AACC4-5E20-54E9-ECD1-7C071BFD9C47}"/>
                </a:ext>
              </a:extLst>
            </p:cNvPr>
            <p:cNvSpPr txBox="1"/>
            <p:nvPr/>
          </p:nvSpPr>
          <p:spPr>
            <a:xfrm>
              <a:off x="3899617" y="3549688"/>
              <a:ext cx="18492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Tender Actions 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E56BE90D-2331-3BA4-11C0-91A4C0035863}"/>
              </a:ext>
            </a:extLst>
          </p:cNvPr>
          <p:cNvSpPr/>
          <p:nvPr/>
        </p:nvSpPr>
        <p:spPr>
          <a:xfrm>
            <a:off x="10537379" y="1939420"/>
            <a:ext cx="1353129" cy="1019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DCDCBA-A913-819F-F1EC-D4E4C968A671}"/>
              </a:ext>
            </a:extLst>
          </p:cNvPr>
          <p:cNvSpPr txBox="1"/>
          <p:nvPr/>
        </p:nvSpPr>
        <p:spPr>
          <a:xfrm>
            <a:off x="-38807" y="-46213"/>
            <a:ext cx="1660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Tender Page  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818FE1-4161-2C28-3F31-7B0004EB3E1B}"/>
              </a:ext>
            </a:extLst>
          </p:cNvPr>
          <p:cNvSpPr/>
          <p:nvPr/>
        </p:nvSpPr>
        <p:spPr>
          <a:xfrm>
            <a:off x="1856614" y="399787"/>
            <a:ext cx="2052356" cy="11449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900" dirty="0"/>
          </a:p>
          <a:p>
            <a:pPr>
              <a:lnSpc>
                <a:spcPct val="150000"/>
              </a:lnSpc>
            </a:pPr>
            <a:r>
              <a:rPr lang="en-US" sz="900" dirty="0"/>
              <a:t>Date Issues                                   5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Routing Review                           7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Tender Issues                              7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Tender Review                            5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Bid Review                                    2</a:t>
            </a:r>
          </a:p>
          <a:p>
            <a:pPr>
              <a:lnSpc>
                <a:spcPct val="150000"/>
              </a:lnSpc>
            </a:pPr>
            <a:endParaRPr lang="en-US" sz="900" dirty="0"/>
          </a:p>
          <a:p>
            <a:pPr>
              <a:lnSpc>
                <a:spcPct val="150000"/>
              </a:lnSpc>
            </a:pPr>
            <a:endParaRPr lang="en-US" sz="9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C29838-F63B-8B86-4F3E-BDC0B1450819}"/>
              </a:ext>
            </a:extLst>
          </p:cNvPr>
          <p:cNvSpPr/>
          <p:nvPr/>
        </p:nvSpPr>
        <p:spPr>
          <a:xfrm>
            <a:off x="1872503" y="56249"/>
            <a:ext cx="2027114" cy="27554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Planning Exceptions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5D9EB8-031F-8D63-36AC-D780D486F149}"/>
              </a:ext>
            </a:extLst>
          </p:cNvPr>
          <p:cNvSpPr/>
          <p:nvPr/>
        </p:nvSpPr>
        <p:spPr>
          <a:xfrm>
            <a:off x="4444598" y="52394"/>
            <a:ext cx="2247900" cy="228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Planning Monitoring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A2F5E1-786F-CFE5-5534-0EF9CF6DAB28}"/>
              </a:ext>
            </a:extLst>
          </p:cNvPr>
          <p:cNvSpPr/>
          <p:nvPr/>
        </p:nvSpPr>
        <p:spPr>
          <a:xfrm>
            <a:off x="6921098" y="331793"/>
            <a:ext cx="2247900" cy="9781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900" dirty="0"/>
              <a:t>PGI Errors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Manual PGI/PGR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Missed PGI/PGR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Rating Failure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B117B5-E23E-C3A1-3E2A-08365A712D3C}"/>
              </a:ext>
            </a:extLst>
          </p:cNvPr>
          <p:cNvSpPr/>
          <p:nvPr/>
        </p:nvSpPr>
        <p:spPr>
          <a:xfrm>
            <a:off x="6921098" y="52394"/>
            <a:ext cx="2247900" cy="2286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PGI/PGR </a:t>
            </a:r>
            <a:r>
              <a:rPr lang="en-US" sz="1100" dirty="0" err="1"/>
              <a:t>Excptions</a:t>
            </a:r>
            <a:endParaRPr lang="en-US" sz="11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31092B-4254-3308-2868-1CD078DBB563}"/>
              </a:ext>
            </a:extLst>
          </p:cNvPr>
          <p:cNvCxnSpPr/>
          <p:nvPr/>
        </p:nvCxnSpPr>
        <p:spPr>
          <a:xfrm>
            <a:off x="212580" y="1662255"/>
            <a:ext cx="1152144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644BF59-16A1-5108-26A8-40A4CBC9FDE0}"/>
              </a:ext>
            </a:extLst>
          </p:cNvPr>
          <p:cNvSpPr txBox="1"/>
          <p:nvPr/>
        </p:nvSpPr>
        <p:spPr>
          <a:xfrm>
            <a:off x="5272671" y="1743623"/>
            <a:ext cx="2893819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Initial Pickup </a:t>
            </a:r>
          </a:p>
          <a:p>
            <a:endParaRPr lang="en-US" sz="1050" dirty="0"/>
          </a:p>
          <a:p>
            <a:r>
              <a:rPr lang="en-US" sz="1050" b="1" dirty="0"/>
              <a:t>Pickup location name  &amp; Address                         </a:t>
            </a:r>
          </a:p>
          <a:p>
            <a:r>
              <a:rPr lang="en-US" sz="1050" i="1" dirty="0"/>
              <a:t>G2O TECHNOLOGIES LLC</a:t>
            </a:r>
          </a:p>
          <a:p>
            <a:r>
              <a:rPr lang="en-US" sz="1050" i="1" dirty="0"/>
              <a:t>1502 NORTH WASHINGTON</a:t>
            </a:r>
          </a:p>
          <a:p>
            <a:r>
              <a:rPr lang="en-US" sz="1050" i="1" dirty="0"/>
              <a:t>COLUMBUS</a:t>
            </a:r>
          </a:p>
          <a:p>
            <a:r>
              <a:rPr lang="en-US" sz="1050" i="1" dirty="0"/>
              <a:t>31907 GA</a:t>
            </a:r>
          </a:p>
          <a:p>
            <a:r>
              <a:rPr lang="en-US" sz="1050" i="1" dirty="0"/>
              <a:t>US</a:t>
            </a:r>
          </a:p>
          <a:p>
            <a:endParaRPr lang="en-US" sz="1050" dirty="0"/>
          </a:p>
          <a:p>
            <a:r>
              <a:rPr lang="en-US" sz="1050" b="1" dirty="0"/>
              <a:t>Pickup Date/Time (Preferred carrier)</a:t>
            </a:r>
          </a:p>
          <a:p>
            <a:r>
              <a:rPr lang="en-US" sz="1050" dirty="0"/>
              <a:t>02/14/2026 03:00 CST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187959-2933-8E98-1153-A2D45C234FA6}"/>
              </a:ext>
            </a:extLst>
          </p:cNvPr>
          <p:cNvSpPr txBox="1"/>
          <p:nvPr/>
        </p:nvSpPr>
        <p:spPr>
          <a:xfrm>
            <a:off x="8005505" y="1758871"/>
            <a:ext cx="2604725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Final Delivery</a:t>
            </a:r>
          </a:p>
          <a:p>
            <a:endParaRPr lang="en-US" sz="1050" b="1" dirty="0"/>
          </a:p>
          <a:p>
            <a:r>
              <a:rPr lang="en-US" sz="1050" b="1" dirty="0"/>
              <a:t>Delivery location name &amp; Address  </a:t>
            </a:r>
            <a:r>
              <a:rPr lang="en-US" sz="1050" dirty="0"/>
              <a:t>                           </a:t>
            </a:r>
          </a:p>
          <a:p>
            <a:r>
              <a:rPr lang="en-US" sz="1050" i="1" dirty="0"/>
              <a:t>NALCO ENERGY SERVICES</a:t>
            </a:r>
          </a:p>
          <a:p>
            <a:r>
              <a:rPr lang="en-US" sz="1050" dirty="0"/>
              <a:t>6717 S. 61ST WEST AVE</a:t>
            </a:r>
          </a:p>
          <a:p>
            <a:r>
              <a:rPr lang="en-US" sz="1050" dirty="0"/>
              <a:t>NEENAH</a:t>
            </a:r>
          </a:p>
          <a:p>
            <a:r>
              <a:rPr lang="en-US" sz="1050" dirty="0"/>
              <a:t>54956 WI</a:t>
            </a:r>
          </a:p>
          <a:p>
            <a:r>
              <a:rPr lang="en-US" sz="1050" dirty="0"/>
              <a:t>US</a:t>
            </a:r>
          </a:p>
          <a:p>
            <a:endParaRPr lang="en-US" sz="1050" dirty="0"/>
          </a:p>
          <a:p>
            <a:r>
              <a:rPr lang="en-US" sz="1050" b="1" dirty="0"/>
              <a:t>Delivery Date/Time (Preferred Carrier)</a:t>
            </a:r>
          </a:p>
          <a:p>
            <a:r>
              <a:rPr lang="en-US" sz="1050" dirty="0"/>
              <a:t>02/22/2025 14:00 CST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F0E03D-CB92-8FFF-059F-95012E3B9053}"/>
              </a:ext>
            </a:extLst>
          </p:cNvPr>
          <p:cNvSpPr txBox="1"/>
          <p:nvPr/>
        </p:nvSpPr>
        <p:spPr>
          <a:xfrm>
            <a:off x="212580" y="1837380"/>
            <a:ext cx="253166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Shipment</a:t>
            </a:r>
          </a:p>
          <a:p>
            <a:endParaRPr lang="en-US" sz="1050" dirty="0"/>
          </a:p>
          <a:p>
            <a:r>
              <a:rPr lang="en-US" sz="1050" b="1" dirty="0"/>
              <a:t>Buy Shipment ID:</a:t>
            </a:r>
            <a:r>
              <a:rPr lang="en-US" sz="1050" dirty="0"/>
              <a:t> B288263 </a:t>
            </a:r>
          </a:p>
          <a:p>
            <a:r>
              <a:rPr lang="en-US" sz="1050" b="1" dirty="0"/>
              <a:t>Sell Shipment ID:</a:t>
            </a:r>
            <a:r>
              <a:rPr lang="en-US" sz="1050" dirty="0"/>
              <a:t> S453678</a:t>
            </a:r>
          </a:p>
          <a:p>
            <a:r>
              <a:rPr lang="en-US" sz="1050" b="1" dirty="0"/>
              <a:t>Mode: </a:t>
            </a:r>
            <a:r>
              <a:rPr lang="en-US" sz="1050" dirty="0"/>
              <a:t>TL / LTL / RR / IMD /AIR</a:t>
            </a:r>
          </a:p>
          <a:p>
            <a:r>
              <a:rPr lang="en-US" sz="1050" b="1" dirty="0"/>
              <a:t>Seed Equipment:</a:t>
            </a:r>
            <a:r>
              <a:rPr lang="en-US" sz="1050" dirty="0"/>
              <a:t> LTL</a:t>
            </a:r>
          </a:p>
          <a:p>
            <a:r>
              <a:rPr lang="en-US" sz="1050" b="1" dirty="0">
                <a:solidFill>
                  <a:srgbClr val="0000FF"/>
                </a:solidFill>
              </a:rPr>
              <a:t>Planning Date Type:  </a:t>
            </a:r>
            <a:r>
              <a:rPr lang="en-US" sz="1050" dirty="0">
                <a:solidFill>
                  <a:srgbClr val="0000FF"/>
                </a:solidFill>
              </a:rPr>
              <a:t>RDD</a:t>
            </a:r>
          </a:p>
          <a:p>
            <a:r>
              <a:rPr lang="en-US" sz="1050" b="1" dirty="0"/>
              <a:t>Gross Weight:</a:t>
            </a:r>
            <a:r>
              <a:rPr lang="en-US" sz="1050" dirty="0"/>
              <a:t> 420 LB</a:t>
            </a:r>
          </a:p>
          <a:p>
            <a:r>
              <a:rPr lang="en-US" sz="1050" b="1" dirty="0"/>
              <a:t>Pkg Count:</a:t>
            </a:r>
            <a:r>
              <a:rPr lang="en-US" sz="1050" dirty="0"/>
              <a:t> 12 PLT </a:t>
            </a:r>
          </a:p>
          <a:p>
            <a:r>
              <a:rPr lang="en-US" sz="1050" b="1" dirty="0"/>
              <a:t>Volume: </a:t>
            </a:r>
            <a:r>
              <a:rPr lang="en-US" sz="1050" dirty="0"/>
              <a:t>45 </a:t>
            </a:r>
            <a:r>
              <a:rPr lang="en-US" sz="1050" dirty="0" err="1"/>
              <a:t>cuft</a:t>
            </a:r>
            <a:endParaRPr lang="en-US" sz="1050" dirty="0"/>
          </a:p>
          <a:p>
            <a:r>
              <a:rPr lang="en-US" sz="1050" b="1" dirty="0"/>
              <a:t>Distance:</a:t>
            </a:r>
            <a:r>
              <a:rPr lang="en-US" sz="1050" dirty="0"/>
              <a:t> 1000 MI</a:t>
            </a:r>
          </a:p>
          <a:p>
            <a:endParaRPr lang="en-US" sz="1050" dirty="0"/>
          </a:p>
          <a:p>
            <a:r>
              <a:rPr lang="en-US" sz="1050" dirty="0"/>
              <a:t>Instructions: </a:t>
            </a:r>
          </a:p>
          <a:p>
            <a:r>
              <a:rPr lang="en-US" sz="1050" dirty="0"/>
              <a:t>Hazardous: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27AD51-B169-2CDD-31B7-5DF75FB3999F}"/>
              </a:ext>
            </a:extLst>
          </p:cNvPr>
          <p:cNvSpPr txBox="1"/>
          <p:nvPr/>
        </p:nvSpPr>
        <p:spPr>
          <a:xfrm>
            <a:off x="2080291" y="1796834"/>
            <a:ext cx="3668532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Order</a:t>
            </a:r>
          </a:p>
          <a:p>
            <a:endParaRPr lang="en-US" sz="1050" dirty="0"/>
          </a:p>
          <a:p>
            <a:r>
              <a:rPr lang="en-US" sz="1050" b="1" dirty="0">
                <a:solidFill>
                  <a:srgbClr val="0000FF"/>
                </a:solidFill>
              </a:rPr>
              <a:t>Planning Date Type:  </a:t>
            </a:r>
            <a:r>
              <a:rPr lang="en-US" sz="1050" dirty="0">
                <a:solidFill>
                  <a:srgbClr val="0000FF"/>
                </a:solidFill>
              </a:rPr>
              <a:t>RDD</a:t>
            </a:r>
          </a:p>
          <a:p>
            <a:r>
              <a:rPr lang="en-US" sz="1050" b="1" dirty="0"/>
              <a:t>Order Pickup Date/Time: </a:t>
            </a:r>
            <a:r>
              <a:rPr lang="en-US" sz="1050" dirty="0"/>
              <a:t>02/14/2026 03:00 CST</a:t>
            </a:r>
          </a:p>
          <a:p>
            <a:r>
              <a:rPr lang="en-US" sz="1050" b="1" dirty="0"/>
              <a:t>Order Delivery Date/Time: </a:t>
            </a:r>
            <a:r>
              <a:rPr lang="en-US" sz="1050" dirty="0"/>
              <a:t>02/22/2025 14:00 CST</a:t>
            </a:r>
          </a:p>
          <a:p>
            <a:r>
              <a:rPr lang="en-US" sz="1050" b="1" dirty="0"/>
              <a:t>Order #:</a:t>
            </a:r>
            <a:r>
              <a:rPr lang="en-US" sz="1050" dirty="0"/>
              <a:t>O345, O098</a:t>
            </a:r>
          </a:p>
          <a:p>
            <a:r>
              <a:rPr lang="en-US" sz="1050" b="1" dirty="0"/>
              <a:t>Direct Cost: </a:t>
            </a:r>
            <a:r>
              <a:rPr lang="en-US" sz="1050" dirty="0"/>
              <a:t>410 USD, 240 USD</a:t>
            </a:r>
          </a:p>
          <a:p>
            <a:endParaRPr lang="en-US" sz="1050" dirty="0"/>
          </a:p>
          <a:p>
            <a:r>
              <a:rPr lang="en-US" sz="1050" dirty="0"/>
              <a:t>Pickup #: 234696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10F3912-3767-FD72-ED37-5A6FE775B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607" y="3690245"/>
            <a:ext cx="461664" cy="36933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BBC9411-CF79-0D64-E679-ECFB696C61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26" y="3928940"/>
            <a:ext cx="461664" cy="369332"/>
          </a:xfrm>
          <a:prstGeom prst="rect">
            <a:avLst/>
          </a:prstGeom>
        </p:spPr>
      </p:pic>
      <p:sp>
        <p:nvSpPr>
          <p:cNvPr id="31" name="Rectangle: Top Corners Rounded 30">
            <a:extLst>
              <a:ext uri="{FF2B5EF4-FFF2-40B4-BE49-F238E27FC236}">
                <a16:creationId xmlns:a16="http://schemas.microsoft.com/office/drawing/2014/main" id="{571E50E7-6AFB-10F9-8A17-E1A2BE323310}"/>
              </a:ext>
            </a:extLst>
          </p:cNvPr>
          <p:cNvSpPr/>
          <p:nvPr/>
        </p:nvSpPr>
        <p:spPr>
          <a:xfrm>
            <a:off x="9823958" y="4345714"/>
            <a:ext cx="879772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Add Quote</a:t>
            </a:r>
          </a:p>
        </p:txBody>
      </p:sp>
      <p:sp>
        <p:nvSpPr>
          <p:cNvPr id="33" name="Rectangle: Top Corners Rounded 32">
            <a:extLst>
              <a:ext uri="{FF2B5EF4-FFF2-40B4-BE49-F238E27FC236}">
                <a16:creationId xmlns:a16="http://schemas.microsoft.com/office/drawing/2014/main" id="{E6AC788D-9244-0C69-F9EA-AC1D2CDA7130}"/>
              </a:ext>
            </a:extLst>
          </p:cNvPr>
          <p:cNvSpPr/>
          <p:nvPr/>
        </p:nvSpPr>
        <p:spPr>
          <a:xfrm>
            <a:off x="2780942" y="4474903"/>
            <a:ext cx="1044003" cy="329569"/>
          </a:xfrm>
          <a:prstGeom prst="round2SameRect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View Volume Commitment</a:t>
            </a:r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4AC21DC7-EE2D-BBA6-819D-2787363DB4ED}"/>
              </a:ext>
            </a:extLst>
          </p:cNvPr>
          <p:cNvSpPr/>
          <p:nvPr/>
        </p:nvSpPr>
        <p:spPr>
          <a:xfrm>
            <a:off x="10823000" y="4323062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Show Rate Details (QCA)</a:t>
            </a:r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168AD81E-5EAB-8DE3-A7F3-D7E271854CCE}"/>
              </a:ext>
            </a:extLst>
          </p:cNvPr>
          <p:cNvSpPr/>
          <p:nvPr/>
        </p:nvSpPr>
        <p:spPr>
          <a:xfrm>
            <a:off x="10686216" y="2084026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Routing Query (QCP)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56BE3DDF-6314-1CB9-6FF1-BC82E3CC9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31408"/>
              </p:ext>
            </p:extLst>
          </p:nvPr>
        </p:nvGraphicFramePr>
        <p:xfrm>
          <a:off x="329314" y="4855823"/>
          <a:ext cx="11561194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627">
                  <a:extLst>
                    <a:ext uri="{9D8B030D-6E8A-4147-A177-3AD203B41FA5}">
                      <a16:colId xmlns:a16="http://schemas.microsoft.com/office/drawing/2014/main" val="2299961496"/>
                    </a:ext>
                  </a:extLst>
                </a:gridCol>
                <a:gridCol w="380126">
                  <a:extLst>
                    <a:ext uri="{9D8B030D-6E8A-4147-A177-3AD203B41FA5}">
                      <a16:colId xmlns:a16="http://schemas.microsoft.com/office/drawing/2014/main" val="63472440"/>
                    </a:ext>
                  </a:extLst>
                </a:gridCol>
                <a:gridCol w="554986">
                  <a:extLst>
                    <a:ext uri="{9D8B030D-6E8A-4147-A177-3AD203B41FA5}">
                      <a16:colId xmlns:a16="http://schemas.microsoft.com/office/drawing/2014/main" val="2417404039"/>
                    </a:ext>
                  </a:extLst>
                </a:gridCol>
                <a:gridCol w="616651">
                  <a:extLst>
                    <a:ext uri="{9D8B030D-6E8A-4147-A177-3AD203B41FA5}">
                      <a16:colId xmlns:a16="http://schemas.microsoft.com/office/drawing/2014/main" val="137753275"/>
                    </a:ext>
                  </a:extLst>
                </a:gridCol>
                <a:gridCol w="524153">
                  <a:extLst>
                    <a:ext uri="{9D8B030D-6E8A-4147-A177-3AD203B41FA5}">
                      <a16:colId xmlns:a16="http://schemas.microsoft.com/office/drawing/2014/main" val="1150411051"/>
                    </a:ext>
                  </a:extLst>
                </a:gridCol>
                <a:gridCol w="624360">
                  <a:extLst>
                    <a:ext uri="{9D8B030D-6E8A-4147-A177-3AD203B41FA5}">
                      <a16:colId xmlns:a16="http://schemas.microsoft.com/office/drawing/2014/main" val="3252033987"/>
                    </a:ext>
                  </a:extLst>
                </a:gridCol>
                <a:gridCol w="377700">
                  <a:extLst>
                    <a:ext uri="{9D8B030D-6E8A-4147-A177-3AD203B41FA5}">
                      <a16:colId xmlns:a16="http://schemas.microsoft.com/office/drawing/2014/main" val="1006403190"/>
                    </a:ext>
                  </a:extLst>
                </a:gridCol>
                <a:gridCol w="739982">
                  <a:extLst>
                    <a:ext uri="{9D8B030D-6E8A-4147-A177-3AD203B41FA5}">
                      <a16:colId xmlns:a16="http://schemas.microsoft.com/office/drawing/2014/main" val="1350056266"/>
                    </a:ext>
                  </a:extLst>
                </a:gridCol>
                <a:gridCol w="662902">
                  <a:extLst>
                    <a:ext uri="{9D8B030D-6E8A-4147-A177-3AD203B41FA5}">
                      <a16:colId xmlns:a16="http://schemas.microsoft.com/office/drawing/2014/main" val="1042750234"/>
                    </a:ext>
                  </a:extLst>
                </a:gridCol>
                <a:gridCol w="585819">
                  <a:extLst>
                    <a:ext uri="{9D8B030D-6E8A-4147-A177-3AD203B41FA5}">
                      <a16:colId xmlns:a16="http://schemas.microsoft.com/office/drawing/2014/main" val="693219657"/>
                    </a:ext>
                  </a:extLst>
                </a:gridCol>
                <a:gridCol w="601235">
                  <a:extLst>
                    <a:ext uri="{9D8B030D-6E8A-4147-A177-3AD203B41FA5}">
                      <a16:colId xmlns:a16="http://schemas.microsoft.com/office/drawing/2014/main" val="3207406835"/>
                    </a:ext>
                  </a:extLst>
                </a:gridCol>
                <a:gridCol w="601235">
                  <a:extLst>
                    <a:ext uri="{9D8B030D-6E8A-4147-A177-3AD203B41FA5}">
                      <a16:colId xmlns:a16="http://schemas.microsoft.com/office/drawing/2014/main" val="2415581832"/>
                    </a:ext>
                  </a:extLst>
                </a:gridCol>
                <a:gridCol w="504464">
                  <a:extLst>
                    <a:ext uri="{9D8B030D-6E8A-4147-A177-3AD203B41FA5}">
                      <a16:colId xmlns:a16="http://schemas.microsoft.com/office/drawing/2014/main" val="2089277385"/>
                    </a:ext>
                  </a:extLst>
                </a:gridCol>
                <a:gridCol w="687177">
                  <a:extLst>
                    <a:ext uri="{9D8B030D-6E8A-4147-A177-3AD203B41FA5}">
                      <a16:colId xmlns:a16="http://schemas.microsoft.com/office/drawing/2014/main" val="1121213308"/>
                    </a:ext>
                  </a:extLst>
                </a:gridCol>
                <a:gridCol w="687177">
                  <a:extLst>
                    <a:ext uri="{9D8B030D-6E8A-4147-A177-3AD203B41FA5}">
                      <a16:colId xmlns:a16="http://schemas.microsoft.com/office/drawing/2014/main" val="905710129"/>
                    </a:ext>
                  </a:extLst>
                </a:gridCol>
                <a:gridCol w="607920">
                  <a:extLst>
                    <a:ext uri="{9D8B030D-6E8A-4147-A177-3AD203B41FA5}">
                      <a16:colId xmlns:a16="http://schemas.microsoft.com/office/drawing/2014/main" val="1679010256"/>
                    </a:ext>
                  </a:extLst>
                </a:gridCol>
                <a:gridCol w="607920">
                  <a:extLst>
                    <a:ext uri="{9D8B030D-6E8A-4147-A177-3AD203B41FA5}">
                      <a16:colId xmlns:a16="http://schemas.microsoft.com/office/drawing/2014/main" val="3989763239"/>
                    </a:ext>
                  </a:extLst>
                </a:gridCol>
                <a:gridCol w="607920">
                  <a:extLst>
                    <a:ext uri="{9D8B030D-6E8A-4147-A177-3AD203B41FA5}">
                      <a16:colId xmlns:a16="http://schemas.microsoft.com/office/drawing/2014/main" val="3197812900"/>
                    </a:ext>
                  </a:extLst>
                </a:gridCol>
                <a:gridCol w="607920">
                  <a:extLst>
                    <a:ext uri="{9D8B030D-6E8A-4147-A177-3AD203B41FA5}">
                      <a16:colId xmlns:a16="http://schemas.microsoft.com/office/drawing/2014/main" val="1979064840"/>
                    </a:ext>
                  </a:extLst>
                </a:gridCol>
                <a:gridCol w="607920">
                  <a:extLst>
                    <a:ext uri="{9D8B030D-6E8A-4147-A177-3AD203B41FA5}">
                      <a16:colId xmlns:a16="http://schemas.microsoft.com/office/drawing/2014/main" val="972649326"/>
                    </a:ext>
                  </a:extLst>
                </a:gridCol>
              </a:tblGrid>
              <a:tr h="255019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Route Rank?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SCAC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Carrier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AP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Tender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Pickup Date/Time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Delivery Date/Time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Carrier Pickup 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Carrier API Tender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Break 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Rate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Distance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Transit Time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Transit Time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Loadboard</a:t>
                      </a:r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Expiry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RCP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LCE PK_ID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893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9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AACT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AAA COOPER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LTL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311.98 USD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2/23/2026 14:00 WED (08:00-16:00 CST)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2/27/2026 15:00 Thu (00:00-23:59 * 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5439800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867546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PCMPCL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PCMILER PRACTICAL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10901692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50254731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794972"/>
                  </a:ext>
                </a:extLst>
              </a:tr>
            </a:tbl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F784AD59-B7CF-0CCE-5C39-D98EEB0D2EDB}"/>
              </a:ext>
            </a:extLst>
          </p:cNvPr>
          <p:cNvSpPr/>
          <p:nvPr/>
        </p:nvSpPr>
        <p:spPr>
          <a:xfrm>
            <a:off x="4444598" y="367516"/>
            <a:ext cx="2247900" cy="1029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050" b="1" dirty="0"/>
          </a:p>
          <a:p>
            <a:pPr>
              <a:lnSpc>
                <a:spcPct val="150000"/>
              </a:lnSpc>
            </a:pPr>
            <a:r>
              <a:rPr lang="en-US" sz="1050" b="1" dirty="0"/>
              <a:t>Hold                                                            4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Consolidation                                       3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Sent                                                            5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Spot Bid                                                    3</a:t>
            </a:r>
          </a:p>
          <a:p>
            <a:pPr>
              <a:lnSpc>
                <a:spcPct val="150000"/>
              </a:lnSpc>
            </a:pPr>
            <a:endParaRPr lang="en-US" sz="1050" b="1" dirty="0"/>
          </a:p>
          <a:p>
            <a:pPr>
              <a:lnSpc>
                <a:spcPct val="150000"/>
              </a:lnSpc>
            </a:pPr>
            <a:endParaRPr lang="en-US" sz="1050" b="1" dirty="0"/>
          </a:p>
        </p:txBody>
      </p:sp>
      <p:sp>
        <p:nvSpPr>
          <p:cNvPr id="45" name="Rectangle: Top Corners Rounded 44">
            <a:extLst>
              <a:ext uri="{FF2B5EF4-FFF2-40B4-BE49-F238E27FC236}">
                <a16:creationId xmlns:a16="http://schemas.microsoft.com/office/drawing/2014/main" id="{2D3BB153-0065-582A-A75A-360CAFE8C73E}"/>
              </a:ext>
            </a:extLst>
          </p:cNvPr>
          <p:cNvSpPr/>
          <p:nvPr/>
        </p:nvSpPr>
        <p:spPr>
          <a:xfrm>
            <a:off x="10666205" y="2512632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View Stops</a:t>
            </a:r>
          </a:p>
        </p:txBody>
      </p:sp>
      <p:sp>
        <p:nvSpPr>
          <p:cNvPr id="58" name="Rectangle: Top Corners Rounded 57">
            <a:extLst>
              <a:ext uri="{FF2B5EF4-FFF2-40B4-BE49-F238E27FC236}">
                <a16:creationId xmlns:a16="http://schemas.microsoft.com/office/drawing/2014/main" id="{77DF3725-A61E-F83E-7399-B0542058143B}"/>
              </a:ext>
            </a:extLst>
          </p:cNvPr>
          <p:cNvSpPr/>
          <p:nvPr/>
        </p:nvSpPr>
        <p:spPr>
          <a:xfrm>
            <a:off x="363215" y="4474904"/>
            <a:ext cx="1110112" cy="329568"/>
          </a:xfrm>
          <a:prstGeom prst="round2SameRect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50" dirty="0"/>
              <a:t>Routing Options</a:t>
            </a:r>
          </a:p>
        </p:txBody>
      </p:sp>
      <p:sp>
        <p:nvSpPr>
          <p:cNvPr id="61" name="Rectangle: Top Corners Rounded 60">
            <a:extLst>
              <a:ext uri="{FF2B5EF4-FFF2-40B4-BE49-F238E27FC236}">
                <a16:creationId xmlns:a16="http://schemas.microsoft.com/office/drawing/2014/main" id="{A495FE72-0AC6-3A7D-42BF-4579B200807C}"/>
              </a:ext>
            </a:extLst>
          </p:cNvPr>
          <p:cNvSpPr/>
          <p:nvPr/>
        </p:nvSpPr>
        <p:spPr>
          <a:xfrm>
            <a:off x="7827996" y="4007167"/>
            <a:ext cx="838752" cy="317885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Re-Tender</a:t>
            </a:r>
          </a:p>
        </p:txBody>
      </p:sp>
      <p:sp>
        <p:nvSpPr>
          <p:cNvPr id="63" name="Rectangle: Top Corners Rounded 62">
            <a:extLst>
              <a:ext uri="{FF2B5EF4-FFF2-40B4-BE49-F238E27FC236}">
                <a16:creationId xmlns:a16="http://schemas.microsoft.com/office/drawing/2014/main" id="{04C7C637-425D-CCF2-92EF-0A9B7EE97BB9}"/>
              </a:ext>
            </a:extLst>
          </p:cNvPr>
          <p:cNvSpPr/>
          <p:nvPr/>
        </p:nvSpPr>
        <p:spPr>
          <a:xfrm>
            <a:off x="7037323" y="4383999"/>
            <a:ext cx="687597" cy="299413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Decline</a:t>
            </a:r>
          </a:p>
        </p:txBody>
      </p:sp>
      <p:sp>
        <p:nvSpPr>
          <p:cNvPr id="65" name="Rectangle: Top Corners Rounded 64">
            <a:extLst>
              <a:ext uri="{FF2B5EF4-FFF2-40B4-BE49-F238E27FC236}">
                <a16:creationId xmlns:a16="http://schemas.microsoft.com/office/drawing/2014/main" id="{ED9D1966-0E7C-C4DA-1BB5-DEE330AD18CA}"/>
              </a:ext>
            </a:extLst>
          </p:cNvPr>
          <p:cNvSpPr/>
          <p:nvPr/>
        </p:nvSpPr>
        <p:spPr>
          <a:xfrm>
            <a:off x="8776952" y="4013967"/>
            <a:ext cx="687597" cy="299413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Cancel</a:t>
            </a:r>
          </a:p>
        </p:txBody>
      </p:sp>
      <p:sp>
        <p:nvSpPr>
          <p:cNvPr id="68" name="Rectangle: Top Corners Rounded 67">
            <a:extLst>
              <a:ext uri="{FF2B5EF4-FFF2-40B4-BE49-F238E27FC236}">
                <a16:creationId xmlns:a16="http://schemas.microsoft.com/office/drawing/2014/main" id="{D4828203-91AF-0717-1D21-1641EB7F5602}"/>
              </a:ext>
            </a:extLst>
          </p:cNvPr>
          <p:cNvSpPr/>
          <p:nvPr/>
        </p:nvSpPr>
        <p:spPr>
          <a:xfrm>
            <a:off x="7037323" y="3998656"/>
            <a:ext cx="680469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Tender</a:t>
            </a:r>
          </a:p>
        </p:txBody>
      </p:sp>
      <p:sp>
        <p:nvSpPr>
          <p:cNvPr id="72" name="Rectangle: Top Corners Rounded 71">
            <a:extLst>
              <a:ext uri="{FF2B5EF4-FFF2-40B4-BE49-F238E27FC236}">
                <a16:creationId xmlns:a16="http://schemas.microsoft.com/office/drawing/2014/main" id="{4A3455D9-813E-A3A9-D9A4-CC40444D06AD}"/>
              </a:ext>
            </a:extLst>
          </p:cNvPr>
          <p:cNvSpPr/>
          <p:nvPr/>
        </p:nvSpPr>
        <p:spPr>
          <a:xfrm>
            <a:off x="7827996" y="4418245"/>
            <a:ext cx="687597" cy="277551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Accept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F746FD-6904-A7B8-BCA6-EDA1769BE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745" y="3777442"/>
            <a:ext cx="159435" cy="1522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FDFCFE-AD0A-EA9F-CA18-583B74412891}"/>
              </a:ext>
            </a:extLst>
          </p:cNvPr>
          <p:cNvSpPr txBox="1"/>
          <p:nvPr/>
        </p:nvSpPr>
        <p:spPr>
          <a:xfrm>
            <a:off x="1572078" y="3690568"/>
            <a:ext cx="1803400" cy="2616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/>
              <a:t>Instructions Display 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121F12-7BA0-E1C6-9A17-145E8108A935}"/>
              </a:ext>
            </a:extLst>
          </p:cNvPr>
          <p:cNvSpPr txBox="1"/>
          <p:nvPr/>
        </p:nvSpPr>
        <p:spPr>
          <a:xfrm>
            <a:off x="10423172" y="1671812"/>
            <a:ext cx="1467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Actions - Shipment</a:t>
            </a: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DF687D24-55C0-FB5D-8770-1333B371FEDD}"/>
              </a:ext>
            </a:extLst>
          </p:cNvPr>
          <p:cNvSpPr/>
          <p:nvPr/>
        </p:nvSpPr>
        <p:spPr>
          <a:xfrm>
            <a:off x="1572078" y="4454578"/>
            <a:ext cx="1110112" cy="329568"/>
          </a:xfrm>
          <a:prstGeom prst="round2SameRect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Pro &amp; Equipment Info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996E780-74CC-7B7A-C57C-CF2C37909E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1" y="5542382"/>
            <a:ext cx="461664" cy="369332"/>
          </a:xfrm>
          <a:prstGeom prst="rect">
            <a:avLst/>
          </a:prstGeom>
        </p:spPr>
      </p:pic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AE9A32B4-0491-0AD9-1F8E-F6E66A32ED46}"/>
              </a:ext>
            </a:extLst>
          </p:cNvPr>
          <p:cNvSpPr/>
          <p:nvPr/>
        </p:nvSpPr>
        <p:spPr>
          <a:xfrm>
            <a:off x="3941585" y="4459008"/>
            <a:ext cx="1044003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Additional Info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5ECE2399-F930-C349-CC23-136F7BE6A415}"/>
              </a:ext>
            </a:extLst>
          </p:cNvPr>
          <p:cNvSpPr/>
          <p:nvPr/>
        </p:nvSpPr>
        <p:spPr>
          <a:xfrm>
            <a:off x="5084340" y="4444768"/>
            <a:ext cx="1044003" cy="329569"/>
          </a:xfrm>
          <a:prstGeom prst="round2SameRect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Others</a:t>
            </a:r>
          </a:p>
        </p:txBody>
      </p:sp>
    </p:spTree>
    <p:extLst>
      <p:ext uri="{BB962C8B-B14F-4D97-AF65-F5344CB8AC3E}">
        <p14:creationId xmlns:p14="http://schemas.microsoft.com/office/powerpoint/2010/main" val="4132286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6C80E-A982-120F-56BE-A25D2CED5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897642E-E360-86B9-A9C1-D44408701FD5}"/>
              </a:ext>
            </a:extLst>
          </p:cNvPr>
          <p:cNvGrpSpPr/>
          <p:nvPr/>
        </p:nvGrpSpPr>
        <p:grpSpPr>
          <a:xfrm>
            <a:off x="9703946" y="4014439"/>
            <a:ext cx="2277067" cy="738682"/>
            <a:chOff x="6886451" y="3968719"/>
            <a:chExt cx="2277067" cy="738682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C8A44AA-5E6F-8923-C14C-B70C5649DE12}"/>
                </a:ext>
              </a:extLst>
            </p:cNvPr>
            <p:cNvSpPr/>
            <p:nvPr/>
          </p:nvSpPr>
          <p:spPr>
            <a:xfrm>
              <a:off x="6938827" y="4249136"/>
              <a:ext cx="2224691" cy="4582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916ACB-A999-DE45-BDB0-53748448047B}"/>
                </a:ext>
              </a:extLst>
            </p:cNvPr>
            <p:cNvSpPr txBox="1"/>
            <p:nvPr/>
          </p:nvSpPr>
          <p:spPr>
            <a:xfrm>
              <a:off x="6886451" y="3968719"/>
              <a:ext cx="19019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Actions – Shipment Option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25B3B91-B220-CF5F-65B0-CE730E3BFF08}"/>
              </a:ext>
            </a:extLst>
          </p:cNvPr>
          <p:cNvGrpSpPr/>
          <p:nvPr/>
        </p:nvGrpSpPr>
        <p:grpSpPr>
          <a:xfrm>
            <a:off x="6973144" y="3613696"/>
            <a:ext cx="2647501" cy="1157714"/>
            <a:chOff x="3899617" y="3549688"/>
            <a:chExt cx="2647501" cy="1157714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98798DD-9762-8D10-D5D0-6DC1C414410B}"/>
                </a:ext>
              </a:extLst>
            </p:cNvPr>
            <p:cNvSpPr/>
            <p:nvPr/>
          </p:nvSpPr>
          <p:spPr>
            <a:xfrm>
              <a:off x="3899617" y="3888170"/>
              <a:ext cx="2647501" cy="8192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A1161F-45F8-FE4C-8FA3-3689003F9134}"/>
                </a:ext>
              </a:extLst>
            </p:cNvPr>
            <p:cNvSpPr txBox="1"/>
            <p:nvPr/>
          </p:nvSpPr>
          <p:spPr>
            <a:xfrm>
              <a:off x="3899617" y="3549688"/>
              <a:ext cx="18492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Tender Actions 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5A03F43A-C1E1-1E70-1D44-92BBA12A9AFE}"/>
              </a:ext>
            </a:extLst>
          </p:cNvPr>
          <p:cNvSpPr/>
          <p:nvPr/>
        </p:nvSpPr>
        <p:spPr>
          <a:xfrm>
            <a:off x="10537379" y="1939420"/>
            <a:ext cx="1353129" cy="1019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A96068-5D4B-59A7-BDE3-31C1AC859587}"/>
              </a:ext>
            </a:extLst>
          </p:cNvPr>
          <p:cNvSpPr txBox="1"/>
          <p:nvPr/>
        </p:nvSpPr>
        <p:spPr>
          <a:xfrm>
            <a:off x="-38807" y="-46213"/>
            <a:ext cx="1660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Tender Page  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798D6F-AEF0-02DB-2680-DFC7F59186FF}"/>
              </a:ext>
            </a:extLst>
          </p:cNvPr>
          <p:cNvSpPr/>
          <p:nvPr/>
        </p:nvSpPr>
        <p:spPr>
          <a:xfrm>
            <a:off x="1856614" y="399787"/>
            <a:ext cx="2052356" cy="11449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900" dirty="0"/>
          </a:p>
          <a:p>
            <a:pPr>
              <a:lnSpc>
                <a:spcPct val="150000"/>
              </a:lnSpc>
            </a:pPr>
            <a:r>
              <a:rPr lang="en-US" sz="900" dirty="0"/>
              <a:t>Date Issues                                   5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Routing Review                           7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Tender Issues                              7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Tender Review                            5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Bid Review                                    2</a:t>
            </a:r>
          </a:p>
          <a:p>
            <a:pPr>
              <a:lnSpc>
                <a:spcPct val="150000"/>
              </a:lnSpc>
            </a:pPr>
            <a:endParaRPr lang="en-US" sz="900" dirty="0"/>
          </a:p>
          <a:p>
            <a:pPr>
              <a:lnSpc>
                <a:spcPct val="150000"/>
              </a:lnSpc>
            </a:pPr>
            <a:endParaRPr lang="en-US" sz="9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1C7488-E7E7-7430-F7F1-57B7B9AA5BED}"/>
              </a:ext>
            </a:extLst>
          </p:cNvPr>
          <p:cNvSpPr/>
          <p:nvPr/>
        </p:nvSpPr>
        <p:spPr>
          <a:xfrm>
            <a:off x="1872503" y="56249"/>
            <a:ext cx="2027114" cy="27554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Planning Exceptions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EA1CCF-4D2F-B90B-872D-3F47C0DE782C}"/>
              </a:ext>
            </a:extLst>
          </p:cNvPr>
          <p:cNvSpPr/>
          <p:nvPr/>
        </p:nvSpPr>
        <p:spPr>
          <a:xfrm>
            <a:off x="4444598" y="52394"/>
            <a:ext cx="2247900" cy="228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Planning Monitoring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FAAB9F-008C-F382-EE72-7CE9EA9BCE25}"/>
              </a:ext>
            </a:extLst>
          </p:cNvPr>
          <p:cNvSpPr/>
          <p:nvPr/>
        </p:nvSpPr>
        <p:spPr>
          <a:xfrm>
            <a:off x="6921098" y="331793"/>
            <a:ext cx="2247900" cy="9781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900" dirty="0"/>
              <a:t>PGI Errors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Manual PGI/PGR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Missed PGI/PGR</a:t>
            </a:r>
          </a:p>
          <a:p>
            <a:pPr>
              <a:lnSpc>
                <a:spcPct val="150000"/>
              </a:lnSpc>
            </a:pPr>
            <a:r>
              <a:rPr lang="en-US" sz="900" dirty="0"/>
              <a:t>Rating Failure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A9BA3E-27DB-1555-4CB3-FEE741CD45C8}"/>
              </a:ext>
            </a:extLst>
          </p:cNvPr>
          <p:cNvSpPr/>
          <p:nvPr/>
        </p:nvSpPr>
        <p:spPr>
          <a:xfrm>
            <a:off x="6921098" y="52394"/>
            <a:ext cx="2247900" cy="2286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PGI/PGR </a:t>
            </a:r>
            <a:r>
              <a:rPr lang="en-US" sz="1100" dirty="0" err="1"/>
              <a:t>Excptions</a:t>
            </a:r>
            <a:endParaRPr lang="en-US" sz="11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0FDF3E4-6EC5-DE51-20E2-47638C2837F8}"/>
              </a:ext>
            </a:extLst>
          </p:cNvPr>
          <p:cNvCxnSpPr/>
          <p:nvPr/>
        </p:nvCxnSpPr>
        <p:spPr>
          <a:xfrm>
            <a:off x="212580" y="1662255"/>
            <a:ext cx="1152144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E77D22F-2467-511D-4F03-BCE444EE2F76}"/>
              </a:ext>
            </a:extLst>
          </p:cNvPr>
          <p:cNvSpPr txBox="1"/>
          <p:nvPr/>
        </p:nvSpPr>
        <p:spPr>
          <a:xfrm>
            <a:off x="5272671" y="1743623"/>
            <a:ext cx="2893819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Initial Pickup </a:t>
            </a:r>
          </a:p>
          <a:p>
            <a:endParaRPr lang="en-US" sz="1050" dirty="0"/>
          </a:p>
          <a:p>
            <a:r>
              <a:rPr lang="en-US" sz="1050" b="1" dirty="0"/>
              <a:t>Pickup location name  &amp; Address                         </a:t>
            </a:r>
          </a:p>
          <a:p>
            <a:r>
              <a:rPr lang="en-US" sz="1050" i="1" dirty="0"/>
              <a:t>G2O TECHNOLOGIES LLC</a:t>
            </a:r>
          </a:p>
          <a:p>
            <a:r>
              <a:rPr lang="en-US" sz="1050" i="1" dirty="0"/>
              <a:t>1502 NORTH WASHINGTON</a:t>
            </a:r>
          </a:p>
          <a:p>
            <a:r>
              <a:rPr lang="en-US" sz="1050" i="1" dirty="0"/>
              <a:t>COLUMBUS</a:t>
            </a:r>
          </a:p>
          <a:p>
            <a:r>
              <a:rPr lang="en-US" sz="1050" i="1" dirty="0"/>
              <a:t>31907 GA</a:t>
            </a:r>
          </a:p>
          <a:p>
            <a:r>
              <a:rPr lang="en-US" sz="1050" i="1" dirty="0"/>
              <a:t>US</a:t>
            </a:r>
          </a:p>
          <a:p>
            <a:endParaRPr lang="en-US" sz="1050" dirty="0"/>
          </a:p>
          <a:p>
            <a:r>
              <a:rPr lang="en-US" sz="1050" b="1" dirty="0"/>
              <a:t>Pickup Date/Time (Preferred carrier)</a:t>
            </a:r>
          </a:p>
          <a:p>
            <a:r>
              <a:rPr lang="en-US" sz="1050" dirty="0"/>
              <a:t>02/14/2026 03:00 CST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486702-DE17-2A75-48BA-6BBFE8282AA8}"/>
              </a:ext>
            </a:extLst>
          </p:cNvPr>
          <p:cNvSpPr txBox="1"/>
          <p:nvPr/>
        </p:nvSpPr>
        <p:spPr>
          <a:xfrm>
            <a:off x="8005505" y="1758871"/>
            <a:ext cx="2604725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Final Delivery</a:t>
            </a:r>
          </a:p>
          <a:p>
            <a:endParaRPr lang="en-US" sz="1050" b="1" dirty="0"/>
          </a:p>
          <a:p>
            <a:r>
              <a:rPr lang="en-US" sz="1050" b="1" dirty="0"/>
              <a:t>Delivery location name &amp; Address  </a:t>
            </a:r>
            <a:r>
              <a:rPr lang="en-US" sz="1050" dirty="0"/>
              <a:t>                           </a:t>
            </a:r>
          </a:p>
          <a:p>
            <a:r>
              <a:rPr lang="en-US" sz="1050" i="1" dirty="0"/>
              <a:t>NALCO ENERGY SERVICES</a:t>
            </a:r>
          </a:p>
          <a:p>
            <a:r>
              <a:rPr lang="en-US" sz="1050" dirty="0"/>
              <a:t>6717 S. 61ST WEST AVE</a:t>
            </a:r>
          </a:p>
          <a:p>
            <a:r>
              <a:rPr lang="en-US" sz="1050" dirty="0"/>
              <a:t>NEENAH</a:t>
            </a:r>
          </a:p>
          <a:p>
            <a:r>
              <a:rPr lang="en-US" sz="1050" dirty="0"/>
              <a:t>54956 WI</a:t>
            </a:r>
          </a:p>
          <a:p>
            <a:r>
              <a:rPr lang="en-US" sz="1050" dirty="0"/>
              <a:t>US</a:t>
            </a:r>
          </a:p>
          <a:p>
            <a:endParaRPr lang="en-US" sz="1050" dirty="0"/>
          </a:p>
          <a:p>
            <a:r>
              <a:rPr lang="en-US" sz="1050" b="1" dirty="0"/>
              <a:t>Delivery Date/Time (Preferred Carrier)</a:t>
            </a:r>
          </a:p>
          <a:p>
            <a:r>
              <a:rPr lang="en-US" sz="1050" dirty="0"/>
              <a:t>02/22/2025 14:00 CST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5E6635-F21F-A0D0-8ADA-1879CFDFD888}"/>
              </a:ext>
            </a:extLst>
          </p:cNvPr>
          <p:cNvSpPr txBox="1"/>
          <p:nvPr/>
        </p:nvSpPr>
        <p:spPr>
          <a:xfrm>
            <a:off x="212580" y="1837380"/>
            <a:ext cx="253166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Shipment</a:t>
            </a:r>
          </a:p>
          <a:p>
            <a:endParaRPr lang="en-US" sz="1050" dirty="0"/>
          </a:p>
          <a:p>
            <a:r>
              <a:rPr lang="en-US" sz="1050" b="1" dirty="0"/>
              <a:t>Buy Shipment ID:</a:t>
            </a:r>
            <a:r>
              <a:rPr lang="en-US" sz="1050" dirty="0"/>
              <a:t> B288263 </a:t>
            </a:r>
          </a:p>
          <a:p>
            <a:r>
              <a:rPr lang="en-US" sz="1050" b="1" dirty="0"/>
              <a:t>Sell Shipment ID:</a:t>
            </a:r>
            <a:r>
              <a:rPr lang="en-US" sz="1050" dirty="0"/>
              <a:t> S453678</a:t>
            </a:r>
          </a:p>
          <a:p>
            <a:r>
              <a:rPr lang="en-US" sz="1050" b="1" dirty="0"/>
              <a:t>Mode: </a:t>
            </a:r>
            <a:r>
              <a:rPr lang="en-US" sz="1050" dirty="0"/>
              <a:t>TL / LTL / RR / IMD /AIR</a:t>
            </a:r>
          </a:p>
          <a:p>
            <a:r>
              <a:rPr lang="en-US" sz="1050" b="1" dirty="0"/>
              <a:t>Seed Equipment:</a:t>
            </a:r>
            <a:r>
              <a:rPr lang="en-US" sz="1050" dirty="0"/>
              <a:t> LTL</a:t>
            </a:r>
          </a:p>
          <a:p>
            <a:r>
              <a:rPr lang="en-US" sz="1050" b="1" dirty="0">
                <a:solidFill>
                  <a:srgbClr val="0000FF"/>
                </a:solidFill>
              </a:rPr>
              <a:t>Planning Date Type:  </a:t>
            </a:r>
            <a:r>
              <a:rPr lang="en-US" sz="1050" dirty="0">
                <a:solidFill>
                  <a:srgbClr val="0000FF"/>
                </a:solidFill>
              </a:rPr>
              <a:t>RDD</a:t>
            </a:r>
          </a:p>
          <a:p>
            <a:r>
              <a:rPr lang="en-US" sz="1050" b="1" dirty="0"/>
              <a:t>Gross Weight:</a:t>
            </a:r>
            <a:r>
              <a:rPr lang="en-US" sz="1050" dirty="0"/>
              <a:t> 420 LB</a:t>
            </a:r>
          </a:p>
          <a:p>
            <a:r>
              <a:rPr lang="en-US" sz="1050" b="1" dirty="0"/>
              <a:t>Pkg Count:</a:t>
            </a:r>
            <a:r>
              <a:rPr lang="en-US" sz="1050" dirty="0"/>
              <a:t> 12 PLT </a:t>
            </a:r>
          </a:p>
          <a:p>
            <a:r>
              <a:rPr lang="en-US" sz="1050" b="1" dirty="0"/>
              <a:t>Volume: </a:t>
            </a:r>
            <a:r>
              <a:rPr lang="en-US" sz="1050" dirty="0"/>
              <a:t>45 </a:t>
            </a:r>
            <a:r>
              <a:rPr lang="en-US" sz="1050" dirty="0" err="1"/>
              <a:t>cuft</a:t>
            </a:r>
            <a:endParaRPr lang="en-US" sz="1050" dirty="0"/>
          </a:p>
          <a:p>
            <a:r>
              <a:rPr lang="en-US" sz="1050" b="1" dirty="0"/>
              <a:t>Distance:</a:t>
            </a:r>
            <a:r>
              <a:rPr lang="en-US" sz="1050" dirty="0"/>
              <a:t> 1000 MI</a:t>
            </a:r>
          </a:p>
          <a:p>
            <a:endParaRPr lang="en-US" sz="1050" dirty="0"/>
          </a:p>
          <a:p>
            <a:r>
              <a:rPr lang="en-US" sz="1050" dirty="0"/>
              <a:t>Instructions: </a:t>
            </a:r>
          </a:p>
          <a:p>
            <a:r>
              <a:rPr lang="en-US" sz="1050" dirty="0"/>
              <a:t>Hazardous: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E731D7-2896-FB13-B820-9084228C2610}"/>
              </a:ext>
            </a:extLst>
          </p:cNvPr>
          <p:cNvSpPr txBox="1"/>
          <p:nvPr/>
        </p:nvSpPr>
        <p:spPr>
          <a:xfrm>
            <a:off x="2080291" y="1796834"/>
            <a:ext cx="3668532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Order</a:t>
            </a:r>
          </a:p>
          <a:p>
            <a:endParaRPr lang="en-US" sz="1050" dirty="0"/>
          </a:p>
          <a:p>
            <a:r>
              <a:rPr lang="en-US" sz="1050" b="1" dirty="0">
                <a:solidFill>
                  <a:srgbClr val="0000FF"/>
                </a:solidFill>
              </a:rPr>
              <a:t>Planning Date Type:  </a:t>
            </a:r>
            <a:r>
              <a:rPr lang="en-US" sz="1050" dirty="0">
                <a:solidFill>
                  <a:srgbClr val="0000FF"/>
                </a:solidFill>
              </a:rPr>
              <a:t>RDD</a:t>
            </a:r>
          </a:p>
          <a:p>
            <a:r>
              <a:rPr lang="en-US" sz="1050" b="1" dirty="0"/>
              <a:t>Order Pickup Date/Time: </a:t>
            </a:r>
            <a:r>
              <a:rPr lang="en-US" sz="1050" dirty="0"/>
              <a:t>02/14/2026 03:00 CST</a:t>
            </a:r>
          </a:p>
          <a:p>
            <a:r>
              <a:rPr lang="en-US" sz="1050" b="1" dirty="0"/>
              <a:t>Order Delivery Date/Time: </a:t>
            </a:r>
            <a:r>
              <a:rPr lang="en-US" sz="1050" dirty="0"/>
              <a:t>02/22/2025 14:00 CST</a:t>
            </a:r>
          </a:p>
          <a:p>
            <a:r>
              <a:rPr lang="en-US" sz="1050" b="1" dirty="0"/>
              <a:t>Order #:</a:t>
            </a:r>
            <a:r>
              <a:rPr lang="en-US" sz="1050" dirty="0"/>
              <a:t>O345, O098</a:t>
            </a:r>
          </a:p>
          <a:p>
            <a:r>
              <a:rPr lang="en-US" sz="1050" b="1" dirty="0"/>
              <a:t>Direct Cost: </a:t>
            </a:r>
            <a:r>
              <a:rPr lang="en-US" sz="1050" dirty="0"/>
              <a:t>410 USD, 240 USD</a:t>
            </a:r>
          </a:p>
          <a:p>
            <a:endParaRPr lang="en-US" sz="1050" dirty="0"/>
          </a:p>
          <a:p>
            <a:r>
              <a:rPr lang="en-US" sz="1050" dirty="0"/>
              <a:t>Pickup #: 234696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5A52D36-0526-9DD0-4C33-0852C7E98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607" y="3690245"/>
            <a:ext cx="461664" cy="36933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DABC6B-B313-63FE-2254-91866F0F0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26" y="3928940"/>
            <a:ext cx="461664" cy="369332"/>
          </a:xfrm>
          <a:prstGeom prst="rect">
            <a:avLst/>
          </a:prstGeom>
        </p:spPr>
      </p:pic>
      <p:sp>
        <p:nvSpPr>
          <p:cNvPr id="31" name="Rectangle: Top Corners Rounded 30">
            <a:extLst>
              <a:ext uri="{FF2B5EF4-FFF2-40B4-BE49-F238E27FC236}">
                <a16:creationId xmlns:a16="http://schemas.microsoft.com/office/drawing/2014/main" id="{4EC8C7B4-2E10-FE07-190B-56C57B0C0524}"/>
              </a:ext>
            </a:extLst>
          </p:cNvPr>
          <p:cNvSpPr/>
          <p:nvPr/>
        </p:nvSpPr>
        <p:spPr>
          <a:xfrm>
            <a:off x="9823958" y="4345714"/>
            <a:ext cx="879772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Add Quote</a:t>
            </a:r>
          </a:p>
        </p:txBody>
      </p:sp>
      <p:sp>
        <p:nvSpPr>
          <p:cNvPr id="33" name="Rectangle: Top Corners Rounded 32">
            <a:extLst>
              <a:ext uri="{FF2B5EF4-FFF2-40B4-BE49-F238E27FC236}">
                <a16:creationId xmlns:a16="http://schemas.microsoft.com/office/drawing/2014/main" id="{F91B4E98-DAAA-3F76-40B0-DD611FFC6C4E}"/>
              </a:ext>
            </a:extLst>
          </p:cNvPr>
          <p:cNvSpPr/>
          <p:nvPr/>
        </p:nvSpPr>
        <p:spPr>
          <a:xfrm>
            <a:off x="2780942" y="4474903"/>
            <a:ext cx="1044003" cy="329569"/>
          </a:xfrm>
          <a:prstGeom prst="round2SameRect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View Volume Commitment</a:t>
            </a:r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A92B35B0-E63C-2307-E376-6DEA03743411}"/>
              </a:ext>
            </a:extLst>
          </p:cNvPr>
          <p:cNvSpPr/>
          <p:nvPr/>
        </p:nvSpPr>
        <p:spPr>
          <a:xfrm>
            <a:off x="10823000" y="4323062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Show Rate Details (QCA)</a:t>
            </a:r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63A9631E-FA7F-65F3-7B49-240EDA653EF8}"/>
              </a:ext>
            </a:extLst>
          </p:cNvPr>
          <p:cNvSpPr/>
          <p:nvPr/>
        </p:nvSpPr>
        <p:spPr>
          <a:xfrm>
            <a:off x="10686216" y="2084026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Routing Query (QCP)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4908EF6-D2F3-9737-6D34-E316C7500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014782"/>
              </p:ext>
            </p:extLst>
          </p:nvPr>
        </p:nvGraphicFramePr>
        <p:xfrm>
          <a:off x="329313" y="4855823"/>
          <a:ext cx="11651700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078">
                  <a:extLst>
                    <a:ext uri="{9D8B030D-6E8A-4147-A177-3AD203B41FA5}">
                      <a16:colId xmlns:a16="http://schemas.microsoft.com/office/drawing/2014/main" val="2299961496"/>
                    </a:ext>
                  </a:extLst>
                </a:gridCol>
                <a:gridCol w="454854">
                  <a:extLst>
                    <a:ext uri="{9D8B030D-6E8A-4147-A177-3AD203B41FA5}">
                      <a16:colId xmlns:a16="http://schemas.microsoft.com/office/drawing/2014/main" val="63472440"/>
                    </a:ext>
                  </a:extLst>
                </a:gridCol>
                <a:gridCol w="664090">
                  <a:extLst>
                    <a:ext uri="{9D8B030D-6E8A-4147-A177-3AD203B41FA5}">
                      <a16:colId xmlns:a16="http://schemas.microsoft.com/office/drawing/2014/main" val="2417404039"/>
                    </a:ext>
                  </a:extLst>
                </a:gridCol>
                <a:gridCol w="737877">
                  <a:extLst>
                    <a:ext uri="{9D8B030D-6E8A-4147-A177-3AD203B41FA5}">
                      <a16:colId xmlns:a16="http://schemas.microsoft.com/office/drawing/2014/main" val="137753275"/>
                    </a:ext>
                  </a:extLst>
                </a:gridCol>
                <a:gridCol w="627195">
                  <a:extLst>
                    <a:ext uri="{9D8B030D-6E8A-4147-A177-3AD203B41FA5}">
                      <a16:colId xmlns:a16="http://schemas.microsoft.com/office/drawing/2014/main" val="1150411051"/>
                    </a:ext>
                  </a:extLst>
                </a:gridCol>
                <a:gridCol w="747102">
                  <a:extLst>
                    <a:ext uri="{9D8B030D-6E8A-4147-A177-3AD203B41FA5}">
                      <a16:colId xmlns:a16="http://schemas.microsoft.com/office/drawing/2014/main" val="3252033987"/>
                    </a:ext>
                  </a:extLst>
                </a:gridCol>
                <a:gridCol w="451951">
                  <a:extLst>
                    <a:ext uri="{9D8B030D-6E8A-4147-A177-3AD203B41FA5}">
                      <a16:colId xmlns:a16="http://schemas.microsoft.com/office/drawing/2014/main" val="1006403190"/>
                    </a:ext>
                  </a:extLst>
                </a:gridCol>
                <a:gridCol w="885454">
                  <a:extLst>
                    <a:ext uri="{9D8B030D-6E8A-4147-A177-3AD203B41FA5}">
                      <a16:colId xmlns:a16="http://schemas.microsoft.com/office/drawing/2014/main" val="1350056266"/>
                    </a:ext>
                  </a:extLst>
                </a:gridCol>
                <a:gridCol w="793221">
                  <a:extLst>
                    <a:ext uri="{9D8B030D-6E8A-4147-A177-3AD203B41FA5}">
                      <a16:colId xmlns:a16="http://schemas.microsoft.com/office/drawing/2014/main" val="1042750234"/>
                    </a:ext>
                  </a:extLst>
                </a:gridCol>
                <a:gridCol w="700984">
                  <a:extLst>
                    <a:ext uri="{9D8B030D-6E8A-4147-A177-3AD203B41FA5}">
                      <a16:colId xmlns:a16="http://schemas.microsoft.com/office/drawing/2014/main" val="693219657"/>
                    </a:ext>
                  </a:extLst>
                </a:gridCol>
                <a:gridCol w="719431">
                  <a:extLst>
                    <a:ext uri="{9D8B030D-6E8A-4147-A177-3AD203B41FA5}">
                      <a16:colId xmlns:a16="http://schemas.microsoft.com/office/drawing/2014/main" val="3207406835"/>
                    </a:ext>
                  </a:extLst>
                </a:gridCol>
                <a:gridCol w="719431">
                  <a:extLst>
                    <a:ext uri="{9D8B030D-6E8A-4147-A177-3AD203B41FA5}">
                      <a16:colId xmlns:a16="http://schemas.microsoft.com/office/drawing/2014/main" val="2415581832"/>
                    </a:ext>
                  </a:extLst>
                </a:gridCol>
                <a:gridCol w="603636">
                  <a:extLst>
                    <a:ext uri="{9D8B030D-6E8A-4147-A177-3AD203B41FA5}">
                      <a16:colId xmlns:a16="http://schemas.microsoft.com/office/drawing/2014/main" val="2089277385"/>
                    </a:ext>
                  </a:extLst>
                </a:gridCol>
                <a:gridCol w="822268">
                  <a:extLst>
                    <a:ext uri="{9D8B030D-6E8A-4147-A177-3AD203B41FA5}">
                      <a16:colId xmlns:a16="http://schemas.microsoft.com/office/drawing/2014/main" val="1121213308"/>
                    </a:ext>
                  </a:extLst>
                </a:gridCol>
                <a:gridCol w="822268">
                  <a:extLst>
                    <a:ext uri="{9D8B030D-6E8A-4147-A177-3AD203B41FA5}">
                      <a16:colId xmlns:a16="http://schemas.microsoft.com/office/drawing/2014/main" val="905710129"/>
                    </a:ext>
                  </a:extLst>
                </a:gridCol>
                <a:gridCol w="727430">
                  <a:extLst>
                    <a:ext uri="{9D8B030D-6E8A-4147-A177-3AD203B41FA5}">
                      <a16:colId xmlns:a16="http://schemas.microsoft.com/office/drawing/2014/main" val="1679010256"/>
                    </a:ext>
                  </a:extLst>
                </a:gridCol>
                <a:gridCol w="727430">
                  <a:extLst>
                    <a:ext uri="{9D8B030D-6E8A-4147-A177-3AD203B41FA5}">
                      <a16:colId xmlns:a16="http://schemas.microsoft.com/office/drawing/2014/main" val="3989763239"/>
                    </a:ext>
                  </a:extLst>
                </a:gridCol>
              </a:tblGrid>
              <a:tr h="255019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Route Rank?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SCAC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Carrier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AP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Tender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Pickup Date/Time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Delivery Date/Time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Modify 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Modify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Indirect 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Round Trip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Customer Preferred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Order Equip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Contact Exped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9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Note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893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9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AACT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AAA COOPER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LTL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311.98 USD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2/23/2026 14:00 WED (08:00-16:00 CST)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2/27/2026 15:00 Thu (00:00-23:59 * 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02/21/2026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794972"/>
                  </a:ext>
                </a:extLst>
              </a:tr>
            </a:tbl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6B592A67-3E0E-562E-5D60-A15FEEEE24C9}"/>
              </a:ext>
            </a:extLst>
          </p:cNvPr>
          <p:cNvSpPr/>
          <p:nvPr/>
        </p:nvSpPr>
        <p:spPr>
          <a:xfrm>
            <a:off x="4444598" y="367516"/>
            <a:ext cx="2247900" cy="1029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050" b="1" dirty="0"/>
          </a:p>
          <a:p>
            <a:pPr>
              <a:lnSpc>
                <a:spcPct val="150000"/>
              </a:lnSpc>
            </a:pPr>
            <a:r>
              <a:rPr lang="en-US" sz="1050" b="1" dirty="0"/>
              <a:t>Hold                                                            4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Consolidation                                       3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Sent                                                            5</a:t>
            </a:r>
          </a:p>
          <a:p>
            <a:pPr>
              <a:lnSpc>
                <a:spcPct val="150000"/>
              </a:lnSpc>
            </a:pPr>
            <a:r>
              <a:rPr lang="en-US" sz="1050" b="1" dirty="0"/>
              <a:t>Spot Bid                                                    3</a:t>
            </a:r>
          </a:p>
          <a:p>
            <a:pPr>
              <a:lnSpc>
                <a:spcPct val="150000"/>
              </a:lnSpc>
            </a:pPr>
            <a:endParaRPr lang="en-US" sz="1050" b="1" dirty="0"/>
          </a:p>
          <a:p>
            <a:pPr>
              <a:lnSpc>
                <a:spcPct val="150000"/>
              </a:lnSpc>
            </a:pPr>
            <a:endParaRPr lang="en-US" sz="1050" b="1" dirty="0"/>
          </a:p>
        </p:txBody>
      </p:sp>
      <p:sp>
        <p:nvSpPr>
          <p:cNvPr id="45" name="Rectangle: Top Corners Rounded 44">
            <a:extLst>
              <a:ext uri="{FF2B5EF4-FFF2-40B4-BE49-F238E27FC236}">
                <a16:creationId xmlns:a16="http://schemas.microsoft.com/office/drawing/2014/main" id="{348CDA3D-3F66-8ADD-25AB-B85A60586725}"/>
              </a:ext>
            </a:extLst>
          </p:cNvPr>
          <p:cNvSpPr/>
          <p:nvPr/>
        </p:nvSpPr>
        <p:spPr>
          <a:xfrm>
            <a:off x="10666205" y="2512632"/>
            <a:ext cx="1070636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View Stops</a:t>
            </a:r>
          </a:p>
        </p:txBody>
      </p:sp>
      <p:sp>
        <p:nvSpPr>
          <p:cNvPr id="58" name="Rectangle: Top Corners Rounded 57">
            <a:extLst>
              <a:ext uri="{FF2B5EF4-FFF2-40B4-BE49-F238E27FC236}">
                <a16:creationId xmlns:a16="http://schemas.microsoft.com/office/drawing/2014/main" id="{1B805D0B-4FFC-EB0D-8FF2-D021A338A23C}"/>
              </a:ext>
            </a:extLst>
          </p:cNvPr>
          <p:cNvSpPr/>
          <p:nvPr/>
        </p:nvSpPr>
        <p:spPr>
          <a:xfrm>
            <a:off x="363215" y="4474904"/>
            <a:ext cx="1110112" cy="329568"/>
          </a:xfrm>
          <a:prstGeom prst="round2SameRect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50" dirty="0"/>
              <a:t>Routing Options</a:t>
            </a:r>
          </a:p>
        </p:txBody>
      </p:sp>
      <p:sp>
        <p:nvSpPr>
          <p:cNvPr id="61" name="Rectangle: Top Corners Rounded 60">
            <a:extLst>
              <a:ext uri="{FF2B5EF4-FFF2-40B4-BE49-F238E27FC236}">
                <a16:creationId xmlns:a16="http://schemas.microsoft.com/office/drawing/2014/main" id="{D5FAFE3F-484E-00FB-E8C1-1505C3A56D72}"/>
              </a:ext>
            </a:extLst>
          </p:cNvPr>
          <p:cNvSpPr/>
          <p:nvPr/>
        </p:nvSpPr>
        <p:spPr>
          <a:xfrm>
            <a:off x="7827996" y="4007167"/>
            <a:ext cx="838752" cy="317885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Re-Tender</a:t>
            </a:r>
          </a:p>
        </p:txBody>
      </p:sp>
      <p:sp>
        <p:nvSpPr>
          <p:cNvPr id="63" name="Rectangle: Top Corners Rounded 62">
            <a:extLst>
              <a:ext uri="{FF2B5EF4-FFF2-40B4-BE49-F238E27FC236}">
                <a16:creationId xmlns:a16="http://schemas.microsoft.com/office/drawing/2014/main" id="{BEA4495A-62D4-CBAA-006E-FF61856882A2}"/>
              </a:ext>
            </a:extLst>
          </p:cNvPr>
          <p:cNvSpPr/>
          <p:nvPr/>
        </p:nvSpPr>
        <p:spPr>
          <a:xfrm>
            <a:off x="7037323" y="4383999"/>
            <a:ext cx="687597" cy="299413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Decline</a:t>
            </a:r>
          </a:p>
        </p:txBody>
      </p:sp>
      <p:sp>
        <p:nvSpPr>
          <p:cNvPr id="65" name="Rectangle: Top Corners Rounded 64">
            <a:extLst>
              <a:ext uri="{FF2B5EF4-FFF2-40B4-BE49-F238E27FC236}">
                <a16:creationId xmlns:a16="http://schemas.microsoft.com/office/drawing/2014/main" id="{D011D252-E545-BA9F-275C-5BCC86FEBBEF}"/>
              </a:ext>
            </a:extLst>
          </p:cNvPr>
          <p:cNvSpPr/>
          <p:nvPr/>
        </p:nvSpPr>
        <p:spPr>
          <a:xfrm>
            <a:off x="8776952" y="4013967"/>
            <a:ext cx="687597" cy="299413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Cancel</a:t>
            </a:r>
          </a:p>
        </p:txBody>
      </p:sp>
      <p:sp>
        <p:nvSpPr>
          <p:cNvPr id="68" name="Rectangle: Top Corners Rounded 67">
            <a:extLst>
              <a:ext uri="{FF2B5EF4-FFF2-40B4-BE49-F238E27FC236}">
                <a16:creationId xmlns:a16="http://schemas.microsoft.com/office/drawing/2014/main" id="{97119412-C45E-045B-FE84-64E02CA0E00C}"/>
              </a:ext>
            </a:extLst>
          </p:cNvPr>
          <p:cNvSpPr/>
          <p:nvPr/>
        </p:nvSpPr>
        <p:spPr>
          <a:xfrm>
            <a:off x="7037323" y="3998656"/>
            <a:ext cx="680469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Tender</a:t>
            </a:r>
          </a:p>
        </p:txBody>
      </p:sp>
      <p:sp>
        <p:nvSpPr>
          <p:cNvPr id="72" name="Rectangle: Top Corners Rounded 71">
            <a:extLst>
              <a:ext uri="{FF2B5EF4-FFF2-40B4-BE49-F238E27FC236}">
                <a16:creationId xmlns:a16="http://schemas.microsoft.com/office/drawing/2014/main" id="{1C4DA0C3-1FE5-7246-8420-E431229245D7}"/>
              </a:ext>
            </a:extLst>
          </p:cNvPr>
          <p:cNvSpPr/>
          <p:nvPr/>
        </p:nvSpPr>
        <p:spPr>
          <a:xfrm>
            <a:off x="7827996" y="4418245"/>
            <a:ext cx="687597" cy="277551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/>
              <a:t>Accept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9AA6B0-5A6F-BAFE-8EC6-F045E3F89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745" y="3777442"/>
            <a:ext cx="159435" cy="1522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44EA1F-6A4E-FB95-DB94-270B36E88039}"/>
              </a:ext>
            </a:extLst>
          </p:cNvPr>
          <p:cNvSpPr txBox="1"/>
          <p:nvPr/>
        </p:nvSpPr>
        <p:spPr>
          <a:xfrm>
            <a:off x="1572078" y="3690568"/>
            <a:ext cx="1803400" cy="2616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/>
              <a:t>Instructions Display 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AD66E5-3B9C-73D6-8E7D-A0DEE2D36508}"/>
              </a:ext>
            </a:extLst>
          </p:cNvPr>
          <p:cNvSpPr txBox="1"/>
          <p:nvPr/>
        </p:nvSpPr>
        <p:spPr>
          <a:xfrm>
            <a:off x="10423172" y="1671812"/>
            <a:ext cx="1467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Actions - Shipment</a:t>
            </a: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1B3E5A35-C89B-9FA1-C180-AD621E41DABD}"/>
              </a:ext>
            </a:extLst>
          </p:cNvPr>
          <p:cNvSpPr/>
          <p:nvPr/>
        </p:nvSpPr>
        <p:spPr>
          <a:xfrm>
            <a:off x="1572078" y="4454578"/>
            <a:ext cx="1110112" cy="329568"/>
          </a:xfrm>
          <a:prstGeom prst="round2SameRect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Pro &amp; Equipment Info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167E482-8FB6-D77C-BE38-5E8AE97277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1" y="5542382"/>
            <a:ext cx="461664" cy="369332"/>
          </a:xfrm>
          <a:prstGeom prst="rect">
            <a:avLst/>
          </a:prstGeom>
        </p:spPr>
      </p:pic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7557237F-3257-7B30-3BF6-CFECA8432782}"/>
              </a:ext>
            </a:extLst>
          </p:cNvPr>
          <p:cNvSpPr/>
          <p:nvPr/>
        </p:nvSpPr>
        <p:spPr>
          <a:xfrm>
            <a:off x="3941585" y="4459008"/>
            <a:ext cx="1044003" cy="329569"/>
          </a:xfrm>
          <a:prstGeom prst="round2SameRect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Additional Info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F84B483D-9B68-376D-D225-0975A2FF040A}"/>
              </a:ext>
            </a:extLst>
          </p:cNvPr>
          <p:cNvSpPr/>
          <p:nvPr/>
        </p:nvSpPr>
        <p:spPr>
          <a:xfrm>
            <a:off x="5084340" y="4444768"/>
            <a:ext cx="1044003" cy="329569"/>
          </a:xfrm>
          <a:prstGeom prst="round2Same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Others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9F3AE8-9EFA-8813-BE35-7076AE70A6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792" y="5696108"/>
            <a:ext cx="461664" cy="3693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B1D2435-9A01-11E3-E641-B07111E4CC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777" y="5696108"/>
            <a:ext cx="461664" cy="36933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1A9282E-B429-DB2C-7A5D-0E20F6712A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9762" y="5696108"/>
            <a:ext cx="461664" cy="36933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E311BDE-DD35-5438-7B6F-1132B6067E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747" y="5696108"/>
            <a:ext cx="461664" cy="36933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C905376-06ED-F482-72C2-FDDE830588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1732" y="5696108"/>
            <a:ext cx="461664" cy="36933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089075B-86D5-4E9E-51E7-39B4AED00E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716" y="5696108"/>
            <a:ext cx="461664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97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39987</TotalTime>
  <Words>3114</Words>
  <Application>Microsoft Macintosh PowerPoint</Application>
  <PresentationFormat>Widescreen</PresentationFormat>
  <Paragraphs>775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Aptos Narrow</vt:lpstr>
      <vt:lpstr>Arial</vt:lpstr>
      <vt:lpstr>Office Theme</vt:lpstr>
      <vt:lpstr>Shipment</vt:lpstr>
      <vt:lpstr>Tendering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Soundararajan, Janardhana (Cognizant)</dc:creator>
  <cp:lastModifiedBy>Manuela Ramirez</cp:lastModifiedBy>
  <cp:revision>2</cp:revision>
  <dcterms:created xsi:type="dcterms:W3CDTF">2026-01-15T17:37:17Z</dcterms:created>
  <dcterms:modified xsi:type="dcterms:W3CDTF">2026-03-20T01:21:25Z</dcterms:modified>
</cp:coreProperties>
</file>
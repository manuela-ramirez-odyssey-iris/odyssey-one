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88" r:id="rId2"/>
    <p:sldId id="289" r:id="rId3"/>
    <p:sldId id="290" r:id="rId4"/>
    <p:sldId id="291" r:id="rId5"/>
    <p:sldId id="292" r:id="rId6"/>
    <p:sldId id="293" r:id="rId7"/>
    <p:sldId id="294" r:id="rId8"/>
    <p:sldId id="295" r:id="rId9"/>
    <p:sldId id="296" r:id="rId10"/>
    <p:sldId id="297" r:id="rId11"/>
    <p:sldId id="298" r:id="rId12"/>
    <p:sldId id="299" r:id="rId13"/>
    <p:sldId id="300" r:id="rId14"/>
  </p:sldIdLst>
  <p:sldSz cx="155448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5FA32D-F5C8-46A1-9B4F-79CD33529336}" v="24" dt="2026-08-11T22:28:52.7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404" autoAdjust="0"/>
  </p:normalViewPr>
  <p:slideViewPr>
    <p:cSldViewPr snapToGrid="0">
      <p:cViewPr varScale="1">
        <p:scale>
          <a:sx n="64" d="100"/>
          <a:sy n="64" d="100"/>
        </p:scale>
        <p:origin x="44"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ndararajan, Janardhana (Cognizant)" userId="16d1fb41-3b8f-4daa-b25a-b3941fd1706c" providerId="ADAL" clId="{AE5AE93A-A3C8-4B32-894D-4412D7C2E483}"/>
    <pc:docChg chg="delSld">
      <pc:chgData name="Soundararajan, Janardhana (Cognizant)" userId="16d1fb41-3b8f-4daa-b25a-b3941fd1706c" providerId="ADAL" clId="{AE5AE93A-A3C8-4B32-894D-4412D7C2E483}" dt="2026-08-12T20:48:43.647" v="1" actId="47"/>
      <pc:docMkLst>
        <pc:docMk/>
      </pc:docMkLst>
      <pc:sldChg chg="del">
        <pc:chgData name="Soundararajan, Janardhana (Cognizant)" userId="16d1fb41-3b8f-4daa-b25a-b3941fd1706c" providerId="ADAL" clId="{AE5AE93A-A3C8-4B32-894D-4412D7C2E483}" dt="2026-08-12T20:48:43.647" v="1" actId="47"/>
        <pc:sldMkLst>
          <pc:docMk/>
          <pc:sldMk cId="3218686267" sldId="256"/>
        </pc:sldMkLst>
      </pc:sldChg>
      <pc:sldChg chg="del">
        <pc:chgData name="Soundararajan, Janardhana (Cognizant)" userId="16d1fb41-3b8f-4daa-b25a-b3941fd1706c" providerId="ADAL" clId="{AE5AE93A-A3C8-4B32-894D-4412D7C2E483}" dt="2026-08-12T20:48:43.647" v="1" actId="47"/>
        <pc:sldMkLst>
          <pc:docMk/>
          <pc:sldMk cId="176394526" sldId="257"/>
        </pc:sldMkLst>
      </pc:sldChg>
      <pc:sldChg chg="del">
        <pc:chgData name="Soundararajan, Janardhana (Cognizant)" userId="16d1fb41-3b8f-4daa-b25a-b3941fd1706c" providerId="ADAL" clId="{AE5AE93A-A3C8-4B32-894D-4412D7C2E483}" dt="2026-08-12T20:48:34.116" v="0" actId="47"/>
        <pc:sldMkLst>
          <pc:docMk/>
          <pc:sldMk cId="2814785279" sldId="258"/>
        </pc:sldMkLst>
      </pc:sldChg>
      <pc:sldChg chg="del">
        <pc:chgData name="Soundararajan, Janardhana (Cognizant)" userId="16d1fb41-3b8f-4daa-b25a-b3941fd1706c" providerId="ADAL" clId="{AE5AE93A-A3C8-4B32-894D-4412D7C2E483}" dt="2026-08-12T20:48:34.116" v="0" actId="47"/>
        <pc:sldMkLst>
          <pc:docMk/>
          <pc:sldMk cId="3665256582" sldId="259"/>
        </pc:sldMkLst>
      </pc:sldChg>
      <pc:sldChg chg="del">
        <pc:chgData name="Soundararajan, Janardhana (Cognizant)" userId="16d1fb41-3b8f-4daa-b25a-b3941fd1706c" providerId="ADAL" clId="{AE5AE93A-A3C8-4B32-894D-4412D7C2E483}" dt="2026-08-12T20:48:34.116" v="0" actId="47"/>
        <pc:sldMkLst>
          <pc:docMk/>
          <pc:sldMk cId="1518191081" sldId="260"/>
        </pc:sldMkLst>
      </pc:sldChg>
      <pc:sldChg chg="del">
        <pc:chgData name="Soundararajan, Janardhana (Cognizant)" userId="16d1fb41-3b8f-4daa-b25a-b3941fd1706c" providerId="ADAL" clId="{AE5AE93A-A3C8-4B32-894D-4412D7C2E483}" dt="2026-08-12T20:48:34.116" v="0" actId="47"/>
        <pc:sldMkLst>
          <pc:docMk/>
          <pc:sldMk cId="1653896194" sldId="261"/>
        </pc:sldMkLst>
      </pc:sldChg>
      <pc:sldChg chg="del">
        <pc:chgData name="Soundararajan, Janardhana (Cognizant)" userId="16d1fb41-3b8f-4daa-b25a-b3941fd1706c" providerId="ADAL" clId="{AE5AE93A-A3C8-4B32-894D-4412D7C2E483}" dt="2026-08-12T20:48:34.116" v="0" actId="47"/>
        <pc:sldMkLst>
          <pc:docMk/>
          <pc:sldMk cId="2301771384" sldId="262"/>
        </pc:sldMkLst>
      </pc:sldChg>
      <pc:sldChg chg="del">
        <pc:chgData name="Soundararajan, Janardhana (Cognizant)" userId="16d1fb41-3b8f-4daa-b25a-b3941fd1706c" providerId="ADAL" clId="{AE5AE93A-A3C8-4B32-894D-4412D7C2E483}" dt="2026-08-12T20:48:34.116" v="0" actId="47"/>
        <pc:sldMkLst>
          <pc:docMk/>
          <pc:sldMk cId="2368964375" sldId="263"/>
        </pc:sldMkLst>
      </pc:sldChg>
      <pc:sldChg chg="del">
        <pc:chgData name="Soundararajan, Janardhana (Cognizant)" userId="16d1fb41-3b8f-4daa-b25a-b3941fd1706c" providerId="ADAL" clId="{AE5AE93A-A3C8-4B32-894D-4412D7C2E483}" dt="2026-08-12T20:48:34.116" v="0" actId="47"/>
        <pc:sldMkLst>
          <pc:docMk/>
          <pc:sldMk cId="1804433477" sldId="264"/>
        </pc:sldMkLst>
      </pc:sldChg>
      <pc:sldChg chg="del">
        <pc:chgData name="Soundararajan, Janardhana (Cognizant)" userId="16d1fb41-3b8f-4daa-b25a-b3941fd1706c" providerId="ADAL" clId="{AE5AE93A-A3C8-4B32-894D-4412D7C2E483}" dt="2026-08-12T20:48:43.647" v="1" actId="47"/>
        <pc:sldMkLst>
          <pc:docMk/>
          <pc:sldMk cId="2706725707" sldId="265"/>
        </pc:sldMkLst>
      </pc:sldChg>
      <pc:sldChg chg="del">
        <pc:chgData name="Soundararajan, Janardhana (Cognizant)" userId="16d1fb41-3b8f-4daa-b25a-b3941fd1706c" providerId="ADAL" clId="{AE5AE93A-A3C8-4B32-894D-4412D7C2E483}" dt="2026-08-12T20:48:43.647" v="1" actId="47"/>
        <pc:sldMkLst>
          <pc:docMk/>
          <pc:sldMk cId="632343186" sldId="266"/>
        </pc:sldMkLst>
      </pc:sldChg>
      <pc:sldChg chg="del">
        <pc:chgData name="Soundararajan, Janardhana (Cognizant)" userId="16d1fb41-3b8f-4daa-b25a-b3941fd1706c" providerId="ADAL" clId="{AE5AE93A-A3C8-4B32-894D-4412D7C2E483}" dt="2026-08-12T20:48:34.116" v="0" actId="47"/>
        <pc:sldMkLst>
          <pc:docMk/>
          <pc:sldMk cId="1859868987" sldId="267"/>
        </pc:sldMkLst>
      </pc:sldChg>
      <pc:sldChg chg="del">
        <pc:chgData name="Soundararajan, Janardhana (Cognizant)" userId="16d1fb41-3b8f-4daa-b25a-b3941fd1706c" providerId="ADAL" clId="{AE5AE93A-A3C8-4B32-894D-4412D7C2E483}" dt="2026-08-12T20:48:34.116" v="0" actId="47"/>
        <pc:sldMkLst>
          <pc:docMk/>
          <pc:sldMk cId="3613438762" sldId="268"/>
        </pc:sldMkLst>
      </pc:sldChg>
      <pc:sldChg chg="del">
        <pc:chgData name="Soundararajan, Janardhana (Cognizant)" userId="16d1fb41-3b8f-4daa-b25a-b3941fd1706c" providerId="ADAL" clId="{AE5AE93A-A3C8-4B32-894D-4412D7C2E483}" dt="2026-08-12T20:48:43.647" v="1" actId="47"/>
        <pc:sldMkLst>
          <pc:docMk/>
          <pc:sldMk cId="3015626721" sldId="269"/>
        </pc:sldMkLst>
      </pc:sldChg>
      <pc:sldChg chg="del">
        <pc:chgData name="Soundararajan, Janardhana (Cognizant)" userId="16d1fb41-3b8f-4daa-b25a-b3941fd1706c" providerId="ADAL" clId="{AE5AE93A-A3C8-4B32-894D-4412D7C2E483}" dt="2026-08-12T20:48:43.647" v="1" actId="47"/>
        <pc:sldMkLst>
          <pc:docMk/>
          <pc:sldMk cId="2755025816" sldId="270"/>
        </pc:sldMkLst>
      </pc:sldChg>
      <pc:sldChg chg="del">
        <pc:chgData name="Soundararajan, Janardhana (Cognizant)" userId="16d1fb41-3b8f-4daa-b25a-b3941fd1706c" providerId="ADAL" clId="{AE5AE93A-A3C8-4B32-894D-4412D7C2E483}" dt="2026-08-12T20:48:34.116" v="0" actId="47"/>
        <pc:sldMkLst>
          <pc:docMk/>
          <pc:sldMk cId="2961622578" sldId="271"/>
        </pc:sldMkLst>
      </pc:sldChg>
      <pc:sldChg chg="del">
        <pc:chgData name="Soundararajan, Janardhana (Cognizant)" userId="16d1fb41-3b8f-4daa-b25a-b3941fd1706c" providerId="ADAL" clId="{AE5AE93A-A3C8-4B32-894D-4412D7C2E483}" dt="2026-08-12T20:48:34.116" v="0" actId="47"/>
        <pc:sldMkLst>
          <pc:docMk/>
          <pc:sldMk cId="1132798090" sldId="272"/>
        </pc:sldMkLst>
      </pc:sldChg>
      <pc:sldChg chg="del">
        <pc:chgData name="Soundararajan, Janardhana (Cognizant)" userId="16d1fb41-3b8f-4daa-b25a-b3941fd1706c" providerId="ADAL" clId="{AE5AE93A-A3C8-4B32-894D-4412D7C2E483}" dt="2026-08-12T20:48:34.116" v="0" actId="47"/>
        <pc:sldMkLst>
          <pc:docMk/>
          <pc:sldMk cId="4039715238" sldId="273"/>
        </pc:sldMkLst>
      </pc:sldChg>
      <pc:sldChg chg="del">
        <pc:chgData name="Soundararajan, Janardhana (Cognizant)" userId="16d1fb41-3b8f-4daa-b25a-b3941fd1706c" providerId="ADAL" clId="{AE5AE93A-A3C8-4B32-894D-4412D7C2E483}" dt="2026-08-12T20:48:34.116" v="0" actId="47"/>
        <pc:sldMkLst>
          <pc:docMk/>
          <pc:sldMk cId="2570439506" sldId="274"/>
        </pc:sldMkLst>
      </pc:sldChg>
      <pc:sldChg chg="del">
        <pc:chgData name="Soundararajan, Janardhana (Cognizant)" userId="16d1fb41-3b8f-4daa-b25a-b3941fd1706c" providerId="ADAL" clId="{AE5AE93A-A3C8-4B32-894D-4412D7C2E483}" dt="2026-08-12T20:48:34.116" v="0" actId="47"/>
        <pc:sldMkLst>
          <pc:docMk/>
          <pc:sldMk cId="2294644817" sldId="275"/>
        </pc:sldMkLst>
      </pc:sldChg>
      <pc:sldChg chg="del">
        <pc:chgData name="Soundararajan, Janardhana (Cognizant)" userId="16d1fb41-3b8f-4daa-b25a-b3941fd1706c" providerId="ADAL" clId="{AE5AE93A-A3C8-4B32-894D-4412D7C2E483}" dt="2026-08-12T20:48:34.116" v="0" actId="47"/>
        <pc:sldMkLst>
          <pc:docMk/>
          <pc:sldMk cId="827139502" sldId="276"/>
        </pc:sldMkLst>
      </pc:sldChg>
      <pc:sldChg chg="del">
        <pc:chgData name="Soundararajan, Janardhana (Cognizant)" userId="16d1fb41-3b8f-4daa-b25a-b3941fd1706c" providerId="ADAL" clId="{AE5AE93A-A3C8-4B32-894D-4412D7C2E483}" dt="2026-08-12T20:48:34.116" v="0" actId="47"/>
        <pc:sldMkLst>
          <pc:docMk/>
          <pc:sldMk cId="1066419646" sldId="278"/>
        </pc:sldMkLst>
      </pc:sldChg>
      <pc:sldChg chg="del">
        <pc:chgData name="Soundararajan, Janardhana (Cognizant)" userId="16d1fb41-3b8f-4daa-b25a-b3941fd1706c" providerId="ADAL" clId="{AE5AE93A-A3C8-4B32-894D-4412D7C2E483}" dt="2026-08-12T20:48:34.116" v="0" actId="47"/>
        <pc:sldMkLst>
          <pc:docMk/>
          <pc:sldMk cId="1669830662" sldId="279"/>
        </pc:sldMkLst>
      </pc:sldChg>
      <pc:sldChg chg="del">
        <pc:chgData name="Soundararajan, Janardhana (Cognizant)" userId="16d1fb41-3b8f-4daa-b25a-b3941fd1706c" providerId="ADAL" clId="{AE5AE93A-A3C8-4B32-894D-4412D7C2E483}" dt="2026-08-12T20:48:34.116" v="0" actId="47"/>
        <pc:sldMkLst>
          <pc:docMk/>
          <pc:sldMk cId="3660284577" sldId="280"/>
        </pc:sldMkLst>
      </pc:sldChg>
      <pc:sldChg chg="del">
        <pc:chgData name="Soundararajan, Janardhana (Cognizant)" userId="16d1fb41-3b8f-4daa-b25a-b3941fd1706c" providerId="ADAL" clId="{AE5AE93A-A3C8-4B32-894D-4412D7C2E483}" dt="2026-08-12T20:48:34.116" v="0" actId="47"/>
        <pc:sldMkLst>
          <pc:docMk/>
          <pc:sldMk cId="2081598541" sldId="281"/>
        </pc:sldMkLst>
      </pc:sldChg>
      <pc:sldChg chg="del">
        <pc:chgData name="Soundararajan, Janardhana (Cognizant)" userId="16d1fb41-3b8f-4daa-b25a-b3941fd1706c" providerId="ADAL" clId="{AE5AE93A-A3C8-4B32-894D-4412D7C2E483}" dt="2026-08-12T20:48:34.116" v="0" actId="47"/>
        <pc:sldMkLst>
          <pc:docMk/>
          <pc:sldMk cId="3069663992" sldId="282"/>
        </pc:sldMkLst>
      </pc:sldChg>
      <pc:sldChg chg="del">
        <pc:chgData name="Soundararajan, Janardhana (Cognizant)" userId="16d1fb41-3b8f-4daa-b25a-b3941fd1706c" providerId="ADAL" clId="{AE5AE93A-A3C8-4B32-894D-4412D7C2E483}" dt="2026-08-12T20:48:34.116" v="0" actId="47"/>
        <pc:sldMkLst>
          <pc:docMk/>
          <pc:sldMk cId="168519000" sldId="283"/>
        </pc:sldMkLst>
      </pc:sldChg>
      <pc:sldChg chg="del">
        <pc:chgData name="Soundararajan, Janardhana (Cognizant)" userId="16d1fb41-3b8f-4daa-b25a-b3941fd1706c" providerId="ADAL" clId="{AE5AE93A-A3C8-4B32-894D-4412D7C2E483}" dt="2026-08-12T20:48:34.116" v="0" actId="47"/>
        <pc:sldMkLst>
          <pc:docMk/>
          <pc:sldMk cId="3337284387" sldId="284"/>
        </pc:sldMkLst>
      </pc:sldChg>
      <pc:sldChg chg="del">
        <pc:chgData name="Soundararajan, Janardhana (Cognizant)" userId="16d1fb41-3b8f-4daa-b25a-b3941fd1706c" providerId="ADAL" clId="{AE5AE93A-A3C8-4B32-894D-4412D7C2E483}" dt="2026-08-12T20:48:34.116" v="0" actId="47"/>
        <pc:sldMkLst>
          <pc:docMk/>
          <pc:sldMk cId="3191307712" sldId="285"/>
        </pc:sldMkLst>
      </pc:sldChg>
      <pc:sldChg chg="del">
        <pc:chgData name="Soundararajan, Janardhana (Cognizant)" userId="16d1fb41-3b8f-4daa-b25a-b3941fd1706c" providerId="ADAL" clId="{AE5AE93A-A3C8-4B32-894D-4412D7C2E483}" dt="2026-08-12T20:48:34.116" v="0" actId="47"/>
        <pc:sldMkLst>
          <pc:docMk/>
          <pc:sldMk cId="4132286714" sldId="286"/>
        </pc:sldMkLst>
      </pc:sldChg>
      <pc:sldChg chg="del">
        <pc:chgData name="Soundararajan, Janardhana (Cognizant)" userId="16d1fb41-3b8f-4daa-b25a-b3941fd1706c" providerId="ADAL" clId="{AE5AE93A-A3C8-4B32-894D-4412D7C2E483}" dt="2026-08-12T20:48:34.116" v="0" actId="47"/>
        <pc:sldMkLst>
          <pc:docMk/>
          <pc:sldMk cId="3407097901"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0C2F2E-23A3-4D43-B639-82F7726028A6}" type="datetimeFigureOut">
              <a:rPr lang="en-US" smtClean="0"/>
              <a:t>8/12/2026</a:t>
            </a:fld>
            <a:endParaRPr lang="en-US"/>
          </a:p>
        </p:txBody>
      </p:sp>
      <p:sp>
        <p:nvSpPr>
          <p:cNvPr id="4" name="Slide Image Placeholder 3"/>
          <p:cNvSpPr>
            <a:spLocks noGrp="1" noRot="1" noChangeAspect="1"/>
          </p:cNvSpPr>
          <p:nvPr>
            <p:ph type="sldImg" idx="2"/>
          </p:nvPr>
        </p:nvSpPr>
        <p:spPr>
          <a:xfrm>
            <a:off x="-68263" y="1143000"/>
            <a:ext cx="6994526"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F349F9-84C8-4250-86B8-5C1801EB41F7}" type="slidenum">
              <a:rPr lang="en-US" smtClean="0"/>
              <a:t>‹#›</a:t>
            </a:fld>
            <a:endParaRPr lang="en-US"/>
          </a:p>
        </p:txBody>
      </p:sp>
    </p:spTree>
    <p:extLst>
      <p:ext uri="{BB962C8B-B14F-4D97-AF65-F5344CB8AC3E}">
        <p14:creationId xmlns:p14="http://schemas.microsoft.com/office/powerpoint/2010/main" val="3433121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3100" y="1122363"/>
            <a:ext cx="116586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943100" y="3602038"/>
            <a:ext cx="116586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2A8517-842F-4976-9D6C-E62F1775838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586970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A8517-842F-4976-9D6C-E62F1775838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990251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0609" y="1709739"/>
            <a:ext cx="1340739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1060609" y="4589464"/>
            <a:ext cx="1340739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2A8517-842F-4976-9D6C-E62F1775838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400286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8705" y="1825625"/>
            <a:ext cx="660654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69555" y="1825625"/>
            <a:ext cx="660654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2A8517-842F-4976-9D6C-E62F17758380}"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2148290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70730" y="365126"/>
            <a:ext cx="1340739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0731" y="1681163"/>
            <a:ext cx="65761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70731" y="2505075"/>
            <a:ext cx="657617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69555" y="1681163"/>
            <a:ext cx="66085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69555" y="2505075"/>
            <a:ext cx="660856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2A8517-842F-4976-9D6C-E62F17758380}" type="datetimeFigureOut">
              <a:rPr lang="en-US" smtClean="0"/>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94122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2A8517-842F-4976-9D6C-E62F17758380}" type="datetimeFigureOut">
              <a:rPr lang="en-US" smtClean="0"/>
              <a:t>8/12/2026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3517381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2A8517-842F-4976-9D6C-E62F17758380}" type="datetimeFigureOut">
              <a:rPr lang="en-US" smtClean="0"/>
              <a:t>8/12/2026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4224010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730" y="457200"/>
            <a:ext cx="5013602"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6608565" y="987426"/>
            <a:ext cx="786955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0730" y="2057400"/>
            <a:ext cx="501360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2A8517-842F-4976-9D6C-E62F17758380}"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626549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730" y="457200"/>
            <a:ext cx="5013602"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608565" y="987426"/>
            <a:ext cx="7869555"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70730" y="2057400"/>
            <a:ext cx="501360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2A8517-842F-4976-9D6C-E62F17758380}"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2756038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A8517-842F-4976-9D6C-E62F1775838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159073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24247" y="365125"/>
            <a:ext cx="3351848"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8705" y="365125"/>
            <a:ext cx="9861233"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A8517-842F-4976-9D6C-E62F1775838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F3951-C297-41AF-9024-0233186724BC}" type="slidenum">
              <a:rPr lang="en-US" smtClean="0"/>
              <a:t>‹#›</a:t>
            </a:fld>
            <a:endParaRPr lang="en-US"/>
          </a:p>
        </p:txBody>
      </p:sp>
    </p:spTree>
    <p:extLst>
      <p:ext uri="{BB962C8B-B14F-4D97-AF65-F5344CB8AC3E}">
        <p14:creationId xmlns:p14="http://schemas.microsoft.com/office/powerpoint/2010/main" val="4217703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8705" y="365126"/>
            <a:ext cx="1340739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8705" y="1825625"/>
            <a:ext cx="1340739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8705" y="6356351"/>
            <a:ext cx="349758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2A8517-842F-4976-9D6C-E62F17758380}" type="datetimeFigureOut">
              <a:rPr lang="en-US" smtClean="0"/>
              <a:t>8/12/2026</a:t>
            </a:fld>
            <a:endParaRPr lang="en-US"/>
          </a:p>
        </p:txBody>
      </p:sp>
      <p:sp>
        <p:nvSpPr>
          <p:cNvPr id="5" name="Footer Placeholder 4"/>
          <p:cNvSpPr>
            <a:spLocks noGrp="1"/>
          </p:cNvSpPr>
          <p:nvPr>
            <p:ph type="ftr" sz="quarter" idx="3"/>
          </p:nvPr>
        </p:nvSpPr>
        <p:spPr>
          <a:xfrm>
            <a:off x="5149215" y="6356351"/>
            <a:ext cx="524637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0978515" y="6356351"/>
            <a:ext cx="349758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DF3951-C297-41AF-9024-0233186724BC}" type="slidenum">
              <a:rPr lang="en-US" smtClean="0"/>
              <a:t>‹#›</a:t>
            </a:fld>
            <a:endParaRPr lang="en-US"/>
          </a:p>
        </p:txBody>
      </p:sp>
    </p:spTree>
    <p:extLst>
      <p:ext uri="{BB962C8B-B14F-4D97-AF65-F5344CB8AC3E}">
        <p14:creationId xmlns:p14="http://schemas.microsoft.com/office/powerpoint/2010/main" val="22727076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608C0-97C4-12FE-11C6-0712E7FFC40B}"/>
              </a:ext>
            </a:extLst>
          </p:cNvPr>
          <p:cNvSpPr>
            <a:spLocks noGrp="1"/>
          </p:cNvSpPr>
          <p:nvPr>
            <p:ph type="title"/>
          </p:nvPr>
        </p:nvSpPr>
        <p:spPr>
          <a:xfrm>
            <a:off x="1518047" y="2085023"/>
            <a:ext cx="13407390" cy="1690093"/>
          </a:xfrm>
        </p:spPr>
        <p:txBody>
          <a:bodyPr/>
          <a:lstStyle/>
          <a:p>
            <a:pPr algn="ctr"/>
            <a:r>
              <a:rPr lang="en-US" dirty="0"/>
              <a:t>Buy Shipment View</a:t>
            </a:r>
          </a:p>
        </p:txBody>
      </p:sp>
    </p:spTree>
    <p:extLst>
      <p:ext uri="{BB962C8B-B14F-4D97-AF65-F5344CB8AC3E}">
        <p14:creationId xmlns:p14="http://schemas.microsoft.com/office/powerpoint/2010/main" val="1306530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A32E62F0-29BB-AC2F-82A9-EE491A382AA6}"/>
              </a:ext>
            </a:extLst>
          </p:cNvPr>
          <p:cNvSpPr/>
          <p:nvPr/>
        </p:nvSpPr>
        <p:spPr>
          <a:xfrm>
            <a:off x="437198" y="-803315"/>
            <a:ext cx="14585394" cy="9594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4" name="TextBox 3">
            <a:extLst>
              <a:ext uri="{FF2B5EF4-FFF2-40B4-BE49-F238E27FC236}">
                <a16:creationId xmlns:a16="http://schemas.microsoft.com/office/drawing/2014/main" id="{2CB9B4D1-DD53-D207-8E8E-73A37FD4B772}"/>
              </a:ext>
            </a:extLst>
          </p:cNvPr>
          <p:cNvSpPr txBox="1"/>
          <p:nvPr/>
        </p:nvSpPr>
        <p:spPr>
          <a:xfrm>
            <a:off x="655796" y="-490388"/>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b="1" dirty="0"/>
              <a:t>Buy Shipment</a:t>
            </a:r>
          </a:p>
        </p:txBody>
      </p:sp>
      <p:sp>
        <p:nvSpPr>
          <p:cNvPr id="6" name="TextBox 5">
            <a:extLst>
              <a:ext uri="{FF2B5EF4-FFF2-40B4-BE49-F238E27FC236}">
                <a16:creationId xmlns:a16="http://schemas.microsoft.com/office/drawing/2014/main" id="{648C08BC-C847-AA79-124D-BEEE5D84C42E}"/>
              </a:ext>
            </a:extLst>
          </p:cNvPr>
          <p:cNvSpPr txBox="1"/>
          <p:nvPr/>
        </p:nvSpPr>
        <p:spPr>
          <a:xfrm>
            <a:off x="2100977" y="-490388"/>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dirty="0"/>
              <a:t>8956</a:t>
            </a:r>
          </a:p>
        </p:txBody>
      </p:sp>
      <p:sp>
        <p:nvSpPr>
          <p:cNvPr id="8" name="TextBox 7">
            <a:extLst>
              <a:ext uri="{FF2B5EF4-FFF2-40B4-BE49-F238E27FC236}">
                <a16:creationId xmlns:a16="http://schemas.microsoft.com/office/drawing/2014/main" id="{01CDE581-39BB-B306-A6AE-300AEFEBAF26}"/>
              </a:ext>
            </a:extLst>
          </p:cNvPr>
          <p:cNvSpPr txBox="1"/>
          <p:nvPr/>
        </p:nvSpPr>
        <p:spPr>
          <a:xfrm>
            <a:off x="3934778" y="-490388"/>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b="1" dirty="0"/>
              <a:t>Pro/Booking #</a:t>
            </a:r>
          </a:p>
        </p:txBody>
      </p:sp>
      <p:sp>
        <p:nvSpPr>
          <p:cNvPr id="10" name="TextBox 9">
            <a:extLst>
              <a:ext uri="{FF2B5EF4-FFF2-40B4-BE49-F238E27FC236}">
                <a16:creationId xmlns:a16="http://schemas.microsoft.com/office/drawing/2014/main" id="{CF404781-5C9E-474B-27BF-83224DD89431}"/>
              </a:ext>
            </a:extLst>
          </p:cNvPr>
          <p:cNvSpPr txBox="1"/>
          <p:nvPr/>
        </p:nvSpPr>
        <p:spPr>
          <a:xfrm>
            <a:off x="5379958" y="-490388"/>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dirty="0"/>
              <a:t>67819A88</a:t>
            </a:r>
          </a:p>
        </p:txBody>
      </p:sp>
      <p:sp>
        <p:nvSpPr>
          <p:cNvPr id="12" name="TextBox 11">
            <a:extLst>
              <a:ext uri="{FF2B5EF4-FFF2-40B4-BE49-F238E27FC236}">
                <a16:creationId xmlns:a16="http://schemas.microsoft.com/office/drawing/2014/main" id="{290EFF31-4EDA-6D6E-2EFF-58A34A1E999D}"/>
              </a:ext>
            </a:extLst>
          </p:cNvPr>
          <p:cNvSpPr txBox="1"/>
          <p:nvPr/>
        </p:nvSpPr>
        <p:spPr>
          <a:xfrm>
            <a:off x="6812994" y="-490388"/>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dirty="0">
                <a:solidFill>
                  <a:srgbClr val="0000FF"/>
                </a:solidFill>
              </a:rPr>
              <a:t>Tracking Link</a:t>
            </a:r>
          </a:p>
        </p:txBody>
      </p:sp>
      <p:sp>
        <p:nvSpPr>
          <p:cNvPr id="16" name="TextBox 15">
            <a:extLst>
              <a:ext uri="{FF2B5EF4-FFF2-40B4-BE49-F238E27FC236}">
                <a16:creationId xmlns:a16="http://schemas.microsoft.com/office/drawing/2014/main" id="{52D3E871-9F6C-C2A9-7128-B361B305F92C}"/>
              </a:ext>
            </a:extLst>
          </p:cNvPr>
          <p:cNvSpPr txBox="1"/>
          <p:nvPr/>
        </p:nvSpPr>
        <p:spPr>
          <a:xfrm>
            <a:off x="8804674" y="-490388"/>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b="1" dirty="0"/>
              <a:t>Rating Status</a:t>
            </a:r>
          </a:p>
        </p:txBody>
      </p:sp>
      <p:sp>
        <p:nvSpPr>
          <p:cNvPr id="18" name="TextBox 17">
            <a:extLst>
              <a:ext uri="{FF2B5EF4-FFF2-40B4-BE49-F238E27FC236}">
                <a16:creationId xmlns:a16="http://schemas.microsoft.com/office/drawing/2014/main" id="{D4CA0F9A-E9A9-7838-9836-B8DD79FC3F7A}"/>
              </a:ext>
            </a:extLst>
          </p:cNvPr>
          <p:cNvSpPr txBox="1"/>
          <p:nvPr/>
        </p:nvSpPr>
        <p:spPr>
          <a:xfrm>
            <a:off x="10249855" y="-490388"/>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dirty="0"/>
              <a:t>Successful</a:t>
            </a:r>
          </a:p>
        </p:txBody>
      </p:sp>
      <p:sp>
        <p:nvSpPr>
          <p:cNvPr id="20" name="TextBox 19">
            <a:extLst>
              <a:ext uri="{FF2B5EF4-FFF2-40B4-BE49-F238E27FC236}">
                <a16:creationId xmlns:a16="http://schemas.microsoft.com/office/drawing/2014/main" id="{906D2271-014D-137F-9458-C6F4DD32B410}"/>
              </a:ext>
            </a:extLst>
          </p:cNvPr>
          <p:cNvSpPr txBox="1"/>
          <p:nvPr/>
        </p:nvSpPr>
        <p:spPr>
          <a:xfrm>
            <a:off x="11939269" y="-490388"/>
            <a:ext cx="1504554"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b="1" dirty="0"/>
              <a:t>Sell Shipment</a:t>
            </a:r>
          </a:p>
        </p:txBody>
      </p:sp>
      <p:sp>
        <p:nvSpPr>
          <p:cNvPr id="22" name="TextBox 21">
            <a:extLst>
              <a:ext uri="{FF2B5EF4-FFF2-40B4-BE49-F238E27FC236}">
                <a16:creationId xmlns:a16="http://schemas.microsoft.com/office/drawing/2014/main" id="{EFB72937-3F63-2C38-6643-F7CFCDFE4423}"/>
              </a:ext>
            </a:extLst>
          </p:cNvPr>
          <p:cNvSpPr txBox="1"/>
          <p:nvPr/>
        </p:nvSpPr>
        <p:spPr>
          <a:xfrm>
            <a:off x="13528834" y="-490388"/>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dirty="0">
                <a:solidFill>
                  <a:srgbClr val="0000FF"/>
                </a:solidFill>
              </a:rPr>
              <a:t>9678</a:t>
            </a:r>
          </a:p>
        </p:txBody>
      </p:sp>
      <p:sp>
        <p:nvSpPr>
          <p:cNvPr id="25" name="Rectangle: Rounded Corners 24">
            <a:extLst>
              <a:ext uri="{FF2B5EF4-FFF2-40B4-BE49-F238E27FC236}">
                <a16:creationId xmlns:a16="http://schemas.microsoft.com/office/drawing/2014/main" id="{1CDFB74B-998D-FBD9-E60A-60B1469339F2}"/>
              </a:ext>
            </a:extLst>
          </p:cNvPr>
          <p:cNvSpPr/>
          <p:nvPr/>
        </p:nvSpPr>
        <p:spPr>
          <a:xfrm>
            <a:off x="655796" y="317745"/>
            <a:ext cx="14233208" cy="34732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295" dirty="0"/>
          </a:p>
        </p:txBody>
      </p:sp>
      <p:sp>
        <p:nvSpPr>
          <p:cNvPr id="26" name="TextBox 25">
            <a:extLst>
              <a:ext uri="{FF2B5EF4-FFF2-40B4-BE49-F238E27FC236}">
                <a16:creationId xmlns:a16="http://schemas.microsoft.com/office/drawing/2014/main" id="{DF6AC457-BD4E-00CA-0843-0667BE993658}"/>
              </a:ext>
            </a:extLst>
          </p:cNvPr>
          <p:cNvSpPr txBox="1"/>
          <p:nvPr/>
        </p:nvSpPr>
        <p:spPr>
          <a:xfrm>
            <a:off x="801529" y="463478"/>
            <a:ext cx="2987516" cy="445507"/>
          </a:xfrm>
          <a:prstGeom prst="rect">
            <a:avLst/>
          </a:prstGeom>
          <a:noFill/>
        </p:spPr>
        <p:txBody>
          <a:bodyPr wrap="square" rtlCol="0">
            <a:spAutoFit/>
          </a:bodyPr>
          <a:lstStyle/>
          <a:p>
            <a:r>
              <a:rPr lang="en-US" sz="2295" dirty="0">
                <a:solidFill>
                  <a:schemeClr val="bg1"/>
                </a:solidFill>
              </a:rPr>
              <a:t>General Information</a:t>
            </a:r>
          </a:p>
        </p:txBody>
      </p:sp>
      <p:graphicFrame>
        <p:nvGraphicFramePr>
          <p:cNvPr id="27" name="Table 26">
            <a:extLst>
              <a:ext uri="{FF2B5EF4-FFF2-40B4-BE49-F238E27FC236}">
                <a16:creationId xmlns:a16="http://schemas.microsoft.com/office/drawing/2014/main" id="{6B617BB1-D179-3103-C75A-36EE9A2E5974}"/>
              </a:ext>
            </a:extLst>
          </p:cNvPr>
          <p:cNvGraphicFramePr>
            <a:graphicFrameLocks noGrp="1"/>
          </p:cNvGraphicFramePr>
          <p:nvPr>
            <p:extLst>
              <p:ext uri="{D42A27DB-BD31-4B8C-83A1-F6EECF244321}">
                <p14:modId xmlns:p14="http://schemas.microsoft.com/office/powerpoint/2010/main" val="2258895414"/>
              </p:ext>
            </p:extLst>
          </p:nvPr>
        </p:nvGraphicFramePr>
        <p:xfrm>
          <a:off x="4104802" y="448904"/>
          <a:ext cx="5379958" cy="3210970"/>
        </p:xfrm>
        <a:graphic>
          <a:graphicData uri="http://schemas.openxmlformats.org/drawingml/2006/table">
            <a:tbl>
              <a:tblPr>
                <a:tableStyleId>{5C22544A-7EE6-4342-B048-85BDC9FD1C3A}</a:tableStyleId>
              </a:tblPr>
              <a:tblGrid>
                <a:gridCol w="1615199">
                  <a:extLst>
                    <a:ext uri="{9D8B030D-6E8A-4147-A177-3AD203B41FA5}">
                      <a16:colId xmlns:a16="http://schemas.microsoft.com/office/drawing/2014/main" val="236377758"/>
                    </a:ext>
                  </a:extLst>
                </a:gridCol>
                <a:gridCol w="2357344">
                  <a:extLst>
                    <a:ext uri="{9D8B030D-6E8A-4147-A177-3AD203B41FA5}">
                      <a16:colId xmlns:a16="http://schemas.microsoft.com/office/drawing/2014/main" val="3403117815"/>
                    </a:ext>
                  </a:extLst>
                </a:gridCol>
                <a:gridCol w="1407415">
                  <a:extLst>
                    <a:ext uri="{9D8B030D-6E8A-4147-A177-3AD203B41FA5}">
                      <a16:colId xmlns:a16="http://schemas.microsoft.com/office/drawing/2014/main" val="3309267894"/>
                    </a:ext>
                  </a:extLst>
                </a:gridCol>
              </a:tblGrid>
              <a:tr h="863060">
                <a:tc>
                  <a:txBody>
                    <a:bodyPr/>
                    <a:lstStyle/>
                    <a:p>
                      <a:pPr algn="l" fontAlgn="b">
                        <a:buNone/>
                      </a:pPr>
                      <a:r>
                        <a:rPr lang="en-US" sz="1400" u="none" strike="noStrike" dirty="0">
                          <a:effectLst/>
                        </a:rPr>
                        <a:t>Source Name</a:t>
                      </a:r>
                      <a:endParaRPr lang="en-US" sz="1400" b="0" i="0" u="none" strike="noStrike" dirty="0">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u="none" strike="noStrike">
                          <a:effectLst/>
                        </a:rPr>
                        <a:t>USALCO</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u="none" strike="noStrike">
                          <a:effectLst/>
                        </a:rPr>
                        <a:t>"org_long_name" looked up using SOURCE_ID passed on order</a:t>
                      </a: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2028686254"/>
                  </a:ext>
                </a:extLst>
              </a:tr>
              <a:tr h="234791">
                <a:tc>
                  <a:txBody>
                    <a:bodyPr/>
                    <a:lstStyle/>
                    <a:p>
                      <a:pPr algn="l" fontAlgn="b">
                        <a:buNone/>
                      </a:pPr>
                      <a:r>
                        <a:rPr lang="en-US" sz="1400" u="none" strike="noStrike" dirty="0">
                          <a:effectLst/>
                        </a:rPr>
                        <a:t>Shipment Status</a:t>
                      </a:r>
                      <a:endParaRPr lang="en-US" sz="1400" b="0" i="0" u="none" strike="noStrike" dirty="0">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u="none" strike="noStrike">
                          <a:effectLst/>
                        </a:rPr>
                        <a:t>Accepted</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2227994955"/>
                  </a:ext>
                </a:extLst>
              </a:tr>
              <a:tr h="234791">
                <a:tc>
                  <a:txBody>
                    <a:bodyPr/>
                    <a:lstStyle/>
                    <a:p>
                      <a:pPr algn="l" fontAlgn="b">
                        <a:buNone/>
                      </a:pPr>
                      <a:r>
                        <a:rPr lang="en-US" sz="1400" u="none" strike="noStrike" dirty="0">
                          <a:effectLst/>
                        </a:rPr>
                        <a:t>Carrier</a:t>
                      </a:r>
                      <a:endParaRPr lang="en-US" sz="1400" b="0" i="0" u="none" strike="noStrike" dirty="0">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u="none" strike="noStrike">
                          <a:effectLst/>
                        </a:rPr>
                        <a:t>CTNS</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endParaRPr lang="en-US" sz="1400" b="0" i="0" u="none" strike="noStrike" dirty="0">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2612083815"/>
                  </a:ext>
                </a:extLst>
              </a:tr>
              <a:tr h="234791">
                <a:tc>
                  <a:txBody>
                    <a:bodyPr/>
                    <a:lstStyle/>
                    <a:p>
                      <a:pPr algn="l" fontAlgn="b">
                        <a:buNone/>
                      </a:pPr>
                      <a:r>
                        <a:rPr lang="en-US" sz="1400" u="none" strike="noStrike" dirty="0">
                          <a:effectLst/>
                        </a:rPr>
                        <a:t>Pickup Date/Time</a:t>
                      </a:r>
                      <a:endParaRPr lang="en-US" sz="1400" b="0" i="0" u="none" strike="noStrike" dirty="0">
                        <a:solidFill>
                          <a:srgbClr val="000000"/>
                        </a:solidFill>
                        <a:effectLst/>
                        <a:latin typeface="Aptos Narrow" panose="020B0004020202020204" pitchFamily="34" charset="0"/>
                      </a:endParaRPr>
                    </a:p>
                  </a:txBody>
                  <a:tcPr marL="8096" marR="8096" marT="8096" marB="0" anchor="b"/>
                </a:tc>
                <a:tc gridSpan="2">
                  <a:txBody>
                    <a:bodyPr/>
                    <a:lstStyle/>
                    <a:p>
                      <a:pPr algn="l" fontAlgn="b">
                        <a:buNone/>
                      </a:pPr>
                      <a:r>
                        <a:rPr lang="en-US" sz="1400" u="none" strike="noStrike">
                          <a:effectLst/>
                        </a:rPr>
                        <a:t>from current option</a:t>
                      </a:r>
                      <a:endParaRPr lang="en-US" sz="1400" b="0" i="0" u="none" strike="noStrike">
                        <a:solidFill>
                          <a:srgbClr val="000000"/>
                        </a:solidFill>
                        <a:effectLst/>
                        <a:latin typeface="Aptos Narrow" panose="020B0004020202020204" pitchFamily="34" charset="0"/>
                      </a:endParaRPr>
                    </a:p>
                  </a:txBody>
                  <a:tcPr marL="8096" marR="8096" marT="8096" marB="0" anchor="b"/>
                </a:tc>
                <a:tc hMerge="1">
                  <a:txBody>
                    <a:bodyPr/>
                    <a:lstStyle/>
                    <a:p>
                      <a:endParaRPr lang="en-US"/>
                    </a:p>
                  </a:txBody>
                  <a:tcPr/>
                </a:tc>
                <a:extLst>
                  <a:ext uri="{0D108BD9-81ED-4DB2-BD59-A6C34878D82A}">
                    <a16:rowId xmlns:a16="http://schemas.microsoft.com/office/drawing/2014/main" val="2657508652"/>
                  </a:ext>
                </a:extLst>
              </a:tr>
              <a:tr h="234791">
                <a:tc>
                  <a:txBody>
                    <a:bodyPr/>
                    <a:lstStyle/>
                    <a:p>
                      <a:pPr algn="l" fontAlgn="b">
                        <a:buNone/>
                      </a:pPr>
                      <a:r>
                        <a:rPr lang="en-US" sz="1400" u="none" strike="noStrike" dirty="0">
                          <a:effectLst/>
                        </a:rPr>
                        <a:t>Delivery Date/Time</a:t>
                      </a:r>
                      <a:endParaRPr lang="en-US" sz="1400" b="0" i="0" u="none" strike="noStrike" dirty="0">
                        <a:solidFill>
                          <a:srgbClr val="000000"/>
                        </a:solidFill>
                        <a:effectLst/>
                        <a:latin typeface="Aptos Narrow" panose="020B0004020202020204" pitchFamily="34" charset="0"/>
                      </a:endParaRPr>
                    </a:p>
                  </a:txBody>
                  <a:tcPr marL="8096" marR="8096" marT="8096" marB="0" anchor="b"/>
                </a:tc>
                <a:tc gridSpan="2">
                  <a:txBody>
                    <a:bodyPr/>
                    <a:lstStyle/>
                    <a:p>
                      <a:pPr algn="l" fontAlgn="b">
                        <a:buNone/>
                      </a:pPr>
                      <a:r>
                        <a:rPr lang="en-US" sz="1400" u="none" strike="noStrike">
                          <a:effectLst/>
                        </a:rPr>
                        <a:t>from current option</a:t>
                      </a:r>
                      <a:endParaRPr lang="en-US" sz="1400" b="0" i="0" u="none" strike="noStrike">
                        <a:solidFill>
                          <a:srgbClr val="000000"/>
                        </a:solidFill>
                        <a:effectLst/>
                        <a:latin typeface="Aptos Narrow" panose="020B0004020202020204" pitchFamily="34" charset="0"/>
                      </a:endParaRPr>
                    </a:p>
                  </a:txBody>
                  <a:tcPr marL="8096" marR="8096" marT="8096" marB="0" anchor="b"/>
                </a:tc>
                <a:tc hMerge="1">
                  <a:txBody>
                    <a:bodyPr/>
                    <a:lstStyle/>
                    <a:p>
                      <a:endParaRPr lang="en-US"/>
                    </a:p>
                  </a:txBody>
                  <a:tcPr/>
                </a:tc>
                <a:extLst>
                  <a:ext uri="{0D108BD9-81ED-4DB2-BD59-A6C34878D82A}">
                    <a16:rowId xmlns:a16="http://schemas.microsoft.com/office/drawing/2014/main" val="3319248386"/>
                  </a:ext>
                </a:extLst>
              </a:tr>
              <a:tr h="234791">
                <a:tc>
                  <a:txBody>
                    <a:bodyPr/>
                    <a:lstStyle/>
                    <a:p>
                      <a:pPr algn="l" fontAlgn="b">
                        <a:buNone/>
                      </a:pPr>
                      <a:r>
                        <a:rPr lang="en-US" sz="1400" u="none" strike="noStrike" dirty="0">
                          <a:effectLst/>
                        </a:rPr>
                        <a:t>Gross Weight</a:t>
                      </a:r>
                      <a:endParaRPr lang="en-US" sz="1400" b="0" i="0" u="none" strike="noStrike" dirty="0">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u="none" strike="noStrike">
                          <a:effectLst/>
                        </a:rPr>
                        <a:t>44470 LB</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236644088"/>
                  </a:ext>
                </a:extLst>
              </a:tr>
              <a:tr h="234791">
                <a:tc>
                  <a:txBody>
                    <a:bodyPr/>
                    <a:lstStyle/>
                    <a:p>
                      <a:pPr algn="l" fontAlgn="b">
                        <a:buNone/>
                      </a:pPr>
                      <a:r>
                        <a:rPr lang="en-US" sz="1400" u="none" strike="noStrike">
                          <a:effectLst/>
                        </a:rPr>
                        <a:t>Volume</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200 </a:t>
                      </a:r>
                      <a:r>
                        <a:rPr lang="en-US" sz="1400" b="0" i="0" u="none" strike="noStrike" dirty="0" err="1">
                          <a:solidFill>
                            <a:srgbClr val="000000"/>
                          </a:solidFill>
                          <a:effectLst/>
                          <a:latin typeface="Aptos Narrow" panose="020B0004020202020204" pitchFamily="34" charset="0"/>
                        </a:rPr>
                        <a:t>cuft</a:t>
                      </a:r>
                      <a:endParaRPr lang="en-US" sz="1400" b="0" i="0" u="none" strike="noStrike" dirty="0">
                        <a:solidFill>
                          <a:srgbClr val="000000"/>
                        </a:solidFill>
                        <a:effectLst/>
                        <a:latin typeface="Aptos Narrow" panose="020B0004020202020204" pitchFamily="34" charset="0"/>
                      </a:endParaRPr>
                    </a:p>
                  </a:txBody>
                  <a:tcPr marL="8096" marR="8096" marT="8096"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2089420426"/>
                  </a:ext>
                </a:extLst>
              </a:tr>
              <a:tr h="234791">
                <a:tc>
                  <a:txBody>
                    <a:bodyPr/>
                    <a:lstStyle/>
                    <a:p>
                      <a:pPr algn="l" fontAlgn="b">
                        <a:buNone/>
                      </a:pPr>
                      <a:r>
                        <a:rPr lang="en-US" sz="1400" u="none" strike="noStrike">
                          <a:effectLst/>
                        </a:rPr>
                        <a:t>Mode</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u="none" strike="noStrike">
                          <a:effectLst/>
                        </a:rPr>
                        <a:t>LTL</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1638495658"/>
                  </a:ext>
                </a:extLst>
              </a:tr>
              <a:tr h="234791">
                <a:tc>
                  <a:txBody>
                    <a:bodyPr/>
                    <a:lstStyle/>
                    <a:p>
                      <a:pPr algn="l" fontAlgn="b">
                        <a:buNone/>
                      </a:pPr>
                      <a:r>
                        <a:rPr lang="en-US" sz="1400" u="none" strike="noStrike">
                          <a:effectLst/>
                        </a:rPr>
                        <a:t>Equipment</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u="none" strike="noStrike">
                          <a:effectLst/>
                        </a:rPr>
                        <a:t>LTL</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3240539616"/>
                  </a:ext>
                </a:extLst>
              </a:tr>
              <a:tr h="234791">
                <a:tc>
                  <a:txBody>
                    <a:bodyPr/>
                    <a:lstStyle/>
                    <a:p>
                      <a:pPr algn="l" fontAlgn="b">
                        <a:buNone/>
                      </a:pPr>
                      <a:r>
                        <a:rPr lang="en-US" sz="1400" u="none" strike="noStrike" dirty="0">
                          <a:effectLst/>
                        </a:rPr>
                        <a:t>Freight Term</a:t>
                      </a:r>
                      <a:endParaRPr lang="en-US" sz="1400" b="0" i="0" u="none" strike="noStrike" dirty="0">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u="none" strike="noStrike" dirty="0">
                          <a:effectLst/>
                        </a:rPr>
                        <a:t>Collect</a:t>
                      </a:r>
                      <a:endParaRPr lang="en-US" sz="1400" b="0" i="0" u="none" strike="noStrike" dirty="0">
                        <a:solidFill>
                          <a:srgbClr val="000000"/>
                        </a:solidFill>
                        <a:effectLst/>
                        <a:latin typeface="Aptos Narrow" panose="020B0004020202020204" pitchFamily="34" charset="0"/>
                      </a:endParaRPr>
                    </a:p>
                  </a:txBody>
                  <a:tcPr marL="8096" marR="8096" marT="8096"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2877304814"/>
                  </a:ext>
                </a:extLst>
              </a:tr>
              <a:tr h="234791">
                <a:tc>
                  <a:txBody>
                    <a:bodyPr/>
                    <a:lstStyle/>
                    <a:p>
                      <a:pPr algn="l" fontAlgn="b">
                        <a:buNone/>
                      </a:pPr>
                      <a:r>
                        <a:rPr lang="en-US" sz="1400" u="none" strike="noStrike" dirty="0">
                          <a:effectLst/>
                        </a:rPr>
                        <a:t>Hazmat</a:t>
                      </a:r>
                      <a:endParaRPr lang="en-US" sz="1400" b="0" i="0" u="none" strike="noStrike" dirty="0">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Yes</a:t>
                      </a:r>
                    </a:p>
                  </a:txBody>
                  <a:tcPr marL="8096" marR="8096" marT="8096"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 Yes / No</a:t>
                      </a:r>
                    </a:p>
                  </a:txBody>
                  <a:tcPr marL="8096" marR="8096" marT="8096" marB="0" anchor="b"/>
                </a:tc>
                <a:extLst>
                  <a:ext uri="{0D108BD9-81ED-4DB2-BD59-A6C34878D82A}">
                    <a16:rowId xmlns:a16="http://schemas.microsoft.com/office/drawing/2014/main" val="4116798785"/>
                  </a:ext>
                </a:extLst>
              </a:tr>
            </a:tbl>
          </a:graphicData>
        </a:graphic>
      </p:graphicFrame>
      <p:sp>
        <p:nvSpPr>
          <p:cNvPr id="29" name="Rectangle: Rounded Corners 28">
            <a:extLst>
              <a:ext uri="{FF2B5EF4-FFF2-40B4-BE49-F238E27FC236}">
                <a16:creationId xmlns:a16="http://schemas.microsoft.com/office/drawing/2014/main" id="{38654E48-6B0B-D1CB-5154-D90F30ED13A2}"/>
              </a:ext>
            </a:extLst>
          </p:cNvPr>
          <p:cNvSpPr/>
          <p:nvPr/>
        </p:nvSpPr>
        <p:spPr>
          <a:xfrm>
            <a:off x="613290" y="3922196"/>
            <a:ext cx="14233208" cy="10832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295" dirty="0"/>
          </a:p>
        </p:txBody>
      </p:sp>
      <p:sp>
        <p:nvSpPr>
          <p:cNvPr id="31" name="TextBox 30">
            <a:extLst>
              <a:ext uri="{FF2B5EF4-FFF2-40B4-BE49-F238E27FC236}">
                <a16:creationId xmlns:a16="http://schemas.microsoft.com/office/drawing/2014/main" id="{E755FD8D-9E0D-A795-207A-F4279DF0F097}"/>
              </a:ext>
            </a:extLst>
          </p:cNvPr>
          <p:cNvSpPr txBox="1"/>
          <p:nvPr/>
        </p:nvSpPr>
        <p:spPr>
          <a:xfrm>
            <a:off x="801529" y="3938136"/>
            <a:ext cx="2987516" cy="445507"/>
          </a:xfrm>
          <a:prstGeom prst="rect">
            <a:avLst/>
          </a:prstGeom>
          <a:noFill/>
        </p:spPr>
        <p:txBody>
          <a:bodyPr wrap="square" rtlCol="0">
            <a:spAutoFit/>
          </a:bodyPr>
          <a:lstStyle/>
          <a:p>
            <a:r>
              <a:rPr lang="en-US" sz="2295" dirty="0">
                <a:solidFill>
                  <a:schemeClr val="bg1"/>
                </a:solidFill>
              </a:rPr>
              <a:t>Cost</a:t>
            </a:r>
          </a:p>
        </p:txBody>
      </p:sp>
      <p:pic>
        <p:nvPicPr>
          <p:cNvPr id="33" name="Picture 32">
            <a:extLst>
              <a:ext uri="{FF2B5EF4-FFF2-40B4-BE49-F238E27FC236}">
                <a16:creationId xmlns:a16="http://schemas.microsoft.com/office/drawing/2014/main" id="{8885B1DA-C442-A95F-EEF4-BBCEBC9F3767}"/>
              </a:ext>
            </a:extLst>
          </p:cNvPr>
          <p:cNvPicPr>
            <a:picLocks noChangeAspect="1"/>
          </p:cNvPicPr>
          <p:nvPr/>
        </p:nvPicPr>
        <p:blipFill>
          <a:blip r:embed="rId2"/>
          <a:stretch>
            <a:fillRect/>
          </a:stretch>
        </p:blipFill>
        <p:spPr>
          <a:xfrm>
            <a:off x="1829535" y="4021779"/>
            <a:ext cx="8461016" cy="899597"/>
          </a:xfrm>
          <a:prstGeom prst="rect">
            <a:avLst/>
          </a:prstGeom>
        </p:spPr>
      </p:pic>
      <p:graphicFrame>
        <p:nvGraphicFramePr>
          <p:cNvPr id="34" name="Table 33">
            <a:extLst>
              <a:ext uri="{FF2B5EF4-FFF2-40B4-BE49-F238E27FC236}">
                <a16:creationId xmlns:a16="http://schemas.microsoft.com/office/drawing/2014/main" id="{66FAB650-3DB9-018F-1FD0-7424859FC9D8}"/>
              </a:ext>
            </a:extLst>
          </p:cNvPr>
          <p:cNvGraphicFramePr>
            <a:graphicFrameLocks noGrp="1"/>
          </p:cNvGraphicFramePr>
          <p:nvPr>
            <p:extLst>
              <p:ext uri="{D42A27DB-BD31-4B8C-83A1-F6EECF244321}">
                <p14:modId xmlns:p14="http://schemas.microsoft.com/office/powerpoint/2010/main" val="2310726122"/>
              </p:ext>
            </p:extLst>
          </p:nvPr>
        </p:nvGraphicFramePr>
        <p:xfrm>
          <a:off x="10853023" y="3253548"/>
          <a:ext cx="2590800" cy="1643537"/>
        </p:xfrm>
        <a:graphic>
          <a:graphicData uri="http://schemas.openxmlformats.org/drawingml/2006/table">
            <a:tbl>
              <a:tblPr>
                <a:tableStyleId>{5C22544A-7EE6-4342-B048-85BDC9FD1C3A}</a:tableStyleId>
              </a:tblPr>
              <a:tblGrid>
                <a:gridCol w="1603058">
                  <a:extLst>
                    <a:ext uri="{9D8B030D-6E8A-4147-A177-3AD203B41FA5}">
                      <a16:colId xmlns:a16="http://schemas.microsoft.com/office/drawing/2014/main" val="2406227042"/>
                    </a:ext>
                  </a:extLst>
                </a:gridCol>
                <a:gridCol w="987742">
                  <a:extLst>
                    <a:ext uri="{9D8B030D-6E8A-4147-A177-3AD203B41FA5}">
                      <a16:colId xmlns:a16="http://schemas.microsoft.com/office/drawing/2014/main" val="149456589"/>
                    </a:ext>
                  </a:extLst>
                </a:gridCol>
              </a:tblGrid>
              <a:tr h="234791">
                <a:tc>
                  <a:txBody>
                    <a:bodyPr/>
                    <a:lstStyle/>
                    <a:p>
                      <a:pPr algn="l" fontAlgn="b">
                        <a:buNone/>
                      </a:pPr>
                      <a:r>
                        <a:rPr lang="en-US" sz="1400" u="none" strike="noStrike" dirty="0">
                          <a:effectLst/>
                        </a:rPr>
                        <a:t>Base </a:t>
                      </a:r>
                      <a:endParaRPr lang="en-US" sz="1400" b="0" i="0" u="none" strike="noStrike" dirty="0">
                        <a:solidFill>
                          <a:srgbClr val="000000"/>
                        </a:solidFill>
                        <a:effectLst/>
                        <a:latin typeface="Aptos Narrow" panose="020B0004020202020204" pitchFamily="34" charset="0"/>
                      </a:endParaRPr>
                    </a:p>
                  </a:txBody>
                  <a:tcPr marL="8096" marR="8096" marT="8096" marB="0" anchor="b"/>
                </a:tc>
                <a:tc>
                  <a:txBody>
                    <a:bodyPr/>
                    <a:lstStyle/>
                    <a:p>
                      <a:pPr algn="r" fontAlgn="b">
                        <a:buNone/>
                      </a:pPr>
                      <a:r>
                        <a:rPr lang="en-US" sz="1400" u="none" strike="noStrike">
                          <a:effectLst/>
                        </a:rPr>
                        <a:t>$2,900.00 </a:t>
                      </a: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1338522249"/>
                  </a:ext>
                </a:extLst>
              </a:tr>
              <a:tr h="234791">
                <a:tc>
                  <a:txBody>
                    <a:bodyPr/>
                    <a:lstStyle/>
                    <a:p>
                      <a:pPr algn="l" fontAlgn="b">
                        <a:buNone/>
                      </a:pPr>
                      <a:r>
                        <a:rPr lang="en-US" sz="1400" u="none" strike="noStrike">
                          <a:effectLst/>
                        </a:rPr>
                        <a:t>Fuel (FSC)</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r" fontAlgn="b">
                        <a:buNone/>
                      </a:pPr>
                      <a:r>
                        <a:rPr lang="en-US" sz="1400" u="none" strike="noStrike">
                          <a:effectLst/>
                        </a:rPr>
                        <a:t>$250.00 </a:t>
                      </a: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3170501403"/>
                  </a:ext>
                </a:extLst>
              </a:tr>
              <a:tr h="234791">
                <a:tc>
                  <a:txBody>
                    <a:bodyPr/>
                    <a:lstStyle/>
                    <a:p>
                      <a:pPr algn="l" fontAlgn="b">
                        <a:buNone/>
                      </a:pPr>
                      <a:r>
                        <a:rPr lang="en-US" sz="1400" u="none" strike="noStrike">
                          <a:effectLst/>
                        </a:rPr>
                        <a:t>Accessorials</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r" fontAlgn="b">
                        <a:buNone/>
                      </a:pPr>
                      <a:r>
                        <a:rPr lang="en-US" sz="1400" u="none" strike="noStrike">
                          <a:effectLst/>
                        </a:rPr>
                        <a:t>$56.00 </a:t>
                      </a: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3927637635"/>
                  </a:ext>
                </a:extLst>
              </a:tr>
              <a:tr h="234791">
                <a:tc>
                  <a:txBody>
                    <a:bodyPr/>
                    <a:lstStyle/>
                    <a:p>
                      <a:pPr algn="l" fontAlgn="b">
                        <a:buNone/>
                      </a:pPr>
                      <a:r>
                        <a:rPr lang="en-US" sz="1400" u="none" strike="noStrike">
                          <a:effectLst/>
                        </a:rPr>
                        <a:t>AP Total (Carrier)</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r" fontAlgn="b">
                        <a:buNone/>
                      </a:pPr>
                      <a:r>
                        <a:rPr lang="en-US" sz="1400" u="none" strike="noStrike">
                          <a:effectLst/>
                        </a:rPr>
                        <a:t>$3,206.00 </a:t>
                      </a: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249067431"/>
                  </a:ext>
                </a:extLst>
              </a:tr>
              <a:tr h="234791">
                <a:tc>
                  <a:txBody>
                    <a:bodyPr/>
                    <a:lstStyle/>
                    <a:p>
                      <a:pPr algn="l" fontAlgn="b">
                        <a:buNone/>
                      </a:pPr>
                      <a:r>
                        <a:rPr lang="en-US" sz="1400" u="none" strike="noStrike">
                          <a:effectLst/>
                        </a:rPr>
                        <a:t>AR Total (Customer)</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r" fontAlgn="b">
                        <a:buNone/>
                      </a:pPr>
                      <a:r>
                        <a:rPr lang="en-US" sz="1400" u="none" strike="noStrike">
                          <a:effectLst/>
                        </a:rPr>
                        <a:t>$3,456.00 </a:t>
                      </a: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431292972"/>
                  </a:ext>
                </a:extLst>
              </a:tr>
              <a:tr h="234791">
                <a:tc>
                  <a:txBody>
                    <a:bodyPr/>
                    <a:lstStyle/>
                    <a:p>
                      <a:pPr algn="l" fontAlgn="b">
                        <a:buNone/>
                      </a:pPr>
                      <a:r>
                        <a:rPr lang="en-US" sz="1400" u="none" strike="noStrike">
                          <a:effectLst/>
                        </a:rPr>
                        <a:t>Margin</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l" fontAlgn="b">
                        <a:buNone/>
                      </a:pPr>
                      <a:r>
                        <a:rPr lang="en-US" sz="1400" u="none" strike="noStrike">
                          <a:effectLst/>
                        </a:rPr>
                        <a:t>$ 250 - 7.7%</a:t>
                      </a:r>
                      <a:endParaRPr lang="en-US" sz="1400" b="0" i="0" u="none" strike="noStrike">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2349130055"/>
                  </a:ext>
                </a:extLst>
              </a:tr>
              <a:tr h="234791">
                <a:tc>
                  <a:txBody>
                    <a:bodyPr/>
                    <a:lstStyle/>
                    <a:p>
                      <a:pPr algn="l" fontAlgn="b">
                        <a:buNone/>
                      </a:pPr>
                      <a:r>
                        <a:rPr lang="en-US" sz="1400" u="none" strike="noStrike">
                          <a:effectLst/>
                        </a:rPr>
                        <a:t>Direct Cost</a:t>
                      </a:r>
                      <a:endParaRPr lang="en-US" sz="1400" b="0" i="0" u="none" strike="noStrike">
                        <a:solidFill>
                          <a:srgbClr val="000000"/>
                        </a:solidFill>
                        <a:effectLst/>
                        <a:latin typeface="Aptos Narrow" panose="020B0004020202020204" pitchFamily="34" charset="0"/>
                      </a:endParaRPr>
                    </a:p>
                  </a:txBody>
                  <a:tcPr marL="8096" marR="8096" marT="8096" marB="0" anchor="b"/>
                </a:tc>
                <a:tc>
                  <a:txBody>
                    <a:bodyPr/>
                    <a:lstStyle/>
                    <a:p>
                      <a:pPr algn="r" fontAlgn="b">
                        <a:buNone/>
                      </a:pPr>
                      <a:r>
                        <a:rPr lang="en-US" sz="1400" u="none" strike="noStrike" dirty="0">
                          <a:effectLst/>
                        </a:rPr>
                        <a:t>$3,906.00 </a:t>
                      </a:r>
                      <a:endParaRPr lang="en-US" sz="1400" b="0" i="0" u="none" strike="noStrike" dirty="0">
                        <a:solidFill>
                          <a:srgbClr val="000000"/>
                        </a:solidFill>
                        <a:effectLst/>
                        <a:latin typeface="Aptos Narrow" panose="020B0004020202020204" pitchFamily="34" charset="0"/>
                      </a:endParaRPr>
                    </a:p>
                  </a:txBody>
                  <a:tcPr marL="8096" marR="8096" marT="8096" marB="0" anchor="b"/>
                </a:tc>
                <a:extLst>
                  <a:ext uri="{0D108BD9-81ED-4DB2-BD59-A6C34878D82A}">
                    <a16:rowId xmlns:a16="http://schemas.microsoft.com/office/drawing/2014/main" val="258714647"/>
                  </a:ext>
                </a:extLst>
              </a:tr>
            </a:tbl>
          </a:graphicData>
        </a:graphic>
      </p:graphicFrame>
      <p:sp>
        <p:nvSpPr>
          <p:cNvPr id="36" name="Rectangle: Rounded Corners 35">
            <a:extLst>
              <a:ext uri="{FF2B5EF4-FFF2-40B4-BE49-F238E27FC236}">
                <a16:creationId xmlns:a16="http://schemas.microsoft.com/office/drawing/2014/main" id="{9B1D97A8-BB6D-917D-AD0A-AD45A6DE8D06}"/>
              </a:ext>
            </a:extLst>
          </p:cNvPr>
          <p:cNvSpPr/>
          <p:nvPr/>
        </p:nvSpPr>
        <p:spPr>
          <a:xfrm>
            <a:off x="613290" y="5136633"/>
            <a:ext cx="14233208" cy="10832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295" dirty="0"/>
          </a:p>
        </p:txBody>
      </p:sp>
      <p:sp>
        <p:nvSpPr>
          <p:cNvPr id="38" name="TextBox 37">
            <a:extLst>
              <a:ext uri="{FF2B5EF4-FFF2-40B4-BE49-F238E27FC236}">
                <a16:creationId xmlns:a16="http://schemas.microsoft.com/office/drawing/2014/main" id="{6E0C5DBD-3DFB-4B31-F2B7-7C43D63F1BEE}"/>
              </a:ext>
            </a:extLst>
          </p:cNvPr>
          <p:cNvSpPr txBox="1"/>
          <p:nvPr/>
        </p:nvSpPr>
        <p:spPr>
          <a:xfrm>
            <a:off x="801529" y="5136634"/>
            <a:ext cx="2987516" cy="445507"/>
          </a:xfrm>
          <a:prstGeom prst="rect">
            <a:avLst/>
          </a:prstGeom>
          <a:noFill/>
        </p:spPr>
        <p:txBody>
          <a:bodyPr wrap="square" rtlCol="0">
            <a:spAutoFit/>
          </a:bodyPr>
          <a:lstStyle/>
          <a:p>
            <a:r>
              <a:rPr lang="en-US" sz="2295" dirty="0">
                <a:solidFill>
                  <a:schemeClr val="bg1"/>
                </a:solidFill>
              </a:rPr>
              <a:t>Stops</a:t>
            </a:r>
          </a:p>
        </p:txBody>
      </p:sp>
      <p:sp>
        <p:nvSpPr>
          <p:cNvPr id="39" name="Arrow: Quad 38">
            <a:extLst>
              <a:ext uri="{FF2B5EF4-FFF2-40B4-BE49-F238E27FC236}">
                <a16:creationId xmlns:a16="http://schemas.microsoft.com/office/drawing/2014/main" id="{C127B3F4-E492-F0F0-4741-EA3EE7346474}"/>
              </a:ext>
            </a:extLst>
          </p:cNvPr>
          <p:cNvSpPr/>
          <p:nvPr/>
        </p:nvSpPr>
        <p:spPr>
          <a:xfrm>
            <a:off x="1700213" y="5233893"/>
            <a:ext cx="400764" cy="414930"/>
          </a:xfrm>
          <a:prstGeom prst="quad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pic>
        <p:nvPicPr>
          <p:cNvPr id="41" name="Picture 40">
            <a:extLst>
              <a:ext uri="{FF2B5EF4-FFF2-40B4-BE49-F238E27FC236}">
                <a16:creationId xmlns:a16="http://schemas.microsoft.com/office/drawing/2014/main" id="{AEC6D803-4004-D202-6918-8535BBD358C3}"/>
              </a:ext>
            </a:extLst>
          </p:cNvPr>
          <p:cNvPicPr>
            <a:picLocks noChangeAspect="1"/>
          </p:cNvPicPr>
          <p:nvPr/>
        </p:nvPicPr>
        <p:blipFill>
          <a:blip r:embed="rId3"/>
          <a:stretch>
            <a:fillRect/>
          </a:stretch>
        </p:blipFill>
        <p:spPr>
          <a:xfrm>
            <a:off x="2318424" y="5157975"/>
            <a:ext cx="4932920" cy="1044085"/>
          </a:xfrm>
          <a:prstGeom prst="rect">
            <a:avLst/>
          </a:prstGeom>
        </p:spPr>
      </p:pic>
      <p:sp>
        <p:nvSpPr>
          <p:cNvPr id="42" name="TextBox 41">
            <a:extLst>
              <a:ext uri="{FF2B5EF4-FFF2-40B4-BE49-F238E27FC236}">
                <a16:creationId xmlns:a16="http://schemas.microsoft.com/office/drawing/2014/main" id="{F6BDFEB3-8764-386B-0AB7-CCB61F47A1F8}"/>
              </a:ext>
            </a:extLst>
          </p:cNvPr>
          <p:cNvSpPr txBox="1"/>
          <p:nvPr/>
        </p:nvSpPr>
        <p:spPr>
          <a:xfrm>
            <a:off x="9630492" y="5149171"/>
            <a:ext cx="3959066" cy="798680"/>
          </a:xfrm>
          <a:prstGeom prst="rect">
            <a:avLst/>
          </a:prstGeom>
          <a:noFill/>
        </p:spPr>
        <p:txBody>
          <a:bodyPr wrap="square" rtlCol="0">
            <a:spAutoFit/>
          </a:bodyPr>
          <a:lstStyle/>
          <a:p>
            <a:r>
              <a:rPr lang="en-US" sz="1530" dirty="0">
                <a:solidFill>
                  <a:schemeClr val="bg1"/>
                </a:solidFill>
              </a:rPr>
              <a:t>- Hyper link on the order</a:t>
            </a:r>
          </a:p>
          <a:p>
            <a:pPr marL="218599" indent="-218599">
              <a:buFontTx/>
              <a:buChar char="-"/>
            </a:pPr>
            <a:r>
              <a:rPr lang="en-US" sz="1530" dirty="0">
                <a:solidFill>
                  <a:schemeClr val="bg1"/>
                </a:solidFill>
              </a:rPr>
              <a:t>Address should be included </a:t>
            </a:r>
          </a:p>
          <a:p>
            <a:pPr marL="218599" indent="-218599">
              <a:buFontTx/>
              <a:buChar char="-"/>
            </a:pPr>
            <a:r>
              <a:rPr lang="en-US" sz="1530" dirty="0">
                <a:solidFill>
                  <a:schemeClr val="bg1"/>
                </a:solidFill>
              </a:rPr>
              <a:t>Check story – LINX -</a:t>
            </a:r>
          </a:p>
        </p:txBody>
      </p:sp>
      <p:sp>
        <p:nvSpPr>
          <p:cNvPr id="44" name="Rectangle: Rounded Corners 43">
            <a:extLst>
              <a:ext uri="{FF2B5EF4-FFF2-40B4-BE49-F238E27FC236}">
                <a16:creationId xmlns:a16="http://schemas.microsoft.com/office/drawing/2014/main" id="{FFAB36C6-6BB3-4492-2F93-A0DF3E58423F}"/>
              </a:ext>
            </a:extLst>
          </p:cNvPr>
          <p:cNvSpPr/>
          <p:nvPr/>
        </p:nvSpPr>
        <p:spPr>
          <a:xfrm>
            <a:off x="613290" y="6253915"/>
            <a:ext cx="14233208" cy="13261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295" dirty="0"/>
          </a:p>
        </p:txBody>
      </p:sp>
      <p:sp>
        <p:nvSpPr>
          <p:cNvPr id="46" name="TextBox 45">
            <a:extLst>
              <a:ext uri="{FF2B5EF4-FFF2-40B4-BE49-F238E27FC236}">
                <a16:creationId xmlns:a16="http://schemas.microsoft.com/office/drawing/2014/main" id="{6B48640B-FDC7-1497-EDB1-B69DB0B0AA20}"/>
              </a:ext>
            </a:extLst>
          </p:cNvPr>
          <p:cNvSpPr txBox="1"/>
          <p:nvPr/>
        </p:nvSpPr>
        <p:spPr>
          <a:xfrm>
            <a:off x="801529" y="6332853"/>
            <a:ext cx="2987516" cy="445507"/>
          </a:xfrm>
          <a:prstGeom prst="rect">
            <a:avLst/>
          </a:prstGeom>
          <a:noFill/>
        </p:spPr>
        <p:txBody>
          <a:bodyPr wrap="square" rtlCol="0">
            <a:spAutoFit/>
          </a:bodyPr>
          <a:lstStyle/>
          <a:p>
            <a:r>
              <a:rPr lang="en-US" sz="2295" dirty="0">
                <a:solidFill>
                  <a:schemeClr val="bg1"/>
                </a:solidFill>
              </a:rPr>
              <a:t>User Defined Fields</a:t>
            </a:r>
          </a:p>
        </p:txBody>
      </p:sp>
      <p:sp>
        <p:nvSpPr>
          <p:cNvPr id="48" name="TextBox 47">
            <a:extLst>
              <a:ext uri="{FF2B5EF4-FFF2-40B4-BE49-F238E27FC236}">
                <a16:creationId xmlns:a16="http://schemas.microsoft.com/office/drawing/2014/main" id="{D4E83721-69C0-D87A-684B-1BCDCF5E42ED}"/>
              </a:ext>
            </a:extLst>
          </p:cNvPr>
          <p:cNvSpPr txBox="1"/>
          <p:nvPr/>
        </p:nvSpPr>
        <p:spPr>
          <a:xfrm>
            <a:off x="801529" y="6873279"/>
            <a:ext cx="3983355" cy="445507"/>
          </a:xfrm>
          <a:prstGeom prst="rect">
            <a:avLst/>
          </a:prstGeom>
          <a:noFill/>
        </p:spPr>
        <p:txBody>
          <a:bodyPr wrap="square" rtlCol="0">
            <a:spAutoFit/>
          </a:bodyPr>
          <a:lstStyle/>
          <a:p>
            <a:r>
              <a:rPr lang="en-US" sz="2295" dirty="0">
                <a:solidFill>
                  <a:schemeClr val="bg1"/>
                </a:solidFill>
              </a:rPr>
              <a:t>Customer Reference Values</a:t>
            </a:r>
          </a:p>
        </p:txBody>
      </p:sp>
      <p:pic>
        <p:nvPicPr>
          <p:cNvPr id="50" name="Picture 49">
            <a:extLst>
              <a:ext uri="{FF2B5EF4-FFF2-40B4-BE49-F238E27FC236}">
                <a16:creationId xmlns:a16="http://schemas.microsoft.com/office/drawing/2014/main" id="{14E2A891-14C3-3A6D-E14D-A9D614B033E7}"/>
              </a:ext>
            </a:extLst>
          </p:cNvPr>
          <p:cNvPicPr>
            <a:picLocks noChangeAspect="1"/>
          </p:cNvPicPr>
          <p:nvPr/>
        </p:nvPicPr>
        <p:blipFill>
          <a:blip r:embed="rId4"/>
          <a:stretch>
            <a:fillRect/>
          </a:stretch>
        </p:blipFill>
        <p:spPr>
          <a:xfrm>
            <a:off x="3647365" y="6332487"/>
            <a:ext cx="14112489" cy="559376"/>
          </a:xfrm>
          <a:prstGeom prst="rect">
            <a:avLst/>
          </a:prstGeom>
        </p:spPr>
      </p:pic>
      <p:pic>
        <p:nvPicPr>
          <p:cNvPr id="52" name="Picture 51">
            <a:extLst>
              <a:ext uri="{FF2B5EF4-FFF2-40B4-BE49-F238E27FC236}">
                <a16:creationId xmlns:a16="http://schemas.microsoft.com/office/drawing/2014/main" id="{8DBDB1AC-FD3B-8451-D107-EF74636217D3}"/>
              </a:ext>
            </a:extLst>
          </p:cNvPr>
          <p:cNvPicPr>
            <a:picLocks noChangeAspect="1"/>
          </p:cNvPicPr>
          <p:nvPr/>
        </p:nvPicPr>
        <p:blipFill>
          <a:blip r:embed="rId5"/>
          <a:stretch>
            <a:fillRect/>
          </a:stretch>
        </p:blipFill>
        <p:spPr>
          <a:xfrm>
            <a:off x="4614863" y="7036835"/>
            <a:ext cx="4088817" cy="510091"/>
          </a:xfrm>
          <a:prstGeom prst="rect">
            <a:avLst/>
          </a:prstGeom>
        </p:spPr>
      </p:pic>
    </p:spTree>
    <p:extLst>
      <p:ext uri="{BB962C8B-B14F-4D97-AF65-F5344CB8AC3E}">
        <p14:creationId xmlns:p14="http://schemas.microsoft.com/office/powerpoint/2010/main" val="2474474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792102-ABB2-E924-124D-C97BDE185346}"/>
              </a:ext>
            </a:extLst>
          </p:cNvPr>
          <p:cNvSpPr/>
          <p:nvPr/>
        </p:nvSpPr>
        <p:spPr>
          <a:xfrm>
            <a:off x="95249" y="45358"/>
            <a:ext cx="1645920" cy="514350"/>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30" dirty="0"/>
              <a:t>Cancel Tender</a:t>
            </a:r>
          </a:p>
        </p:txBody>
      </p:sp>
      <p:sp>
        <p:nvSpPr>
          <p:cNvPr id="5" name="TextBox 4">
            <a:extLst>
              <a:ext uri="{FF2B5EF4-FFF2-40B4-BE49-F238E27FC236}">
                <a16:creationId xmlns:a16="http://schemas.microsoft.com/office/drawing/2014/main" id="{4643BEBE-35F8-C7B3-72F8-C3F7CCE7AC42}"/>
              </a:ext>
            </a:extLst>
          </p:cNvPr>
          <p:cNvSpPr txBox="1"/>
          <p:nvPr/>
        </p:nvSpPr>
        <p:spPr>
          <a:xfrm>
            <a:off x="265362" y="-715951"/>
            <a:ext cx="8116637" cy="646331"/>
          </a:xfrm>
          <a:prstGeom prst="rect">
            <a:avLst/>
          </a:prstGeom>
          <a:noFill/>
        </p:spPr>
        <p:txBody>
          <a:bodyPr wrap="square" rtlCol="0">
            <a:spAutoFit/>
          </a:bodyPr>
          <a:lstStyle/>
          <a:p>
            <a:r>
              <a:rPr lang="en-US" sz="3600" dirty="0"/>
              <a:t>Review Order Change - Direct – Page 1/3</a:t>
            </a:r>
          </a:p>
        </p:txBody>
      </p:sp>
      <p:sp>
        <p:nvSpPr>
          <p:cNvPr id="7" name="TextBox 6">
            <a:extLst>
              <a:ext uri="{FF2B5EF4-FFF2-40B4-BE49-F238E27FC236}">
                <a16:creationId xmlns:a16="http://schemas.microsoft.com/office/drawing/2014/main" id="{302E56BB-3FA0-F224-1A9F-2FD48C6594DF}"/>
              </a:ext>
            </a:extLst>
          </p:cNvPr>
          <p:cNvSpPr txBox="1"/>
          <p:nvPr/>
        </p:nvSpPr>
        <p:spPr>
          <a:xfrm>
            <a:off x="1981915" y="145883"/>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b="1" dirty="0"/>
              <a:t>Buy Shipment</a:t>
            </a:r>
          </a:p>
        </p:txBody>
      </p:sp>
      <p:sp>
        <p:nvSpPr>
          <p:cNvPr id="9" name="TextBox 8">
            <a:extLst>
              <a:ext uri="{FF2B5EF4-FFF2-40B4-BE49-F238E27FC236}">
                <a16:creationId xmlns:a16="http://schemas.microsoft.com/office/drawing/2014/main" id="{FEC4C243-D54D-A333-B2E6-5286196E956F}"/>
              </a:ext>
            </a:extLst>
          </p:cNvPr>
          <p:cNvSpPr txBox="1"/>
          <p:nvPr/>
        </p:nvSpPr>
        <p:spPr>
          <a:xfrm>
            <a:off x="3427095" y="145882"/>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u="sng" dirty="0">
                <a:solidFill>
                  <a:srgbClr val="0000FF"/>
                </a:solidFill>
              </a:rPr>
              <a:t>8956</a:t>
            </a:r>
          </a:p>
        </p:txBody>
      </p:sp>
      <p:sp>
        <p:nvSpPr>
          <p:cNvPr id="10" name="Rectangle 9">
            <a:extLst>
              <a:ext uri="{FF2B5EF4-FFF2-40B4-BE49-F238E27FC236}">
                <a16:creationId xmlns:a16="http://schemas.microsoft.com/office/drawing/2014/main" id="{6ECB4300-0A3E-32EB-85A1-EE025EA2A9B3}"/>
              </a:ext>
            </a:extLst>
          </p:cNvPr>
          <p:cNvSpPr/>
          <p:nvPr/>
        </p:nvSpPr>
        <p:spPr>
          <a:xfrm>
            <a:off x="265363" y="1057552"/>
            <a:ext cx="1203221" cy="514350"/>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Re-Tender</a:t>
            </a:r>
          </a:p>
        </p:txBody>
      </p:sp>
      <p:sp>
        <p:nvSpPr>
          <p:cNvPr id="11" name="Rectangle 10">
            <a:extLst>
              <a:ext uri="{FF2B5EF4-FFF2-40B4-BE49-F238E27FC236}">
                <a16:creationId xmlns:a16="http://schemas.microsoft.com/office/drawing/2014/main" id="{A09F1A28-8821-7CB2-214A-A25946966D54}"/>
              </a:ext>
            </a:extLst>
          </p:cNvPr>
          <p:cNvSpPr/>
          <p:nvPr/>
        </p:nvSpPr>
        <p:spPr>
          <a:xfrm>
            <a:off x="82485" y="899537"/>
            <a:ext cx="5556315" cy="21611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12" name="TextBox 11">
            <a:extLst>
              <a:ext uri="{FF2B5EF4-FFF2-40B4-BE49-F238E27FC236}">
                <a16:creationId xmlns:a16="http://schemas.microsoft.com/office/drawing/2014/main" id="{04A3927F-D3FA-D300-B3FA-D5646D11CC1E}"/>
              </a:ext>
            </a:extLst>
          </p:cNvPr>
          <p:cNvSpPr txBox="1"/>
          <p:nvPr/>
        </p:nvSpPr>
        <p:spPr>
          <a:xfrm>
            <a:off x="48194" y="565345"/>
            <a:ext cx="2080259" cy="327782"/>
          </a:xfrm>
          <a:prstGeom prst="rect">
            <a:avLst/>
          </a:prstGeom>
          <a:noFill/>
        </p:spPr>
        <p:txBody>
          <a:bodyPr wrap="square" rtlCol="0">
            <a:spAutoFit/>
          </a:bodyPr>
          <a:lstStyle/>
          <a:p>
            <a:r>
              <a:rPr lang="en-US" sz="1530" dirty="0"/>
              <a:t>Keep Tender</a:t>
            </a:r>
          </a:p>
        </p:txBody>
      </p:sp>
      <p:sp>
        <p:nvSpPr>
          <p:cNvPr id="13" name="Rectangle 12">
            <a:extLst>
              <a:ext uri="{FF2B5EF4-FFF2-40B4-BE49-F238E27FC236}">
                <a16:creationId xmlns:a16="http://schemas.microsoft.com/office/drawing/2014/main" id="{94D10A9C-1F5C-0C6B-4FD4-CA6EABEF2573}"/>
              </a:ext>
            </a:extLst>
          </p:cNvPr>
          <p:cNvSpPr/>
          <p:nvPr/>
        </p:nvSpPr>
        <p:spPr>
          <a:xfrm>
            <a:off x="265363" y="2164402"/>
            <a:ext cx="1203221" cy="514350"/>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Bypass Tender </a:t>
            </a:r>
          </a:p>
        </p:txBody>
      </p:sp>
      <p:grpSp>
        <p:nvGrpSpPr>
          <p:cNvPr id="17" name="Group 16">
            <a:extLst>
              <a:ext uri="{FF2B5EF4-FFF2-40B4-BE49-F238E27FC236}">
                <a16:creationId xmlns:a16="http://schemas.microsoft.com/office/drawing/2014/main" id="{F28BABBD-66B0-D783-51E7-0778CB94884A}"/>
              </a:ext>
            </a:extLst>
          </p:cNvPr>
          <p:cNvGrpSpPr/>
          <p:nvPr/>
        </p:nvGrpSpPr>
        <p:grpSpPr>
          <a:xfrm>
            <a:off x="1671784" y="1234233"/>
            <a:ext cx="252838" cy="210698"/>
            <a:chOff x="2181339" y="1663547"/>
            <a:chExt cx="461953" cy="403412"/>
          </a:xfrm>
        </p:grpSpPr>
        <p:sp>
          <p:nvSpPr>
            <p:cNvPr id="14" name="Oval 13">
              <a:extLst>
                <a:ext uri="{FF2B5EF4-FFF2-40B4-BE49-F238E27FC236}">
                  <a16:creationId xmlns:a16="http://schemas.microsoft.com/office/drawing/2014/main" id="{288944C3-A820-042D-3D56-B7A5B6CBDC5E}"/>
                </a:ext>
              </a:extLst>
            </p:cNvPr>
            <p:cNvSpPr/>
            <p:nvPr/>
          </p:nvSpPr>
          <p:spPr>
            <a:xfrm>
              <a:off x="2181339" y="1663547"/>
              <a:ext cx="461953" cy="4034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16" name="Oval 15">
              <a:extLst>
                <a:ext uri="{FF2B5EF4-FFF2-40B4-BE49-F238E27FC236}">
                  <a16:creationId xmlns:a16="http://schemas.microsoft.com/office/drawing/2014/main" id="{C26818CC-3ED5-F68F-6F57-484CBCB8F23E}"/>
                </a:ext>
              </a:extLst>
            </p:cNvPr>
            <p:cNvSpPr/>
            <p:nvPr/>
          </p:nvSpPr>
          <p:spPr>
            <a:xfrm>
              <a:off x="2339787" y="1770747"/>
              <a:ext cx="145056" cy="15650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grpSp>
      <p:sp>
        <p:nvSpPr>
          <p:cNvPr id="18" name="Rectangle 17">
            <a:extLst>
              <a:ext uri="{FF2B5EF4-FFF2-40B4-BE49-F238E27FC236}">
                <a16:creationId xmlns:a16="http://schemas.microsoft.com/office/drawing/2014/main" id="{5969984D-681D-0283-25D0-EFBB044741E3}"/>
              </a:ext>
            </a:extLst>
          </p:cNvPr>
          <p:cNvSpPr/>
          <p:nvPr/>
        </p:nvSpPr>
        <p:spPr>
          <a:xfrm>
            <a:off x="2155022" y="1091327"/>
            <a:ext cx="931050" cy="51435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Prior Cost</a:t>
            </a:r>
          </a:p>
        </p:txBody>
      </p:sp>
      <p:sp>
        <p:nvSpPr>
          <p:cNvPr id="19" name="Rectangle 18">
            <a:extLst>
              <a:ext uri="{FF2B5EF4-FFF2-40B4-BE49-F238E27FC236}">
                <a16:creationId xmlns:a16="http://schemas.microsoft.com/office/drawing/2014/main" id="{D5B795B2-16C7-4C55-543C-7FB849243A67}"/>
              </a:ext>
            </a:extLst>
          </p:cNvPr>
          <p:cNvSpPr/>
          <p:nvPr/>
        </p:nvSpPr>
        <p:spPr>
          <a:xfrm>
            <a:off x="2155022" y="1712493"/>
            <a:ext cx="931050" cy="51435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New Cost</a:t>
            </a:r>
          </a:p>
        </p:txBody>
      </p:sp>
      <p:sp>
        <p:nvSpPr>
          <p:cNvPr id="20" name="Rectangle 19">
            <a:extLst>
              <a:ext uri="{FF2B5EF4-FFF2-40B4-BE49-F238E27FC236}">
                <a16:creationId xmlns:a16="http://schemas.microsoft.com/office/drawing/2014/main" id="{6B81F0F8-19FE-7095-D229-A97F03DF6DAD}"/>
              </a:ext>
            </a:extLst>
          </p:cNvPr>
          <p:cNvSpPr/>
          <p:nvPr/>
        </p:nvSpPr>
        <p:spPr>
          <a:xfrm>
            <a:off x="2161474" y="2394251"/>
            <a:ext cx="931050" cy="51435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New Quote</a:t>
            </a:r>
          </a:p>
        </p:txBody>
      </p:sp>
      <p:sp>
        <p:nvSpPr>
          <p:cNvPr id="22" name="Oval 21">
            <a:extLst>
              <a:ext uri="{FF2B5EF4-FFF2-40B4-BE49-F238E27FC236}">
                <a16:creationId xmlns:a16="http://schemas.microsoft.com/office/drawing/2014/main" id="{E89059D2-25C9-5D70-99EA-BA7EBB6A6745}"/>
              </a:ext>
            </a:extLst>
          </p:cNvPr>
          <p:cNvSpPr/>
          <p:nvPr/>
        </p:nvSpPr>
        <p:spPr>
          <a:xfrm>
            <a:off x="1671784" y="1857298"/>
            <a:ext cx="252838" cy="21069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25" name="Oval 24">
            <a:extLst>
              <a:ext uri="{FF2B5EF4-FFF2-40B4-BE49-F238E27FC236}">
                <a16:creationId xmlns:a16="http://schemas.microsoft.com/office/drawing/2014/main" id="{17C4780A-D8FA-3BA4-9BB2-28293D181226}"/>
              </a:ext>
            </a:extLst>
          </p:cNvPr>
          <p:cNvSpPr/>
          <p:nvPr/>
        </p:nvSpPr>
        <p:spPr>
          <a:xfrm>
            <a:off x="1671784" y="2522502"/>
            <a:ext cx="252838" cy="21069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27" name="TextBox 26">
            <a:extLst>
              <a:ext uri="{FF2B5EF4-FFF2-40B4-BE49-F238E27FC236}">
                <a16:creationId xmlns:a16="http://schemas.microsoft.com/office/drawing/2014/main" id="{8CD907F4-D291-4B4B-1A44-7FB6DBBC4DD3}"/>
              </a:ext>
            </a:extLst>
          </p:cNvPr>
          <p:cNvSpPr txBox="1"/>
          <p:nvPr/>
        </p:nvSpPr>
        <p:spPr>
          <a:xfrm>
            <a:off x="3225857" y="1091326"/>
            <a:ext cx="1024135" cy="331297"/>
          </a:xfrm>
          <a:prstGeom prst="rect">
            <a:avLst/>
          </a:prstGeom>
          <a:noFill/>
          <a:ln>
            <a:solidFill>
              <a:schemeClr val="tx1"/>
            </a:solidFill>
            <a:prstDash val="dash"/>
          </a:ln>
        </p:spPr>
        <p:txBody>
          <a:bodyPr wrap="square" rtlCol="0">
            <a:spAutoFit/>
          </a:bodyPr>
          <a:lstStyle/>
          <a:p>
            <a:r>
              <a:rPr lang="en-US" sz="1530" dirty="0"/>
              <a:t>1000 USD</a:t>
            </a:r>
          </a:p>
        </p:txBody>
      </p:sp>
      <p:sp>
        <p:nvSpPr>
          <p:cNvPr id="28" name="TextBox 27">
            <a:extLst>
              <a:ext uri="{FF2B5EF4-FFF2-40B4-BE49-F238E27FC236}">
                <a16:creationId xmlns:a16="http://schemas.microsoft.com/office/drawing/2014/main" id="{3698ACBA-689A-E1D0-887A-D9064CAC0415}"/>
              </a:ext>
            </a:extLst>
          </p:cNvPr>
          <p:cNvSpPr txBox="1"/>
          <p:nvPr/>
        </p:nvSpPr>
        <p:spPr>
          <a:xfrm>
            <a:off x="3204965" y="1736698"/>
            <a:ext cx="1024135" cy="331297"/>
          </a:xfrm>
          <a:prstGeom prst="rect">
            <a:avLst/>
          </a:prstGeom>
          <a:noFill/>
          <a:ln>
            <a:solidFill>
              <a:schemeClr val="tx1"/>
            </a:solidFill>
            <a:prstDash val="dash"/>
          </a:ln>
        </p:spPr>
        <p:txBody>
          <a:bodyPr wrap="square" rtlCol="0">
            <a:spAutoFit/>
          </a:bodyPr>
          <a:lstStyle>
            <a:defPPr>
              <a:defRPr lang="en-US"/>
            </a:defPPr>
            <a:lvl1pPr>
              <a:defRPr sz="1200"/>
            </a:lvl1pPr>
          </a:lstStyle>
          <a:p>
            <a:r>
              <a:rPr lang="en-US" sz="1530" dirty="0"/>
              <a:t>900 USD</a:t>
            </a:r>
          </a:p>
        </p:txBody>
      </p:sp>
      <p:sp>
        <p:nvSpPr>
          <p:cNvPr id="29" name="TextBox 28">
            <a:extLst>
              <a:ext uri="{FF2B5EF4-FFF2-40B4-BE49-F238E27FC236}">
                <a16:creationId xmlns:a16="http://schemas.microsoft.com/office/drawing/2014/main" id="{0E9EF098-B9D0-3871-6149-56B46BE1799C}"/>
              </a:ext>
            </a:extLst>
          </p:cNvPr>
          <p:cNvSpPr txBox="1"/>
          <p:nvPr/>
        </p:nvSpPr>
        <p:spPr>
          <a:xfrm>
            <a:off x="3225857" y="2451261"/>
            <a:ext cx="1024135" cy="331297"/>
          </a:xfrm>
          <a:prstGeom prst="rect">
            <a:avLst/>
          </a:prstGeom>
          <a:noFill/>
          <a:ln>
            <a:solidFill>
              <a:schemeClr val="tx1"/>
            </a:solidFill>
            <a:prstDash val="dash"/>
          </a:ln>
        </p:spPr>
        <p:txBody>
          <a:bodyPr wrap="square" rtlCol="0">
            <a:spAutoFit/>
          </a:bodyPr>
          <a:lstStyle>
            <a:defPPr>
              <a:defRPr lang="en-US"/>
            </a:defPPr>
            <a:lvl1pPr>
              <a:defRPr sz="1200"/>
            </a:lvl1pPr>
          </a:lstStyle>
          <a:p>
            <a:r>
              <a:rPr lang="en-US" sz="1530" dirty="0"/>
              <a:t>900 USD</a:t>
            </a:r>
          </a:p>
        </p:txBody>
      </p:sp>
      <p:sp>
        <p:nvSpPr>
          <p:cNvPr id="31" name="Rectangle 30">
            <a:extLst>
              <a:ext uri="{FF2B5EF4-FFF2-40B4-BE49-F238E27FC236}">
                <a16:creationId xmlns:a16="http://schemas.microsoft.com/office/drawing/2014/main" id="{F485B58C-5D66-B43D-DF03-989A16AE2F7C}"/>
              </a:ext>
            </a:extLst>
          </p:cNvPr>
          <p:cNvSpPr/>
          <p:nvPr/>
        </p:nvSpPr>
        <p:spPr>
          <a:xfrm>
            <a:off x="10789921" y="-542815"/>
            <a:ext cx="1645920" cy="514350"/>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30" dirty="0"/>
              <a:t>Button</a:t>
            </a:r>
          </a:p>
        </p:txBody>
      </p:sp>
      <p:sp>
        <p:nvSpPr>
          <p:cNvPr id="33" name="Rectangle 32">
            <a:extLst>
              <a:ext uri="{FF2B5EF4-FFF2-40B4-BE49-F238E27FC236}">
                <a16:creationId xmlns:a16="http://schemas.microsoft.com/office/drawing/2014/main" id="{BD3AAF37-2F1D-B865-5670-6E93B7FD377A}"/>
              </a:ext>
            </a:extLst>
          </p:cNvPr>
          <p:cNvSpPr/>
          <p:nvPr/>
        </p:nvSpPr>
        <p:spPr>
          <a:xfrm>
            <a:off x="12515118" y="-560000"/>
            <a:ext cx="1231410" cy="51435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30" dirty="0"/>
              <a:t>Display</a:t>
            </a:r>
          </a:p>
        </p:txBody>
      </p:sp>
      <p:grpSp>
        <p:nvGrpSpPr>
          <p:cNvPr id="34" name="Group 33">
            <a:extLst>
              <a:ext uri="{FF2B5EF4-FFF2-40B4-BE49-F238E27FC236}">
                <a16:creationId xmlns:a16="http://schemas.microsoft.com/office/drawing/2014/main" id="{C6A8C94A-23A3-AF90-1D02-E2C332569D5A}"/>
              </a:ext>
            </a:extLst>
          </p:cNvPr>
          <p:cNvGrpSpPr/>
          <p:nvPr/>
        </p:nvGrpSpPr>
        <p:grpSpPr>
          <a:xfrm>
            <a:off x="13939257" y="-408174"/>
            <a:ext cx="252838" cy="210698"/>
            <a:chOff x="2181339" y="1663547"/>
            <a:chExt cx="461953" cy="403412"/>
          </a:xfrm>
        </p:grpSpPr>
        <p:sp>
          <p:nvSpPr>
            <p:cNvPr id="35" name="Oval 34">
              <a:extLst>
                <a:ext uri="{FF2B5EF4-FFF2-40B4-BE49-F238E27FC236}">
                  <a16:creationId xmlns:a16="http://schemas.microsoft.com/office/drawing/2014/main" id="{79904FCB-F065-BFE3-EF5C-40D842C05BEC}"/>
                </a:ext>
              </a:extLst>
            </p:cNvPr>
            <p:cNvSpPr/>
            <p:nvPr/>
          </p:nvSpPr>
          <p:spPr>
            <a:xfrm>
              <a:off x="2181339" y="1663547"/>
              <a:ext cx="461953" cy="4034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36" name="Oval 35">
              <a:extLst>
                <a:ext uri="{FF2B5EF4-FFF2-40B4-BE49-F238E27FC236}">
                  <a16:creationId xmlns:a16="http://schemas.microsoft.com/office/drawing/2014/main" id="{306BDD7E-5EEE-71A1-07D4-3191290F9058}"/>
                </a:ext>
              </a:extLst>
            </p:cNvPr>
            <p:cNvSpPr/>
            <p:nvPr/>
          </p:nvSpPr>
          <p:spPr>
            <a:xfrm>
              <a:off x="2339787" y="1770747"/>
              <a:ext cx="145056" cy="15650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grpSp>
      <p:sp>
        <p:nvSpPr>
          <p:cNvPr id="40" name="Rectangle 39">
            <a:extLst>
              <a:ext uri="{FF2B5EF4-FFF2-40B4-BE49-F238E27FC236}">
                <a16:creationId xmlns:a16="http://schemas.microsoft.com/office/drawing/2014/main" id="{7B4E8EA6-D15D-938E-5966-F506A196C2BF}"/>
              </a:ext>
            </a:extLst>
          </p:cNvPr>
          <p:cNvSpPr/>
          <p:nvPr/>
        </p:nvSpPr>
        <p:spPr>
          <a:xfrm>
            <a:off x="4398292" y="1033047"/>
            <a:ext cx="1037308" cy="514349"/>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Quoted Cost</a:t>
            </a:r>
          </a:p>
        </p:txBody>
      </p:sp>
      <p:sp>
        <p:nvSpPr>
          <p:cNvPr id="42" name="Rectangle 41">
            <a:extLst>
              <a:ext uri="{FF2B5EF4-FFF2-40B4-BE49-F238E27FC236}">
                <a16:creationId xmlns:a16="http://schemas.microsoft.com/office/drawing/2014/main" id="{C37E1276-2E65-42A2-1F85-0E8BE3201928}"/>
              </a:ext>
            </a:extLst>
          </p:cNvPr>
          <p:cNvSpPr/>
          <p:nvPr/>
        </p:nvSpPr>
        <p:spPr>
          <a:xfrm>
            <a:off x="5837552" y="899537"/>
            <a:ext cx="4551048" cy="21611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48" name="TextBox 47">
            <a:extLst>
              <a:ext uri="{FF2B5EF4-FFF2-40B4-BE49-F238E27FC236}">
                <a16:creationId xmlns:a16="http://schemas.microsoft.com/office/drawing/2014/main" id="{2487191B-A90A-8B62-92C1-942173FCE45E}"/>
              </a:ext>
            </a:extLst>
          </p:cNvPr>
          <p:cNvSpPr txBox="1"/>
          <p:nvPr/>
        </p:nvSpPr>
        <p:spPr>
          <a:xfrm>
            <a:off x="5869201" y="908618"/>
            <a:ext cx="814224" cy="334192"/>
          </a:xfrm>
          <a:prstGeom prst="rect">
            <a:avLst/>
          </a:prstGeom>
          <a:noFill/>
        </p:spPr>
        <p:txBody>
          <a:bodyPr wrap="square" rtlCol="0">
            <a:spAutoFit/>
          </a:bodyPr>
          <a:lstStyle/>
          <a:p>
            <a:r>
              <a:rPr lang="en-US" sz="1530" dirty="0"/>
              <a:t>Prior</a:t>
            </a:r>
          </a:p>
        </p:txBody>
      </p:sp>
      <p:sp>
        <p:nvSpPr>
          <p:cNvPr id="52" name="Rectangle 51">
            <a:extLst>
              <a:ext uri="{FF2B5EF4-FFF2-40B4-BE49-F238E27FC236}">
                <a16:creationId xmlns:a16="http://schemas.microsoft.com/office/drawing/2014/main" id="{55862C42-5577-1A79-93BF-F16988202AF2}"/>
              </a:ext>
            </a:extLst>
          </p:cNvPr>
          <p:cNvSpPr/>
          <p:nvPr/>
        </p:nvSpPr>
        <p:spPr>
          <a:xfrm>
            <a:off x="5887733" y="1244274"/>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SCAC</a:t>
            </a:r>
          </a:p>
        </p:txBody>
      </p:sp>
      <p:sp>
        <p:nvSpPr>
          <p:cNvPr id="54" name="Rectangle 53">
            <a:extLst>
              <a:ext uri="{FF2B5EF4-FFF2-40B4-BE49-F238E27FC236}">
                <a16:creationId xmlns:a16="http://schemas.microsoft.com/office/drawing/2014/main" id="{A6A9A044-3E9C-22D4-A277-C8D78E82BECD}"/>
              </a:ext>
            </a:extLst>
          </p:cNvPr>
          <p:cNvSpPr/>
          <p:nvPr/>
        </p:nvSpPr>
        <p:spPr>
          <a:xfrm>
            <a:off x="6804600" y="1230740"/>
            <a:ext cx="981618"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Equipment</a:t>
            </a:r>
          </a:p>
        </p:txBody>
      </p:sp>
      <p:sp>
        <p:nvSpPr>
          <p:cNvPr id="56" name="Rectangle 55">
            <a:extLst>
              <a:ext uri="{FF2B5EF4-FFF2-40B4-BE49-F238E27FC236}">
                <a16:creationId xmlns:a16="http://schemas.microsoft.com/office/drawing/2014/main" id="{EA7F8A21-C003-1263-AF65-C9176CC46E07}"/>
              </a:ext>
            </a:extLst>
          </p:cNvPr>
          <p:cNvSpPr/>
          <p:nvPr/>
        </p:nvSpPr>
        <p:spPr>
          <a:xfrm>
            <a:off x="7874499" y="1230739"/>
            <a:ext cx="847119"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Route Rank</a:t>
            </a:r>
          </a:p>
        </p:txBody>
      </p:sp>
      <p:sp>
        <p:nvSpPr>
          <p:cNvPr id="58" name="Rectangle 57">
            <a:extLst>
              <a:ext uri="{FF2B5EF4-FFF2-40B4-BE49-F238E27FC236}">
                <a16:creationId xmlns:a16="http://schemas.microsoft.com/office/drawing/2014/main" id="{73CB965E-ABA0-6AB7-363B-EC89B98A5FA2}"/>
              </a:ext>
            </a:extLst>
          </p:cNvPr>
          <p:cNvSpPr/>
          <p:nvPr/>
        </p:nvSpPr>
        <p:spPr>
          <a:xfrm>
            <a:off x="8842794" y="1236217"/>
            <a:ext cx="662886"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Rank</a:t>
            </a:r>
          </a:p>
        </p:txBody>
      </p:sp>
      <p:sp>
        <p:nvSpPr>
          <p:cNvPr id="60" name="TextBox 59">
            <a:extLst>
              <a:ext uri="{FF2B5EF4-FFF2-40B4-BE49-F238E27FC236}">
                <a16:creationId xmlns:a16="http://schemas.microsoft.com/office/drawing/2014/main" id="{B7A246BF-9BDC-C3EA-EF58-4A9B896EEA5C}"/>
              </a:ext>
            </a:extLst>
          </p:cNvPr>
          <p:cNvSpPr txBox="1"/>
          <p:nvPr/>
        </p:nvSpPr>
        <p:spPr>
          <a:xfrm>
            <a:off x="5932679" y="1736698"/>
            <a:ext cx="802442" cy="276999"/>
          </a:xfrm>
          <a:prstGeom prst="rect">
            <a:avLst/>
          </a:prstGeom>
          <a:noFill/>
          <a:ln>
            <a:solidFill>
              <a:schemeClr val="tx1"/>
            </a:solidFill>
            <a:prstDash val="dash"/>
          </a:ln>
        </p:spPr>
        <p:txBody>
          <a:bodyPr wrap="square" rtlCol="0">
            <a:spAutoFit/>
          </a:bodyPr>
          <a:lstStyle/>
          <a:p>
            <a:pPr algn="ctr"/>
            <a:r>
              <a:rPr lang="en-US" sz="1200" dirty="0"/>
              <a:t>CTNS</a:t>
            </a:r>
          </a:p>
        </p:txBody>
      </p:sp>
      <p:sp>
        <p:nvSpPr>
          <p:cNvPr id="62" name="TextBox 61">
            <a:extLst>
              <a:ext uri="{FF2B5EF4-FFF2-40B4-BE49-F238E27FC236}">
                <a16:creationId xmlns:a16="http://schemas.microsoft.com/office/drawing/2014/main" id="{809AB1D4-3592-AC81-F14D-7A3D82E5087F}"/>
              </a:ext>
            </a:extLst>
          </p:cNvPr>
          <p:cNvSpPr txBox="1"/>
          <p:nvPr/>
        </p:nvSpPr>
        <p:spPr>
          <a:xfrm>
            <a:off x="6910689" y="1743295"/>
            <a:ext cx="802442" cy="276999"/>
          </a:xfrm>
          <a:prstGeom prst="rect">
            <a:avLst/>
          </a:prstGeom>
          <a:noFill/>
          <a:ln>
            <a:solidFill>
              <a:schemeClr val="tx1"/>
            </a:solidFill>
            <a:prstDash val="dash"/>
          </a:ln>
        </p:spPr>
        <p:txBody>
          <a:bodyPr wrap="square" rtlCol="0">
            <a:spAutoFit/>
          </a:bodyPr>
          <a:lstStyle/>
          <a:p>
            <a:pPr algn="ctr"/>
            <a:r>
              <a:rPr lang="en-US" sz="1200" dirty="0"/>
              <a:t>LTL</a:t>
            </a:r>
          </a:p>
        </p:txBody>
      </p:sp>
      <p:sp>
        <p:nvSpPr>
          <p:cNvPr id="64" name="TextBox 63">
            <a:extLst>
              <a:ext uri="{FF2B5EF4-FFF2-40B4-BE49-F238E27FC236}">
                <a16:creationId xmlns:a16="http://schemas.microsoft.com/office/drawing/2014/main" id="{93590F12-9E3C-1882-8607-D6B5585E2A45}"/>
              </a:ext>
            </a:extLst>
          </p:cNvPr>
          <p:cNvSpPr txBox="1"/>
          <p:nvPr/>
        </p:nvSpPr>
        <p:spPr>
          <a:xfrm>
            <a:off x="7911883" y="1722182"/>
            <a:ext cx="802442" cy="276999"/>
          </a:xfrm>
          <a:prstGeom prst="rect">
            <a:avLst/>
          </a:prstGeom>
          <a:noFill/>
          <a:ln>
            <a:solidFill>
              <a:schemeClr val="tx1"/>
            </a:solidFill>
            <a:prstDash val="dash"/>
          </a:ln>
        </p:spPr>
        <p:txBody>
          <a:bodyPr wrap="square" rtlCol="0">
            <a:spAutoFit/>
          </a:bodyPr>
          <a:lstStyle/>
          <a:p>
            <a:pPr algn="ctr"/>
            <a:r>
              <a:rPr lang="en-US" sz="1200" dirty="0"/>
              <a:t>4</a:t>
            </a:r>
          </a:p>
        </p:txBody>
      </p:sp>
      <p:sp>
        <p:nvSpPr>
          <p:cNvPr id="66" name="Rectangle 65">
            <a:extLst>
              <a:ext uri="{FF2B5EF4-FFF2-40B4-BE49-F238E27FC236}">
                <a16:creationId xmlns:a16="http://schemas.microsoft.com/office/drawing/2014/main" id="{431F309A-4305-2F7D-B384-CEB1C2D995AC}"/>
              </a:ext>
            </a:extLst>
          </p:cNvPr>
          <p:cNvSpPr/>
          <p:nvPr/>
        </p:nvSpPr>
        <p:spPr>
          <a:xfrm>
            <a:off x="9607336" y="1230738"/>
            <a:ext cx="725714"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Tender Status</a:t>
            </a:r>
          </a:p>
        </p:txBody>
      </p:sp>
      <p:sp>
        <p:nvSpPr>
          <p:cNvPr id="68" name="TextBox 67">
            <a:extLst>
              <a:ext uri="{FF2B5EF4-FFF2-40B4-BE49-F238E27FC236}">
                <a16:creationId xmlns:a16="http://schemas.microsoft.com/office/drawing/2014/main" id="{C21CDFF6-1C0B-91E9-2E39-416F4160FA0F}"/>
              </a:ext>
            </a:extLst>
          </p:cNvPr>
          <p:cNvSpPr txBox="1"/>
          <p:nvPr/>
        </p:nvSpPr>
        <p:spPr>
          <a:xfrm>
            <a:off x="8821830" y="1737746"/>
            <a:ext cx="696228" cy="276999"/>
          </a:xfrm>
          <a:prstGeom prst="rect">
            <a:avLst/>
          </a:prstGeom>
          <a:noFill/>
          <a:ln>
            <a:solidFill>
              <a:schemeClr val="tx1"/>
            </a:solidFill>
            <a:prstDash val="dash"/>
          </a:ln>
        </p:spPr>
        <p:txBody>
          <a:bodyPr wrap="square" rtlCol="0">
            <a:spAutoFit/>
          </a:bodyPr>
          <a:lstStyle/>
          <a:p>
            <a:pPr algn="ctr"/>
            <a:r>
              <a:rPr lang="en-US" sz="1200" dirty="0"/>
              <a:t>2</a:t>
            </a:r>
          </a:p>
        </p:txBody>
      </p:sp>
      <p:sp>
        <p:nvSpPr>
          <p:cNvPr id="70" name="TextBox 69">
            <a:extLst>
              <a:ext uri="{FF2B5EF4-FFF2-40B4-BE49-F238E27FC236}">
                <a16:creationId xmlns:a16="http://schemas.microsoft.com/office/drawing/2014/main" id="{12FEA3D3-6D06-DAAA-C2DA-E3A5B3A47C20}"/>
              </a:ext>
            </a:extLst>
          </p:cNvPr>
          <p:cNvSpPr txBox="1"/>
          <p:nvPr/>
        </p:nvSpPr>
        <p:spPr>
          <a:xfrm>
            <a:off x="9634629" y="1728630"/>
            <a:ext cx="696228" cy="276999"/>
          </a:xfrm>
          <a:prstGeom prst="rect">
            <a:avLst/>
          </a:prstGeom>
          <a:noFill/>
          <a:ln>
            <a:solidFill>
              <a:schemeClr val="tx1"/>
            </a:solidFill>
            <a:prstDash val="dash"/>
          </a:ln>
        </p:spPr>
        <p:txBody>
          <a:bodyPr wrap="square" rtlCol="0">
            <a:spAutoFit/>
          </a:bodyPr>
          <a:lstStyle/>
          <a:p>
            <a:pPr algn="ctr"/>
            <a:r>
              <a:rPr lang="en-US" sz="1200" dirty="0"/>
              <a:t>Sent</a:t>
            </a:r>
          </a:p>
        </p:txBody>
      </p:sp>
      <p:sp>
        <p:nvSpPr>
          <p:cNvPr id="72" name="TextBox 71">
            <a:extLst>
              <a:ext uri="{FF2B5EF4-FFF2-40B4-BE49-F238E27FC236}">
                <a16:creationId xmlns:a16="http://schemas.microsoft.com/office/drawing/2014/main" id="{C4DE8096-300B-B1B2-36B6-9F44822E579C}"/>
              </a:ext>
            </a:extLst>
          </p:cNvPr>
          <p:cNvSpPr txBox="1"/>
          <p:nvPr/>
        </p:nvSpPr>
        <p:spPr>
          <a:xfrm>
            <a:off x="6801893" y="2522501"/>
            <a:ext cx="1260118" cy="215444"/>
          </a:xfrm>
          <a:prstGeom prst="rect">
            <a:avLst/>
          </a:prstGeom>
          <a:noFill/>
          <a:ln>
            <a:solidFill>
              <a:schemeClr val="tx1"/>
            </a:solidFill>
            <a:prstDash val="dash"/>
          </a:ln>
        </p:spPr>
        <p:txBody>
          <a:bodyPr wrap="square" rtlCol="0">
            <a:spAutoFit/>
          </a:bodyPr>
          <a:lstStyle/>
          <a:p>
            <a:pPr algn="ctr"/>
            <a:r>
              <a:rPr lang="en-US" sz="800" dirty="0"/>
              <a:t>06/03/2026 16:30 CDT</a:t>
            </a:r>
          </a:p>
        </p:txBody>
      </p:sp>
      <p:sp>
        <p:nvSpPr>
          <p:cNvPr id="74" name="TextBox 73">
            <a:extLst>
              <a:ext uri="{FF2B5EF4-FFF2-40B4-BE49-F238E27FC236}">
                <a16:creationId xmlns:a16="http://schemas.microsoft.com/office/drawing/2014/main" id="{BBE54C84-EB55-D001-339F-092F41657516}"/>
              </a:ext>
            </a:extLst>
          </p:cNvPr>
          <p:cNvSpPr txBox="1"/>
          <p:nvPr/>
        </p:nvSpPr>
        <p:spPr>
          <a:xfrm>
            <a:off x="9078516" y="2516881"/>
            <a:ext cx="1252341" cy="215444"/>
          </a:xfrm>
          <a:prstGeom prst="rect">
            <a:avLst/>
          </a:prstGeom>
          <a:noFill/>
          <a:ln>
            <a:solidFill>
              <a:schemeClr val="tx1"/>
            </a:solidFill>
            <a:prstDash val="dash"/>
          </a:ln>
        </p:spPr>
        <p:txBody>
          <a:bodyPr wrap="square" rtlCol="0">
            <a:spAutoFit/>
          </a:bodyPr>
          <a:lstStyle/>
          <a:p>
            <a:pPr algn="ctr"/>
            <a:r>
              <a:rPr lang="en-US" sz="800" dirty="0"/>
              <a:t>06/04/2026 16:30 CDT</a:t>
            </a:r>
          </a:p>
        </p:txBody>
      </p:sp>
      <p:sp>
        <p:nvSpPr>
          <p:cNvPr id="76" name="Rectangle 75">
            <a:extLst>
              <a:ext uri="{FF2B5EF4-FFF2-40B4-BE49-F238E27FC236}">
                <a16:creationId xmlns:a16="http://schemas.microsoft.com/office/drawing/2014/main" id="{37A69BA9-F434-0343-83EC-99E8538807B4}"/>
              </a:ext>
            </a:extLst>
          </p:cNvPr>
          <p:cNvSpPr/>
          <p:nvPr/>
        </p:nvSpPr>
        <p:spPr>
          <a:xfrm>
            <a:off x="5875652" y="2421577"/>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Pickup Date</a:t>
            </a:r>
          </a:p>
        </p:txBody>
      </p:sp>
      <p:sp>
        <p:nvSpPr>
          <p:cNvPr id="78" name="Rectangle 77">
            <a:extLst>
              <a:ext uri="{FF2B5EF4-FFF2-40B4-BE49-F238E27FC236}">
                <a16:creationId xmlns:a16="http://schemas.microsoft.com/office/drawing/2014/main" id="{402D0BDC-31FB-6D4F-A315-439F6D048C68}"/>
              </a:ext>
            </a:extLst>
          </p:cNvPr>
          <p:cNvSpPr/>
          <p:nvPr/>
        </p:nvSpPr>
        <p:spPr>
          <a:xfrm>
            <a:off x="8193028" y="2451261"/>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Delivery Date</a:t>
            </a:r>
          </a:p>
        </p:txBody>
      </p:sp>
      <p:sp>
        <p:nvSpPr>
          <p:cNvPr id="80" name="Rectangle 79">
            <a:extLst>
              <a:ext uri="{FF2B5EF4-FFF2-40B4-BE49-F238E27FC236}">
                <a16:creationId xmlns:a16="http://schemas.microsoft.com/office/drawing/2014/main" id="{117F6B6E-0B91-892C-32AD-D8B2D244C574}"/>
              </a:ext>
            </a:extLst>
          </p:cNvPr>
          <p:cNvSpPr/>
          <p:nvPr/>
        </p:nvSpPr>
        <p:spPr>
          <a:xfrm>
            <a:off x="10698293" y="893127"/>
            <a:ext cx="4551048" cy="21611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82" name="TextBox 81">
            <a:extLst>
              <a:ext uri="{FF2B5EF4-FFF2-40B4-BE49-F238E27FC236}">
                <a16:creationId xmlns:a16="http://schemas.microsoft.com/office/drawing/2014/main" id="{1DB2FB9B-6C9F-3768-E46A-8B4E98BF7631}"/>
              </a:ext>
            </a:extLst>
          </p:cNvPr>
          <p:cNvSpPr txBox="1"/>
          <p:nvPr/>
        </p:nvSpPr>
        <p:spPr>
          <a:xfrm>
            <a:off x="10729941" y="908618"/>
            <a:ext cx="2080259" cy="327782"/>
          </a:xfrm>
          <a:prstGeom prst="rect">
            <a:avLst/>
          </a:prstGeom>
          <a:noFill/>
        </p:spPr>
        <p:txBody>
          <a:bodyPr wrap="square" rtlCol="0">
            <a:spAutoFit/>
          </a:bodyPr>
          <a:lstStyle/>
          <a:p>
            <a:r>
              <a:rPr lang="en-US" sz="1530" dirty="0"/>
              <a:t>New</a:t>
            </a:r>
          </a:p>
        </p:txBody>
      </p:sp>
      <p:sp>
        <p:nvSpPr>
          <p:cNvPr id="84" name="Rectangle 83">
            <a:extLst>
              <a:ext uri="{FF2B5EF4-FFF2-40B4-BE49-F238E27FC236}">
                <a16:creationId xmlns:a16="http://schemas.microsoft.com/office/drawing/2014/main" id="{0746E92C-271E-5437-BD27-8BD64ED9F1D2}"/>
              </a:ext>
            </a:extLst>
          </p:cNvPr>
          <p:cNvSpPr/>
          <p:nvPr/>
        </p:nvSpPr>
        <p:spPr>
          <a:xfrm>
            <a:off x="10748474" y="1237864"/>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SCAC</a:t>
            </a:r>
          </a:p>
        </p:txBody>
      </p:sp>
      <p:sp>
        <p:nvSpPr>
          <p:cNvPr id="86" name="Rectangle 85">
            <a:extLst>
              <a:ext uri="{FF2B5EF4-FFF2-40B4-BE49-F238E27FC236}">
                <a16:creationId xmlns:a16="http://schemas.microsoft.com/office/drawing/2014/main" id="{FC2B9B6D-41F5-06D4-9DB6-EF0C658354FF}"/>
              </a:ext>
            </a:extLst>
          </p:cNvPr>
          <p:cNvSpPr/>
          <p:nvPr/>
        </p:nvSpPr>
        <p:spPr>
          <a:xfrm>
            <a:off x="11665341" y="1224330"/>
            <a:ext cx="981618"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Equipment</a:t>
            </a:r>
          </a:p>
        </p:txBody>
      </p:sp>
      <p:sp>
        <p:nvSpPr>
          <p:cNvPr id="88" name="Rectangle 87">
            <a:extLst>
              <a:ext uri="{FF2B5EF4-FFF2-40B4-BE49-F238E27FC236}">
                <a16:creationId xmlns:a16="http://schemas.microsoft.com/office/drawing/2014/main" id="{6D9469AE-B9AC-5EC2-5FB4-089A7A42048F}"/>
              </a:ext>
            </a:extLst>
          </p:cNvPr>
          <p:cNvSpPr/>
          <p:nvPr/>
        </p:nvSpPr>
        <p:spPr>
          <a:xfrm>
            <a:off x="12735240" y="1224329"/>
            <a:ext cx="847119"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Route Rank</a:t>
            </a:r>
          </a:p>
        </p:txBody>
      </p:sp>
      <p:sp>
        <p:nvSpPr>
          <p:cNvPr id="90" name="Rectangle 89">
            <a:extLst>
              <a:ext uri="{FF2B5EF4-FFF2-40B4-BE49-F238E27FC236}">
                <a16:creationId xmlns:a16="http://schemas.microsoft.com/office/drawing/2014/main" id="{4CD3474B-8950-4E61-E627-0F2E45A5692D}"/>
              </a:ext>
            </a:extLst>
          </p:cNvPr>
          <p:cNvSpPr/>
          <p:nvPr/>
        </p:nvSpPr>
        <p:spPr>
          <a:xfrm>
            <a:off x="13703535" y="1229807"/>
            <a:ext cx="662886"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Rank</a:t>
            </a:r>
          </a:p>
        </p:txBody>
      </p:sp>
      <p:sp>
        <p:nvSpPr>
          <p:cNvPr id="92" name="TextBox 91">
            <a:extLst>
              <a:ext uri="{FF2B5EF4-FFF2-40B4-BE49-F238E27FC236}">
                <a16:creationId xmlns:a16="http://schemas.microsoft.com/office/drawing/2014/main" id="{CEF5B2F6-65F8-ADFC-9695-E812C9061373}"/>
              </a:ext>
            </a:extLst>
          </p:cNvPr>
          <p:cNvSpPr txBox="1"/>
          <p:nvPr/>
        </p:nvSpPr>
        <p:spPr>
          <a:xfrm>
            <a:off x="10793420" y="1730288"/>
            <a:ext cx="802442" cy="276999"/>
          </a:xfrm>
          <a:prstGeom prst="rect">
            <a:avLst/>
          </a:prstGeom>
          <a:noFill/>
          <a:ln>
            <a:solidFill>
              <a:schemeClr val="tx1"/>
            </a:solidFill>
            <a:prstDash val="dash"/>
          </a:ln>
        </p:spPr>
        <p:txBody>
          <a:bodyPr wrap="square" rtlCol="0">
            <a:spAutoFit/>
          </a:bodyPr>
          <a:lstStyle/>
          <a:p>
            <a:pPr algn="ctr"/>
            <a:r>
              <a:rPr lang="en-US" sz="1200" dirty="0"/>
              <a:t>CTNS</a:t>
            </a:r>
          </a:p>
        </p:txBody>
      </p:sp>
      <p:sp>
        <p:nvSpPr>
          <p:cNvPr id="94" name="TextBox 93">
            <a:extLst>
              <a:ext uri="{FF2B5EF4-FFF2-40B4-BE49-F238E27FC236}">
                <a16:creationId xmlns:a16="http://schemas.microsoft.com/office/drawing/2014/main" id="{70D2F2FC-DB49-CA71-89A5-B4880B0D3135}"/>
              </a:ext>
            </a:extLst>
          </p:cNvPr>
          <p:cNvSpPr txBox="1"/>
          <p:nvPr/>
        </p:nvSpPr>
        <p:spPr>
          <a:xfrm>
            <a:off x="11771430" y="1736885"/>
            <a:ext cx="802442" cy="276999"/>
          </a:xfrm>
          <a:prstGeom prst="rect">
            <a:avLst/>
          </a:prstGeom>
          <a:noFill/>
          <a:ln>
            <a:solidFill>
              <a:schemeClr val="tx1"/>
            </a:solidFill>
            <a:prstDash val="dash"/>
          </a:ln>
        </p:spPr>
        <p:txBody>
          <a:bodyPr wrap="square" rtlCol="0">
            <a:spAutoFit/>
          </a:bodyPr>
          <a:lstStyle/>
          <a:p>
            <a:pPr algn="ctr"/>
            <a:r>
              <a:rPr lang="en-US" sz="1200" dirty="0"/>
              <a:t>LTL</a:t>
            </a:r>
          </a:p>
        </p:txBody>
      </p:sp>
      <p:sp>
        <p:nvSpPr>
          <p:cNvPr id="96" name="TextBox 95">
            <a:extLst>
              <a:ext uri="{FF2B5EF4-FFF2-40B4-BE49-F238E27FC236}">
                <a16:creationId xmlns:a16="http://schemas.microsoft.com/office/drawing/2014/main" id="{3893078A-4604-B2AB-7882-5391EAF02C87}"/>
              </a:ext>
            </a:extLst>
          </p:cNvPr>
          <p:cNvSpPr txBox="1"/>
          <p:nvPr/>
        </p:nvSpPr>
        <p:spPr>
          <a:xfrm>
            <a:off x="12772624" y="1715772"/>
            <a:ext cx="802442" cy="276999"/>
          </a:xfrm>
          <a:prstGeom prst="rect">
            <a:avLst/>
          </a:prstGeom>
          <a:noFill/>
          <a:ln>
            <a:solidFill>
              <a:schemeClr val="tx1"/>
            </a:solidFill>
            <a:prstDash val="dash"/>
          </a:ln>
        </p:spPr>
        <p:txBody>
          <a:bodyPr wrap="square" rtlCol="0">
            <a:spAutoFit/>
          </a:bodyPr>
          <a:lstStyle/>
          <a:p>
            <a:pPr algn="ctr"/>
            <a:r>
              <a:rPr lang="en-US" sz="1200" dirty="0"/>
              <a:t>5</a:t>
            </a:r>
          </a:p>
        </p:txBody>
      </p:sp>
      <p:sp>
        <p:nvSpPr>
          <p:cNvPr id="98" name="Rectangle 97">
            <a:extLst>
              <a:ext uri="{FF2B5EF4-FFF2-40B4-BE49-F238E27FC236}">
                <a16:creationId xmlns:a16="http://schemas.microsoft.com/office/drawing/2014/main" id="{11537CE4-9B09-147A-5DAB-B7845D82CEF5}"/>
              </a:ext>
            </a:extLst>
          </p:cNvPr>
          <p:cNvSpPr/>
          <p:nvPr/>
        </p:nvSpPr>
        <p:spPr>
          <a:xfrm>
            <a:off x="14468077" y="1224328"/>
            <a:ext cx="725714"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Tender Status</a:t>
            </a:r>
          </a:p>
        </p:txBody>
      </p:sp>
      <p:sp>
        <p:nvSpPr>
          <p:cNvPr id="100" name="TextBox 99">
            <a:extLst>
              <a:ext uri="{FF2B5EF4-FFF2-40B4-BE49-F238E27FC236}">
                <a16:creationId xmlns:a16="http://schemas.microsoft.com/office/drawing/2014/main" id="{4F9C1D51-2005-996C-5583-6ABCAB7249AD}"/>
              </a:ext>
            </a:extLst>
          </p:cNvPr>
          <p:cNvSpPr txBox="1"/>
          <p:nvPr/>
        </p:nvSpPr>
        <p:spPr>
          <a:xfrm>
            <a:off x="13682571" y="1731336"/>
            <a:ext cx="696228" cy="276999"/>
          </a:xfrm>
          <a:prstGeom prst="rect">
            <a:avLst/>
          </a:prstGeom>
          <a:noFill/>
          <a:ln>
            <a:solidFill>
              <a:schemeClr val="tx1"/>
            </a:solidFill>
            <a:prstDash val="dash"/>
          </a:ln>
        </p:spPr>
        <p:txBody>
          <a:bodyPr wrap="square" rtlCol="0">
            <a:spAutoFit/>
          </a:bodyPr>
          <a:lstStyle/>
          <a:p>
            <a:pPr algn="ctr"/>
            <a:r>
              <a:rPr lang="en-US" sz="1200" dirty="0"/>
              <a:t>1</a:t>
            </a:r>
          </a:p>
        </p:txBody>
      </p:sp>
      <p:sp>
        <p:nvSpPr>
          <p:cNvPr id="102" name="TextBox 101">
            <a:extLst>
              <a:ext uri="{FF2B5EF4-FFF2-40B4-BE49-F238E27FC236}">
                <a16:creationId xmlns:a16="http://schemas.microsoft.com/office/drawing/2014/main" id="{A8708E29-D14A-3734-0885-C8852727F1DE}"/>
              </a:ext>
            </a:extLst>
          </p:cNvPr>
          <p:cNvSpPr txBox="1"/>
          <p:nvPr/>
        </p:nvSpPr>
        <p:spPr>
          <a:xfrm>
            <a:off x="14495370" y="1722220"/>
            <a:ext cx="696228" cy="276999"/>
          </a:xfrm>
          <a:prstGeom prst="rect">
            <a:avLst/>
          </a:prstGeom>
          <a:noFill/>
          <a:ln>
            <a:solidFill>
              <a:schemeClr val="tx1"/>
            </a:solidFill>
            <a:prstDash val="dash"/>
          </a:ln>
        </p:spPr>
        <p:txBody>
          <a:bodyPr wrap="square" rtlCol="0">
            <a:spAutoFit/>
          </a:bodyPr>
          <a:lstStyle/>
          <a:p>
            <a:pPr algn="ctr"/>
            <a:endParaRPr lang="en-US" sz="1200" dirty="0"/>
          </a:p>
        </p:txBody>
      </p:sp>
      <p:sp>
        <p:nvSpPr>
          <p:cNvPr id="104" name="TextBox 103">
            <a:extLst>
              <a:ext uri="{FF2B5EF4-FFF2-40B4-BE49-F238E27FC236}">
                <a16:creationId xmlns:a16="http://schemas.microsoft.com/office/drawing/2014/main" id="{6652138E-ACA5-93E9-3A52-480E20811D15}"/>
              </a:ext>
            </a:extLst>
          </p:cNvPr>
          <p:cNvSpPr txBox="1"/>
          <p:nvPr/>
        </p:nvSpPr>
        <p:spPr>
          <a:xfrm>
            <a:off x="11662634" y="2516091"/>
            <a:ext cx="1260118" cy="215444"/>
          </a:xfrm>
          <a:prstGeom prst="rect">
            <a:avLst/>
          </a:prstGeom>
          <a:noFill/>
          <a:ln>
            <a:solidFill>
              <a:schemeClr val="tx1"/>
            </a:solidFill>
            <a:prstDash val="dash"/>
          </a:ln>
        </p:spPr>
        <p:txBody>
          <a:bodyPr wrap="square" rtlCol="0">
            <a:spAutoFit/>
          </a:bodyPr>
          <a:lstStyle/>
          <a:p>
            <a:pPr algn="ctr"/>
            <a:r>
              <a:rPr lang="en-US" sz="800" dirty="0"/>
              <a:t>06/05/2026 16:30 CDT</a:t>
            </a:r>
          </a:p>
        </p:txBody>
      </p:sp>
      <p:sp>
        <p:nvSpPr>
          <p:cNvPr id="106" name="TextBox 105">
            <a:extLst>
              <a:ext uri="{FF2B5EF4-FFF2-40B4-BE49-F238E27FC236}">
                <a16:creationId xmlns:a16="http://schemas.microsoft.com/office/drawing/2014/main" id="{5A3BF7EF-8627-2B6A-4F47-46D84879BE9D}"/>
              </a:ext>
            </a:extLst>
          </p:cNvPr>
          <p:cNvSpPr txBox="1"/>
          <p:nvPr/>
        </p:nvSpPr>
        <p:spPr>
          <a:xfrm>
            <a:off x="13939257" y="2510471"/>
            <a:ext cx="1252341" cy="215444"/>
          </a:xfrm>
          <a:prstGeom prst="rect">
            <a:avLst/>
          </a:prstGeom>
          <a:noFill/>
          <a:ln>
            <a:solidFill>
              <a:schemeClr val="tx1"/>
            </a:solidFill>
            <a:prstDash val="dash"/>
          </a:ln>
        </p:spPr>
        <p:txBody>
          <a:bodyPr wrap="square" rtlCol="0">
            <a:spAutoFit/>
          </a:bodyPr>
          <a:lstStyle/>
          <a:p>
            <a:pPr algn="ctr"/>
            <a:r>
              <a:rPr lang="en-US" sz="800" dirty="0"/>
              <a:t>06/06/2026 16:30 CDT</a:t>
            </a:r>
          </a:p>
        </p:txBody>
      </p:sp>
      <p:sp>
        <p:nvSpPr>
          <p:cNvPr id="108" name="Rectangle 107">
            <a:extLst>
              <a:ext uri="{FF2B5EF4-FFF2-40B4-BE49-F238E27FC236}">
                <a16:creationId xmlns:a16="http://schemas.microsoft.com/office/drawing/2014/main" id="{973C0E88-B2A9-52E9-209C-E4231828AF44}"/>
              </a:ext>
            </a:extLst>
          </p:cNvPr>
          <p:cNvSpPr/>
          <p:nvPr/>
        </p:nvSpPr>
        <p:spPr>
          <a:xfrm>
            <a:off x="10736393" y="2415167"/>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Pickup Date</a:t>
            </a:r>
          </a:p>
        </p:txBody>
      </p:sp>
      <p:sp>
        <p:nvSpPr>
          <p:cNvPr id="110" name="Rectangle 109">
            <a:extLst>
              <a:ext uri="{FF2B5EF4-FFF2-40B4-BE49-F238E27FC236}">
                <a16:creationId xmlns:a16="http://schemas.microsoft.com/office/drawing/2014/main" id="{F22A8657-02CA-6623-336E-03D09DDF23B0}"/>
              </a:ext>
            </a:extLst>
          </p:cNvPr>
          <p:cNvSpPr/>
          <p:nvPr/>
        </p:nvSpPr>
        <p:spPr>
          <a:xfrm>
            <a:off x="13053769" y="2444851"/>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Delivery Date</a:t>
            </a:r>
          </a:p>
        </p:txBody>
      </p:sp>
      <p:pic>
        <p:nvPicPr>
          <p:cNvPr id="112" name="Picture 111">
            <a:extLst>
              <a:ext uri="{FF2B5EF4-FFF2-40B4-BE49-F238E27FC236}">
                <a16:creationId xmlns:a16="http://schemas.microsoft.com/office/drawing/2014/main" id="{36E594EF-4A6F-9935-E88A-C54B73FBFA3D}"/>
              </a:ext>
            </a:extLst>
          </p:cNvPr>
          <p:cNvPicPr>
            <a:picLocks noChangeAspect="1"/>
          </p:cNvPicPr>
          <p:nvPr/>
        </p:nvPicPr>
        <p:blipFill>
          <a:blip r:embed="rId2"/>
          <a:stretch>
            <a:fillRect/>
          </a:stretch>
        </p:blipFill>
        <p:spPr>
          <a:xfrm>
            <a:off x="366557" y="3699803"/>
            <a:ext cx="13999864" cy="818179"/>
          </a:xfrm>
          <a:prstGeom prst="rect">
            <a:avLst/>
          </a:prstGeom>
        </p:spPr>
      </p:pic>
      <p:pic>
        <p:nvPicPr>
          <p:cNvPr id="116" name="Picture 115">
            <a:extLst>
              <a:ext uri="{FF2B5EF4-FFF2-40B4-BE49-F238E27FC236}">
                <a16:creationId xmlns:a16="http://schemas.microsoft.com/office/drawing/2014/main" id="{15B0D661-7A58-7968-A5D6-8EFE7CE2BFD2}"/>
              </a:ext>
            </a:extLst>
          </p:cNvPr>
          <p:cNvPicPr>
            <a:picLocks noChangeAspect="1"/>
          </p:cNvPicPr>
          <p:nvPr/>
        </p:nvPicPr>
        <p:blipFill>
          <a:blip r:embed="rId3"/>
          <a:stretch>
            <a:fillRect/>
          </a:stretch>
        </p:blipFill>
        <p:spPr>
          <a:xfrm>
            <a:off x="442795" y="5236843"/>
            <a:ext cx="13936003" cy="759423"/>
          </a:xfrm>
          <a:prstGeom prst="rect">
            <a:avLst/>
          </a:prstGeom>
        </p:spPr>
      </p:pic>
      <p:sp>
        <p:nvSpPr>
          <p:cNvPr id="118" name="TextBox 117">
            <a:extLst>
              <a:ext uri="{FF2B5EF4-FFF2-40B4-BE49-F238E27FC236}">
                <a16:creationId xmlns:a16="http://schemas.microsoft.com/office/drawing/2014/main" id="{1BD75A6C-CB17-89E8-898A-D2B2FC7F63CC}"/>
              </a:ext>
            </a:extLst>
          </p:cNvPr>
          <p:cNvSpPr txBox="1"/>
          <p:nvPr/>
        </p:nvSpPr>
        <p:spPr>
          <a:xfrm>
            <a:off x="419052" y="3216361"/>
            <a:ext cx="1668593" cy="327782"/>
          </a:xfrm>
          <a:prstGeom prst="rect">
            <a:avLst/>
          </a:prstGeom>
          <a:noFill/>
        </p:spPr>
        <p:txBody>
          <a:bodyPr wrap="square" rtlCol="0">
            <a:spAutoFit/>
          </a:bodyPr>
          <a:lstStyle/>
          <a:p>
            <a:r>
              <a:rPr lang="en-US" sz="1530" dirty="0"/>
              <a:t>New Tender List</a:t>
            </a:r>
          </a:p>
        </p:txBody>
      </p:sp>
      <p:sp>
        <p:nvSpPr>
          <p:cNvPr id="120" name="TextBox 119">
            <a:extLst>
              <a:ext uri="{FF2B5EF4-FFF2-40B4-BE49-F238E27FC236}">
                <a16:creationId xmlns:a16="http://schemas.microsoft.com/office/drawing/2014/main" id="{121996A1-69F9-C109-BE93-296C40DDAD3F}"/>
              </a:ext>
            </a:extLst>
          </p:cNvPr>
          <p:cNvSpPr txBox="1"/>
          <p:nvPr/>
        </p:nvSpPr>
        <p:spPr>
          <a:xfrm>
            <a:off x="442796" y="4835712"/>
            <a:ext cx="1668593" cy="327782"/>
          </a:xfrm>
          <a:prstGeom prst="rect">
            <a:avLst/>
          </a:prstGeom>
          <a:noFill/>
        </p:spPr>
        <p:txBody>
          <a:bodyPr wrap="square" rtlCol="0">
            <a:spAutoFit/>
          </a:bodyPr>
          <a:lstStyle/>
          <a:p>
            <a:r>
              <a:rPr lang="en-US" sz="1530" dirty="0"/>
              <a:t>Prior Tender List</a:t>
            </a:r>
          </a:p>
        </p:txBody>
      </p:sp>
      <p:sp>
        <p:nvSpPr>
          <p:cNvPr id="122" name="Rectangle 121">
            <a:extLst>
              <a:ext uri="{FF2B5EF4-FFF2-40B4-BE49-F238E27FC236}">
                <a16:creationId xmlns:a16="http://schemas.microsoft.com/office/drawing/2014/main" id="{F77E41B6-4E15-7E8B-B271-4C4628A076EC}"/>
              </a:ext>
            </a:extLst>
          </p:cNvPr>
          <p:cNvSpPr/>
          <p:nvPr/>
        </p:nvSpPr>
        <p:spPr>
          <a:xfrm>
            <a:off x="1981915" y="3166511"/>
            <a:ext cx="988201" cy="381528"/>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View Tender</a:t>
            </a:r>
          </a:p>
        </p:txBody>
      </p:sp>
    </p:spTree>
    <p:extLst>
      <p:ext uri="{BB962C8B-B14F-4D97-AF65-F5344CB8AC3E}">
        <p14:creationId xmlns:p14="http://schemas.microsoft.com/office/powerpoint/2010/main" val="1819408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06A0D-2500-F3FB-CD4E-0CA8F35D2F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D16A6C3-FAA4-18DA-622B-8E27CA08B260}"/>
              </a:ext>
            </a:extLst>
          </p:cNvPr>
          <p:cNvSpPr/>
          <p:nvPr/>
        </p:nvSpPr>
        <p:spPr>
          <a:xfrm>
            <a:off x="95249" y="45358"/>
            <a:ext cx="1645920" cy="514350"/>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30" dirty="0"/>
              <a:t>Cancel Tender</a:t>
            </a:r>
          </a:p>
        </p:txBody>
      </p:sp>
      <p:sp>
        <p:nvSpPr>
          <p:cNvPr id="5" name="TextBox 4">
            <a:extLst>
              <a:ext uri="{FF2B5EF4-FFF2-40B4-BE49-F238E27FC236}">
                <a16:creationId xmlns:a16="http://schemas.microsoft.com/office/drawing/2014/main" id="{8F07E354-042F-9C6F-82E3-06EBE7ECB164}"/>
              </a:ext>
            </a:extLst>
          </p:cNvPr>
          <p:cNvSpPr txBox="1"/>
          <p:nvPr/>
        </p:nvSpPr>
        <p:spPr>
          <a:xfrm>
            <a:off x="265362" y="-715951"/>
            <a:ext cx="8180137" cy="646331"/>
          </a:xfrm>
          <a:prstGeom prst="rect">
            <a:avLst/>
          </a:prstGeom>
          <a:noFill/>
        </p:spPr>
        <p:txBody>
          <a:bodyPr wrap="square" rtlCol="0">
            <a:spAutoFit/>
          </a:bodyPr>
          <a:lstStyle/>
          <a:p>
            <a:r>
              <a:rPr lang="en-US" sz="3600" dirty="0"/>
              <a:t>Review Order Change – Direct – Page 2/3</a:t>
            </a:r>
          </a:p>
        </p:txBody>
      </p:sp>
      <p:sp>
        <p:nvSpPr>
          <p:cNvPr id="7" name="TextBox 6">
            <a:extLst>
              <a:ext uri="{FF2B5EF4-FFF2-40B4-BE49-F238E27FC236}">
                <a16:creationId xmlns:a16="http://schemas.microsoft.com/office/drawing/2014/main" id="{EE96FD87-2995-9804-8CEE-A31C17F5E496}"/>
              </a:ext>
            </a:extLst>
          </p:cNvPr>
          <p:cNvSpPr txBox="1"/>
          <p:nvPr/>
        </p:nvSpPr>
        <p:spPr>
          <a:xfrm>
            <a:off x="1981915" y="145883"/>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b="1" dirty="0"/>
              <a:t>Buy Shipment</a:t>
            </a:r>
          </a:p>
        </p:txBody>
      </p:sp>
      <p:sp>
        <p:nvSpPr>
          <p:cNvPr id="9" name="TextBox 8">
            <a:extLst>
              <a:ext uri="{FF2B5EF4-FFF2-40B4-BE49-F238E27FC236}">
                <a16:creationId xmlns:a16="http://schemas.microsoft.com/office/drawing/2014/main" id="{9F65FCB4-342D-64E1-9438-7B2FEC7340DE}"/>
              </a:ext>
            </a:extLst>
          </p:cNvPr>
          <p:cNvSpPr txBox="1"/>
          <p:nvPr/>
        </p:nvSpPr>
        <p:spPr>
          <a:xfrm>
            <a:off x="3427095" y="145882"/>
            <a:ext cx="1360170" cy="3082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3" u="sng" dirty="0">
                <a:solidFill>
                  <a:srgbClr val="0000FF"/>
                </a:solidFill>
              </a:rPr>
              <a:t>8956</a:t>
            </a:r>
          </a:p>
        </p:txBody>
      </p:sp>
      <p:sp>
        <p:nvSpPr>
          <p:cNvPr id="10" name="Rectangle 9">
            <a:extLst>
              <a:ext uri="{FF2B5EF4-FFF2-40B4-BE49-F238E27FC236}">
                <a16:creationId xmlns:a16="http://schemas.microsoft.com/office/drawing/2014/main" id="{6BCA87D8-AD24-2605-F7E8-FD50B098A400}"/>
              </a:ext>
            </a:extLst>
          </p:cNvPr>
          <p:cNvSpPr/>
          <p:nvPr/>
        </p:nvSpPr>
        <p:spPr>
          <a:xfrm>
            <a:off x="265363" y="1057552"/>
            <a:ext cx="1203221" cy="514350"/>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Re-Tender</a:t>
            </a:r>
          </a:p>
        </p:txBody>
      </p:sp>
      <p:sp>
        <p:nvSpPr>
          <p:cNvPr id="11" name="Rectangle 10">
            <a:extLst>
              <a:ext uri="{FF2B5EF4-FFF2-40B4-BE49-F238E27FC236}">
                <a16:creationId xmlns:a16="http://schemas.microsoft.com/office/drawing/2014/main" id="{11EA08F2-FC13-42AA-7E46-DEB597A1DF8C}"/>
              </a:ext>
            </a:extLst>
          </p:cNvPr>
          <p:cNvSpPr/>
          <p:nvPr/>
        </p:nvSpPr>
        <p:spPr>
          <a:xfrm>
            <a:off x="82485" y="899537"/>
            <a:ext cx="5556315" cy="21611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12" name="TextBox 11">
            <a:extLst>
              <a:ext uri="{FF2B5EF4-FFF2-40B4-BE49-F238E27FC236}">
                <a16:creationId xmlns:a16="http://schemas.microsoft.com/office/drawing/2014/main" id="{D71509ED-D1E7-67D3-9144-4BDFC1C98C10}"/>
              </a:ext>
            </a:extLst>
          </p:cNvPr>
          <p:cNvSpPr txBox="1"/>
          <p:nvPr/>
        </p:nvSpPr>
        <p:spPr>
          <a:xfrm>
            <a:off x="48194" y="565345"/>
            <a:ext cx="2080259" cy="327782"/>
          </a:xfrm>
          <a:prstGeom prst="rect">
            <a:avLst/>
          </a:prstGeom>
          <a:noFill/>
        </p:spPr>
        <p:txBody>
          <a:bodyPr wrap="square" rtlCol="0">
            <a:spAutoFit/>
          </a:bodyPr>
          <a:lstStyle/>
          <a:p>
            <a:r>
              <a:rPr lang="en-US" sz="1530" dirty="0"/>
              <a:t>Keep Tender</a:t>
            </a:r>
          </a:p>
        </p:txBody>
      </p:sp>
      <p:sp>
        <p:nvSpPr>
          <p:cNvPr id="13" name="Rectangle 12">
            <a:extLst>
              <a:ext uri="{FF2B5EF4-FFF2-40B4-BE49-F238E27FC236}">
                <a16:creationId xmlns:a16="http://schemas.microsoft.com/office/drawing/2014/main" id="{412BCF79-1F83-7164-5C28-5F5D4EA09D9E}"/>
              </a:ext>
            </a:extLst>
          </p:cNvPr>
          <p:cNvSpPr/>
          <p:nvPr/>
        </p:nvSpPr>
        <p:spPr>
          <a:xfrm>
            <a:off x="265363" y="2164402"/>
            <a:ext cx="1203221" cy="514350"/>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Bypass Tender </a:t>
            </a:r>
          </a:p>
        </p:txBody>
      </p:sp>
      <p:grpSp>
        <p:nvGrpSpPr>
          <p:cNvPr id="17" name="Group 16">
            <a:extLst>
              <a:ext uri="{FF2B5EF4-FFF2-40B4-BE49-F238E27FC236}">
                <a16:creationId xmlns:a16="http://schemas.microsoft.com/office/drawing/2014/main" id="{83CB6531-FFC7-FB46-BB7D-397FF6FF5C02}"/>
              </a:ext>
            </a:extLst>
          </p:cNvPr>
          <p:cNvGrpSpPr/>
          <p:nvPr/>
        </p:nvGrpSpPr>
        <p:grpSpPr>
          <a:xfrm>
            <a:off x="1671784" y="1234233"/>
            <a:ext cx="252838" cy="210698"/>
            <a:chOff x="2181339" y="1663547"/>
            <a:chExt cx="461953" cy="403412"/>
          </a:xfrm>
        </p:grpSpPr>
        <p:sp>
          <p:nvSpPr>
            <p:cNvPr id="14" name="Oval 13">
              <a:extLst>
                <a:ext uri="{FF2B5EF4-FFF2-40B4-BE49-F238E27FC236}">
                  <a16:creationId xmlns:a16="http://schemas.microsoft.com/office/drawing/2014/main" id="{4A58D718-E689-B74B-42C3-C8E6C70F25B4}"/>
                </a:ext>
              </a:extLst>
            </p:cNvPr>
            <p:cNvSpPr/>
            <p:nvPr/>
          </p:nvSpPr>
          <p:spPr>
            <a:xfrm>
              <a:off x="2181339" y="1663547"/>
              <a:ext cx="461953" cy="4034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16" name="Oval 15">
              <a:extLst>
                <a:ext uri="{FF2B5EF4-FFF2-40B4-BE49-F238E27FC236}">
                  <a16:creationId xmlns:a16="http://schemas.microsoft.com/office/drawing/2014/main" id="{960ACA27-E325-3A84-E399-DEDC25B70D24}"/>
                </a:ext>
              </a:extLst>
            </p:cNvPr>
            <p:cNvSpPr/>
            <p:nvPr/>
          </p:nvSpPr>
          <p:spPr>
            <a:xfrm>
              <a:off x="2339787" y="1770747"/>
              <a:ext cx="145056" cy="15650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grpSp>
      <p:sp>
        <p:nvSpPr>
          <p:cNvPr id="18" name="Rectangle 17">
            <a:extLst>
              <a:ext uri="{FF2B5EF4-FFF2-40B4-BE49-F238E27FC236}">
                <a16:creationId xmlns:a16="http://schemas.microsoft.com/office/drawing/2014/main" id="{9142A3BC-2111-6C04-90F7-BCD8A1F97474}"/>
              </a:ext>
            </a:extLst>
          </p:cNvPr>
          <p:cNvSpPr/>
          <p:nvPr/>
        </p:nvSpPr>
        <p:spPr>
          <a:xfrm>
            <a:off x="2155022" y="1091327"/>
            <a:ext cx="931050" cy="51435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Prior Cost</a:t>
            </a:r>
          </a:p>
        </p:txBody>
      </p:sp>
      <p:sp>
        <p:nvSpPr>
          <p:cNvPr id="19" name="Rectangle 18">
            <a:extLst>
              <a:ext uri="{FF2B5EF4-FFF2-40B4-BE49-F238E27FC236}">
                <a16:creationId xmlns:a16="http://schemas.microsoft.com/office/drawing/2014/main" id="{4A3D1795-BE55-F6F5-14F2-ECB0D32681FA}"/>
              </a:ext>
            </a:extLst>
          </p:cNvPr>
          <p:cNvSpPr/>
          <p:nvPr/>
        </p:nvSpPr>
        <p:spPr>
          <a:xfrm>
            <a:off x="2155022" y="1712493"/>
            <a:ext cx="931050" cy="51435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New Cost</a:t>
            </a:r>
          </a:p>
        </p:txBody>
      </p:sp>
      <p:sp>
        <p:nvSpPr>
          <p:cNvPr id="20" name="Rectangle 19">
            <a:extLst>
              <a:ext uri="{FF2B5EF4-FFF2-40B4-BE49-F238E27FC236}">
                <a16:creationId xmlns:a16="http://schemas.microsoft.com/office/drawing/2014/main" id="{9791402A-3A3B-FC8A-9A0F-6B1427F66057}"/>
              </a:ext>
            </a:extLst>
          </p:cNvPr>
          <p:cNvSpPr/>
          <p:nvPr/>
        </p:nvSpPr>
        <p:spPr>
          <a:xfrm>
            <a:off x="2161474" y="2394251"/>
            <a:ext cx="931050" cy="51435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New Quote</a:t>
            </a:r>
          </a:p>
        </p:txBody>
      </p:sp>
      <p:sp>
        <p:nvSpPr>
          <p:cNvPr id="22" name="Oval 21">
            <a:extLst>
              <a:ext uri="{FF2B5EF4-FFF2-40B4-BE49-F238E27FC236}">
                <a16:creationId xmlns:a16="http://schemas.microsoft.com/office/drawing/2014/main" id="{68214E85-BC11-AF86-137A-643A877279C9}"/>
              </a:ext>
            </a:extLst>
          </p:cNvPr>
          <p:cNvSpPr/>
          <p:nvPr/>
        </p:nvSpPr>
        <p:spPr>
          <a:xfrm>
            <a:off x="1671784" y="1857298"/>
            <a:ext cx="252838" cy="21069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25" name="Oval 24">
            <a:extLst>
              <a:ext uri="{FF2B5EF4-FFF2-40B4-BE49-F238E27FC236}">
                <a16:creationId xmlns:a16="http://schemas.microsoft.com/office/drawing/2014/main" id="{5FC229C1-F168-0C3F-4517-23FE0DDAED6A}"/>
              </a:ext>
            </a:extLst>
          </p:cNvPr>
          <p:cNvSpPr/>
          <p:nvPr/>
        </p:nvSpPr>
        <p:spPr>
          <a:xfrm>
            <a:off x="1671784" y="2522502"/>
            <a:ext cx="252838" cy="21069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27" name="TextBox 26">
            <a:extLst>
              <a:ext uri="{FF2B5EF4-FFF2-40B4-BE49-F238E27FC236}">
                <a16:creationId xmlns:a16="http://schemas.microsoft.com/office/drawing/2014/main" id="{27EBE5FE-41F4-8704-8BDF-8DE5908C48C5}"/>
              </a:ext>
            </a:extLst>
          </p:cNvPr>
          <p:cNvSpPr txBox="1"/>
          <p:nvPr/>
        </p:nvSpPr>
        <p:spPr>
          <a:xfrm>
            <a:off x="3225857" y="1091326"/>
            <a:ext cx="1024135" cy="331297"/>
          </a:xfrm>
          <a:prstGeom prst="rect">
            <a:avLst/>
          </a:prstGeom>
          <a:noFill/>
          <a:ln>
            <a:solidFill>
              <a:schemeClr val="tx1"/>
            </a:solidFill>
            <a:prstDash val="dash"/>
          </a:ln>
        </p:spPr>
        <p:txBody>
          <a:bodyPr wrap="square" rtlCol="0">
            <a:spAutoFit/>
          </a:bodyPr>
          <a:lstStyle/>
          <a:p>
            <a:r>
              <a:rPr lang="en-US" sz="1530" dirty="0"/>
              <a:t>1000 USD</a:t>
            </a:r>
          </a:p>
        </p:txBody>
      </p:sp>
      <p:sp>
        <p:nvSpPr>
          <p:cNvPr id="28" name="TextBox 27">
            <a:extLst>
              <a:ext uri="{FF2B5EF4-FFF2-40B4-BE49-F238E27FC236}">
                <a16:creationId xmlns:a16="http://schemas.microsoft.com/office/drawing/2014/main" id="{25D54668-7239-2DDB-6214-0D587BBB568A}"/>
              </a:ext>
            </a:extLst>
          </p:cNvPr>
          <p:cNvSpPr txBox="1"/>
          <p:nvPr/>
        </p:nvSpPr>
        <p:spPr>
          <a:xfrm>
            <a:off x="3204965" y="1736698"/>
            <a:ext cx="1024135" cy="331297"/>
          </a:xfrm>
          <a:prstGeom prst="rect">
            <a:avLst/>
          </a:prstGeom>
          <a:noFill/>
          <a:ln>
            <a:solidFill>
              <a:schemeClr val="tx1"/>
            </a:solidFill>
            <a:prstDash val="dash"/>
          </a:ln>
        </p:spPr>
        <p:txBody>
          <a:bodyPr wrap="square" rtlCol="0">
            <a:spAutoFit/>
          </a:bodyPr>
          <a:lstStyle>
            <a:defPPr>
              <a:defRPr lang="en-US"/>
            </a:defPPr>
            <a:lvl1pPr>
              <a:defRPr sz="1200"/>
            </a:lvl1pPr>
          </a:lstStyle>
          <a:p>
            <a:r>
              <a:rPr lang="en-US" sz="1530" dirty="0"/>
              <a:t>900 USD</a:t>
            </a:r>
          </a:p>
        </p:txBody>
      </p:sp>
      <p:sp>
        <p:nvSpPr>
          <p:cNvPr id="29" name="TextBox 28">
            <a:extLst>
              <a:ext uri="{FF2B5EF4-FFF2-40B4-BE49-F238E27FC236}">
                <a16:creationId xmlns:a16="http://schemas.microsoft.com/office/drawing/2014/main" id="{3FE60D43-8B0B-E909-92A8-23ED6E9C7069}"/>
              </a:ext>
            </a:extLst>
          </p:cNvPr>
          <p:cNvSpPr txBox="1"/>
          <p:nvPr/>
        </p:nvSpPr>
        <p:spPr>
          <a:xfrm>
            <a:off x="3225857" y="2451261"/>
            <a:ext cx="1024135" cy="331297"/>
          </a:xfrm>
          <a:prstGeom prst="rect">
            <a:avLst/>
          </a:prstGeom>
          <a:noFill/>
          <a:ln>
            <a:solidFill>
              <a:schemeClr val="tx1"/>
            </a:solidFill>
            <a:prstDash val="dash"/>
          </a:ln>
        </p:spPr>
        <p:txBody>
          <a:bodyPr wrap="square" rtlCol="0">
            <a:spAutoFit/>
          </a:bodyPr>
          <a:lstStyle>
            <a:defPPr>
              <a:defRPr lang="en-US"/>
            </a:defPPr>
            <a:lvl1pPr>
              <a:defRPr sz="1200"/>
            </a:lvl1pPr>
          </a:lstStyle>
          <a:p>
            <a:r>
              <a:rPr lang="en-US" sz="1530" dirty="0"/>
              <a:t>900 USD</a:t>
            </a:r>
          </a:p>
        </p:txBody>
      </p:sp>
      <p:sp>
        <p:nvSpPr>
          <p:cNvPr id="31" name="Rectangle 30">
            <a:extLst>
              <a:ext uri="{FF2B5EF4-FFF2-40B4-BE49-F238E27FC236}">
                <a16:creationId xmlns:a16="http://schemas.microsoft.com/office/drawing/2014/main" id="{5DDF35B8-68C8-15B6-E79F-98A07D952E00}"/>
              </a:ext>
            </a:extLst>
          </p:cNvPr>
          <p:cNvSpPr/>
          <p:nvPr/>
        </p:nvSpPr>
        <p:spPr>
          <a:xfrm>
            <a:off x="10789921" y="-542815"/>
            <a:ext cx="1645920" cy="514350"/>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30" dirty="0"/>
              <a:t>Button</a:t>
            </a:r>
          </a:p>
        </p:txBody>
      </p:sp>
      <p:sp>
        <p:nvSpPr>
          <p:cNvPr id="33" name="Rectangle 32">
            <a:extLst>
              <a:ext uri="{FF2B5EF4-FFF2-40B4-BE49-F238E27FC236}">
                <a16:creationId xmlns:a16="http://schemas.microsoft.com/office/drawing/2014/main" id="{D758DE22-6010-6FCC-6987-ECF21EB60082}"/>
              </a:ext>
            </a:extLst>
          </p:cNvPr>
          <p:cNvSpPr/>
          <p:nvPr/>
        </p:nvSpPr>
        <p:spPr>
          <a:xfrm>
            <a:off x="12515118" y="-560000"/>
            <a:ext cx="1231410" cy="51435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30" dirty="0"/>
              <a:t>Display</a:t>
            </a:r>
          </a:p>
        </p:txBody>
      </p:sp>
      <p:grpSp>
        <p:nvGrpSpPr>
          <p:cNvPr id="34" name="Group 33">
            <a:extLst>
              <a:ext uri="{FF2B5EF4-FFF2-40B4-BE49-F238E27FC236}">
                <a16:creationId xmlns:a16="http://schemas.microsoft.com/office/drawing/2014/main" id="{558194C7-38D7-260C-C757-209648C98961}"/>
              </a:ext>
            </a:extLst>
          </p:cNvPr>
          <p:cNvGrpSpPr/>
          <p:nvPr/>
        </p:nvGrpSpPr>
        <p:grpSpPr>
          <a:xfrm>
            <a:off x="13939257" y="-408174"/>
            <a:ext cx="252838" cy="210698"/>
            <a:chOff x="2181339" y="1663547"/>
            <a:chExt cx="461953" cy="403412"/>
          </a:xfrm>
        </p:grpSpPr>
        <p:sp>
          <p:nvSpPr>
            <p:cNvPr id="35" name="Oval 34">
              <a:extLst>
                <a:ext uri="{FF2B5EF4-FFF2-40B4-BE49-F238E27FC236}">
                  <a16:creationId xmlns:a16="http://schemas.microsoft.com/office/drawing/2014/main" id="{26381513-7385-2016-45ED-F74FA77B0FF1}"/>
                </a:ext>
              </a:extLst>
            </p:cNvPr>
            <p:cNvSpPr/>
            <p:nvPr/>
          </p:nvSpPr>
          <p:spPr>
            <a:xfrm>
              <a:off x="2181339" y="1663547"/>
              <a:ext cx="461953" cy="4034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36" name="Oval 35">
              <a:extLst>
                <a:ext uri="{FF2B5EF4-FFF2-40B4-BE49-F238E27FC236}">
                  <a16:creationId xmlns:a16="http://schemas.microsoft.com/office/drawing/2014/main" id="{58F63F3B-E737-7D81-384E-C9197FD69A5F}"/>
                </a:ext>
              </a:extLst>
            </p:cNvPr>
            <p:cNvSpPr/>
            <p:nvPr/>
          </p:nvSpPr>
          <p:spPr>
            <a:xfrm>
              <a:off x="2339787" y="1770747"/>
              <a:ext cx="145056" cy="15650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grpSp>
      <p:sp>
        <p:nvSpPr>
          <p:cNvPr id="40" name="Rectangle 39">
            <a:extLst>
              <a:ext uri="{FF2B5EF4-FFF2-40B4-BE49-F238E27FC236}">
                <a16:creationId xmlns:a16="http://schemas.microsoft.com/office/drawing/2014/main" id="{CFF766B5-7239-A2BD-C2AB-0A414CD97D03}"/>
              </a:ext>
            </a:extLst>
          </p:cNvPr>
          <p:cNvSpPr/>
          <p:nvPr/>
        </p:nvSpPr>
        <p:spPr>
          <a:xfrm>
            <a:off x="4398292" y="1033047"/>
            <a:ext cx="1037308" cy="514349"/>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Quoted Cost</a:t>
            </a:r>
          </a:p>
        </p:txBody>
      </p:sp>
      <p:sp>
        <p:nvSpPr>
          <p:cNvPr id="42" name="Rectangle 41">
            <a:extLst>
              <a:ext uri="{FF2B5EF4-FFF2-40B4-BE49-F238E27FC236}">
                <a16:creationId xmlns:a16="http://schemas.microsoft.com/office/drawing/2014/main" id="{D6487772-D653-C685-6C0E-046206C642D8}"/>
              </a:ext>
            </a:extLst>
          </p:cNvPr>
          <p:cNvSpPr/>
          <p:nvPr/>
        </p:nvSpPr>
        <p:spPr>
          <a:xfrm>
            <a:off x="5837552" y="899537"/>
            <a:ext cx="4551048" cy="21611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48" name="TextBox 47">
            <a:extLst>
              <a:ext uri="{FF2B5EF4-FFF2-40B4-BE49-F238E27FC236}">
                <a16:creationId xmlns:a16="http://schemas.microsoft.com/office/drawing/2014/main" id="{0D90EA41-CEB7-8763-10C2-56BC4403D978}"/>
              </a:ext>
            </a:extLst>
          </p:cNvPr>
          <p:cNvSpPr txBox="1"/>
          <p:nvPr/>
        </p:nvSpPr>
        <p:spPr>
          <a:xfrm>
            <a:off x="5869201" y="908618"/>
            <a:ext cx="814224" cy="334192"/>
          </a:xfrm>
          <a:prstGeom prst="rect">
            <a:avLst/>
          </a:prstGeom>
          <a:noFill/>
        </p:spPr>
        <p:txBody>
          <a:bodyPr wrap="square" rtlCol="0">
            <a:spAutoFit/>
          </a:bodyPr>
          <a:lstStyle/>
          <a:p>
            <a:r>
              <a:rPr lang="en-US" sz="1530" dirty="0"/>
              <a:t>Prior</a:t>
            </a:r>
          </a:p>
        </p:txBody>
      </p:sp>
      <p:sp>
        <p:nvSpPr>
          <p:cNvPr id="52" name="Rectangle 51">
            <a:extLst>
              <a:ext uri="{FF2B5EF4-FFF2-40B4-BE49-F238E27FC236}">
                <a16:creationId xmlns:a16="http://schemas.microsoft.com/office/drawing/2014/main" id="{AC5A8A13-3A71-FF21-3EA8-3E8810AF3F15}"/>
              </a:ext>
            </a:extLst>
          </p:cNvPr>
          <p:cNvSpPr/>
          <p:nvPr/>
        </p:nvSpPr>
        <p:spPr>
          <a:xfrm>
            <a:off x="5887733" y="1244274"/>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SCAC</a:t>
            </a:r>
          </a:p>
        </p:txBody>
      </p:sp>
      <p:sp>
        <p:nvSpPr>
          <p:cNvPr id="54" name="Rectangle 53">
            <a:extLst>
              <a:ext uri="{FF2B5EF4-FFF2-40B4-BE49-F238E27FC236}">
                <a16:creationId xmlns:a16="http://schemas.microsoft.com/office/drawing/2014/main" id="{CF463645-4802-EF68-CD86-36A99A8759D3}"/>
              </a:ext>
            </a:extLst>
          </p:cNvPr>
          <p:cNvSpPr/>
          <p:nvPr/>
        </p:nvSpPr>
        <p:spPr>
          <a:xfrm>
            <a:off x="6804600" y="1230740"/>
            <a:ext cx="981618"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Equipment</a:t>
            </a:r>
          </a:p>
        </p:txBody>
      </p:sp>
      <p:sp>
        <p:nvSpPr>
          <p:cNvPr id="56" name="Rectangle 55">
            <a:extLst>
              <a:ext uri="{FF2B5EF4-FFF2-40B4-BE49-F238E27FC236}">
                <a16:creationId xmlns:a16="http://schemas.microsoft.com/office/drawing/2014/main" id="{646A3993-36FC-354A-8AAC-3CE5D1C8210D}"/>
              </a:ext>
            </a:extLst>
          </p:cNvPr>
          <p:cNvSpPr/>
          <p:nvPr/>
        </p:nvSpPr>
        <p:spPr>
          <a:xfrm>
            <a:off x="7874499" y="1230739"/>
            <a:ext cx="847119"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Route Rank</a:t>
            </a:r>
          </a:p>
        </p:txBody>
      </p:sp>
      <p:sp>
        <p:nvSpPr>
          <p:cNvPr id="58" name="Rectangle 57">
            <a:extLst>
              <a:ext uri="{FF2B5EF4-FFF2-40B4-BE49-F238E27FC236}">
                <a16:creationId xmlns:a16="http://schemas.microsoft.com/office/drawing/2014/main" id="{F93E469F-FF4E-55A4-58A9-EEB11A094EFC}"/>
              </a:ext>
            </a:extLst>
          </p:cNvPr>
          <p:cNvSpPr/>
          <p:nvPr/>
        </p:nvSpPr>
        <p:spPr>
          <a:xfrm>
            <a:off x="8842794" y="1236217"/>
            <a:ext cx="662886"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Rank</a:t>
            </a:r>
          </a:p>
        </p:txBody>
      </p:sp>
      <p:sp>
        <p:nvSpPr>
          <p:cNvPr id="60" name="TextBox 59">
            <a:extLst>
              <a:ext uri="{FF2B5EF4-FFF2-40B4-BE49-F238E27FC236}">
                <a16:creationId xmlns:a16="http://schemas.microsoft.com/office/drawing/2014/main" id="{59695EC7-3CF4-4C11-017C-B9357ED9A63E}"/>
              </a:ext>
            </a:extLst>
          </p:cNvPr>
          <p:cNvSpPr txBox="1"/>
          <p:nvPr/>
        </p:nvSpPr>
        <p:spPr>
          <a:xfrm>
            <a:off x="5932679" y="1736698"/>
            <a:ext cx="802442" cy="276999"/>
          </a:xfrm>
          <a:prstGeom prst="rect">
            <a:avLst/>
          </a:prstGeom>
          <a:noFill/>
          <a:ln>
            <a:solidFill>
              <a:schemeClr val="tx1"/>
            </a:solidFill>
            <a:prstDash val="dash"/>
          </a:ln>
        </p:spPr>
        <p:txBody>
          <a:bodyPr wrap="square" rtlCol="0">
            <a:spAutoFit/>
          </a:bodyPr>
          <a:lstStyle/>
          <a:p>
            <a:pPr algn="ctr"/>
            <a:r>
              <a:rPr lang="en-US" sz="1200" dirty="0"/>
              <a:t>CTNS</a:t>
            </a:r>
          </a:p>
        </p:txBody>
      </p:sp>
      <p:sp>
        <p:nvSpPr>
          <p:cNvPr id="62" name="TextBox 61">
            <a:extLst>
              <a:ext uri="{FF2B5EF4-FFF2-40B4-BE49-F238E27FC236}">
                <a16:creationId xmlns:a16="http://schemas.microsoft.com/office/drawing/2014/main" id="{82CF6730-4905-4DB8-E59F-3A2401F49376}"/>
              </a:ext>
            </a:extLst>
          </p:cNvPr>
          <p:cNvSpPr txBox="1"/>
          <p:nvPr/>
        </p:nvSpPr>
        <p:spPr>
          <a:xfrm>
            <a:off x="6910689" y="1743295"/>
            <a:ext cx="802442" cy="276999"/>
          </a:xfrm>
          <a:prstGeom prst="rect">
            <a:avLst/>
          </a:prstGeom>
          <a:noFill/>
          <a:ln>
            <a:solidFill>
              <a:schemeClr val="tx1"/>
            </a:solidFill>
            <a:prstDash val="dash"/>
          </a:ln>
        </p:spPr>
        <p:txBody>
          <a:bodyPr wrap="square" rtlCol="0">
            <a:spAutoFit/>
          </a:bodyPr>
          <a:lstStyle/>
          <a:p>
            <a:pPr algn="ctr"/>
            <a:r>
              <a:rPr lang="en-US" sz="1200" dirty="0"/>
              <a:t>LTL</a:t>
            </a:r>
          </a:p>
        </p:txBody>
      </p:sp>
      <p:sp>
        <p:nvSpPr>
          <p:cNvPr id="64" name="TextBox 63">
            <a:extLst>
              <a:ext uri="{FF2B5EF4-FFF2-40B4-BE49-F238E27FC236}">
                <a16:creationId xmlns:a16="http://schemas.microsoft.com/office/drawing/2014/main" id="{6DA5DDF6-C475-A3D9-B3BD-BCBD2FA10AE8}"/>
              </a:ext>
            </a:extLst>
          </p:cNvPr>
          <p:cNvSpPr txBox="1"/>
          <p:nvPr/>
        </p:nvSpPr>
        <p:spPr>
          <a:xfrm>
            <a:off x="7911883" y="1722182"/>
            <a:ext cx="802442" cy="276999"/>
          </a:xfrm>
          <a:prstGeom prst="rect">
            <a:avLst/>
          </a:prstGeom>
          <a:noFill/>
          <a:ln>
            <a:solidFill>
              <a:schemeClr val="tx1"/>
            </a:solidFill>
            <a:prstDash val="dash"/>
          </a:ln>
        </p:spPr>
        <p:txBody>
          <a:bodyPr wrap="square" rtlCol="0">
            <a:spAutoFit/>
          </a:bodyPr>
          <a:lstStyle/>
          <a:p>
            <a:pPr algn="ctr"/>
            <a:r>
              <a:rPr lang="en-US" sz="1200" dirty="0"/>
              <a:t>4</a:t>
            </a:r>
          </a:p>
        </p:txBody>
      </p:sp>
      <p:sp>
        <p:nvSpPr>
          <p:cNvPr id="66" name="Rectangle 65">
            <a:extLst>
              <a:ext uri="{FF2B5EF4-FFF2-40B4-BE49-F238E27FC236}">
                <a16:creationId xmlns:a16="http://schemas.microsoft.com/office/drawing/2014/main" id="{75FEFAE1-5B5C-6308-62AF-E78DC1D3E0C3}"/>
              </a:ext>
            </a:extLst>
          </p:cNvPr>
          <p:cNvSpPr/>
          <p:nvPr/>
        </p:nvSpPr>
        <p:spPr>
          <a:xfrm>
            <a:off x="9607336" y="1230738"/>
            <a:ext cx="725714"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Tender Status</a:t>
            </a:r>
          </a:p>
        </p:txBody>
      </p:sp>
      <p:sp>
        <p:nvSpPr>
          <p:cNvPr id="68" name="TextBox 67">
            <a:extLst>
              <a:ext uri="{FF2B5EF4-FFF2-40B4-BE49-F238E27FC236}">
                <a16:creationId xmlns:a16="http://schemas.microsoft.com/office/drawing/2014/main" id="{9E97DC4E-EFB5-E902-17D1-CAFAA18642D6}"/>
              </a:ext>
            </a:extLst>
          </p:cNvPr>
          <p:cNvSpPr txBox="1"/>
          <p:nvPr/>
        </p:nvSpPr>
        <p:spPr>
          <a:xfrm>
            <a:off x="8821830" y="1737746"/>
            <a:ext cx="696228" cy="276999"/>
          </a:xfrm>
          <a:prstGeom prst="rect">
            <a:avLst/>
          </a:prstGeom>
          <a:noFill/>
          <a:ln>
            <a:solidFill>
              <a:schemeClr val="tx1"/>
            </a:solidFill>
            <a:prstDash val="dash"/>
          </a:ln>
        </p:spPr>
        <p:txBody>
          <a:bodyPr wrap="square" rtlCol="0">
            <a:spAutoFit/>
          </a:bodyPr>
          <a:lstStyle/>
          <a:p>
            <a:pPr algn="ctr"/>
            <a:r>
              <a:rPr lang="en-US" sz="1200" dirty="0"/>
              <a:t>2</a:t>
            </a:r>
          </a:p>
        </p:txBody>
      </p:sp>
      <p:sp>
        <p:nvSpPr>
          <p:cNvPr id="70" name="TextBox 69">
            <a:extLst>
              <a:ext uri="{FF2B5EF4-FFF2-40B4-BE49-F238E27FC236}">
                <a16:creationId xmlns:a16="http://schemas.microsoft.com/office/drawing/2014/main" id="{3059826C-47B9-5B15-44C6-7FE457A12BA1}"/>
              </a:ext>
            </a:extLst>
          </p:cNvPr>
          <p:cNvSpPr txBox="1"/>
          <p:nvPr/>
        </p:nvSpPr>
        <p:spPr>
          <a:xfrm>
            <a:off x="9634629" y="1728630"/>
            <a:ext cx="696228" cy="276999"/>
          </a:xfrm>
          <a:prstGeom prst="rect">
            <a:avLst/>
          </a:prstGeom>
          <a:noFill/>
          <a:ln>
            <a:solidFill>
              <a:schemeClr val="tx1"/>
            </a:solidFill>
            <a:prstDash val="dash"/>
          </a:ln>
        </p:spPr>
        <p:txBody>
          <a:bodyPr wrap="square" rtlCol="0">
            <a:spAutoFit/>
          </a:bodyPr>
          <a:lstStyle/>
          <a:p>
            <a:pPr algn="ctr"/>
            <a:r>
              <a:rPr lang="en-US" sz="1200" dirty="0"/>
              <a:t>Sent</a:t>
            </a:r>
          </a:p>
        </p:txBody>
      </p:sp>
      <p:sp>
        <p:nvSpPr>
          <p:cNvPr id="72" name="TextBox 71">
            <a:extLst>
              <a:ext uri="{FF2B5EF4-FFF2-40B4-BE49-F238E27FC236}">
                <a16:creationId xmlns:a16="http://schemas.microsoft.com/office/drawing/2014/main" id="{5F83DD39-3BA1-1EA7-6D1B-DCD9154975EF}"/>
              </a:ext>
            </a:extLst>
          </p:cNvPr>
          <p:cNvSpPr txBox="1"/>
          <p:nvPr/>
        </p:nvSpPr>
        <p:spPr>
          <a:xfrm>
            <a:off x="6801893" y="2522501"/>
            <a:ext cx="1260118" cy="215444"/>
          </a:xfrm>
          <a:prstGeom prst="rect">
            <a:avLst/>
          </a:prstGeom>
          <a:noFill/>
          <a:ln>
            <a:solidFill>
              <a:schemeClr val="tx1"/>
            </a:solidFill>
            <a:prstDash val="dash"/>
          </a:ln>
        </p:spPr>
        <p:txBody>
          <a:bodyPr wrap="square" rtlCol="0">
            <a:spAutoFit/>
          </a:bodyPr>
          <a:lstStyle/>
          <a:p>
            <a:pPr algn="ctr"/>
            <a:r>
              <a:rPr lang="en-US" sz="800" dirty="0"/>
              <a:t>06/03/2026 16:30 CDT</a:t>
            </a:r>
          </a:p>
        </p:txBody>
      </p:sp>
      <p:sp>
        <p:nvSpPr>
          <p:cNvPr id="74" name="TextBox 73">
            <a:extLst>
              <a:ext uri="{FF2B5EF4-FFF2-40B4-BE49-F238E27FC236}">
                <a16:creationId xmlns:a16="http://schemas.microsoft.com/office/drawing/2014/main" id="{AF908879-37A5-B307-2704-8C98B8BC3466}"/>
              </a:ext>
            </a:extLst>
          </p:cNvPr>
          <p:cNvSpPr txBox="1"/>
          <p:nvPr/>
        </p:nvSpPr>
        <p:spPr>
          <a:xfrm>
            <a:off x="9078516" y="2516881"/>
            <a:ext cx="1252341" cy="215444"/>
          </a:xfrm>
          <a:prstGeom prst="rect">
            <a:avLst/>
          </a:prstGeom>
          <a:noFill/>
          <a:ln>
            <a:solidFill>
              <a:schemeClr val="tx1"/>
            </a:solidFill>
            <a:prstDash val="dash"/>
          </a:ln>
        </p:spPr>
        <p:txBody>
          <a:bodyPr wrap="square" rtlCol="0">
            <a:spAutoFit/>
          </a:bodyPr>
          <a:lstStyle/>
          <a:p>
            <a:pPr algn="ctr"/>
            <a:r>
              <a:rPr lang="en-US" sz="800" dirty="0"/>
              <a:t>06/04/2026 16:30 CDT</a:t>
            </a:r>
          </a:p>
        </p:txBody>
      </p:sp>
      <p:sp>
        <p:nvSpPr>
          <p:cNvPr id="76" name="Rectangle 75">
            <a:extLst>
              <a:ext uri="{FF2B5EF4-FFF2-40B4-BE49-F238E27FC236}">
                <a16:creationId xmlns:a16="http://schemas.microsoft.com/office/drawing/2014/main" id="{7BC267AC-2FC2-F56B-5731-EE49080CD701}"/>
              </a:ext>
            </a:extLst>
          </p:cNvPr>
          <p:cNvSpPr/>
          <p:nvPr/>
        </p:nvSpPr>
        <p:spPr>
          <a:xfrm>
            <a:off x="5875652" y="2421577"/>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Pickup Date</a:t>
            </a:r>
          </a:p>
        </p:txBody>
      </p:sp>
      <p:sp>
        <p:nvSpPr>
          <p:cNvPr id="78" name="Rectangle 77">
            <a:extLst>
              <a:ext uri="{FF2B5EF4-FFF2-40B4-BE49-F238E27FC236}">
                <a16:creationId xmlns:a16="http://schemas.microsoft.com/office/drawing/2014/main" id="{59C54F1B-FEB8-56E0-DD87-BD48ED9C5163}"/>
              </a:ext>
            </a:extLst>
          </p:cNvPr>
          <p:cNvSpPr/>
          <p:nvPr/>
        </p:nvSpPr>
        <p:spPr>
          <a:xfrm>
            <a:off x="8193028" y="2451261"/>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Delivery Date</a:t>
            </a:r>
          </a:p>
        </p:txBody>
      </p:sp>
      <p:sp>
        <p:nvSpPr>
          <p:cNvPr id="80" name="Rectangle 79">
            <a:extLst>
              <a:ext uri="{FF2B5EF4-FFF2-40B4-BE49-F238E27FC236}">
                <a16:creationId xmlns:a16="http://schemas.microsoft.com/office/drawing/2014/main" id="{A553B6D2-1899-EC00-4319-40120E24FD4A}"/>
              </a:ext>
            </a:extLst>
          </p:cNvPr>
          <p:cNvSpPr/>
          <p:nvPr/>
        </p:nvSpPr>
        <p:spPr>
          <a:xfrm>
            <a:off x="10698293" y="893127"/>
            <a:ext cx="4551048" cy="21611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82" name="TextBox 81">
            <a:extLst>
              <a:ext uri="{FF2B5EF4-FFF2-40B4-BE49-F238E27FC236}">
                <a16:creationId xmlns:a16="http://schemas.microsoft.com/office/drawing/2014/main" id="{AB0B86F4-2B07-B4CD-79BD-006E11C8DE98}"/>
              </a:ext>
            </a:extLst>
          </p:cNvPr>
          <p:cNvSpPr txBox="1"/>
          <p:nvPr/>
        </p:nvSpPr>
        <p:spPr>
          <a:xfrm>
            <a:off x="10729941" y="908618"/>
            <a:ext cx="2080259" cy="327782"/>
          </a:xfrm>
          <a:prstGeom prst="rect">
            <a:avLst/>
          </a:prstGeom>
          <a:noFill/>
        </p:spPr>
        <p:txBody>
          <a:bodyPr wrap="square" rtlCol="0">
            <a:spAutoFit/>
          </a:bodyPr>
          <a:lstStyle/>
          <a:p>
            <a:r>
              <a:rPr lang="en-US" sz="1530" dirty="0"/>
              <a:t>New</a:t>
            </a:r>
          </a:p>
        </p:txBody>
      </p:sp>
      <p:sp>
        <p:nvSpPr>
          <p:cNvPr id="84" name="Rectangle 83">
            <a:extLst>
              <a:ext uri="{FF2B5EF4-FFF2-40B4-BE49-F238E27FC236}">
                <a16:creationId xmlns:a16="http://schemas.microsoft.com/office/drawing/2014/main" id="{489FADD8-4DD1-ABB5-F974-795D8A4D6EC0}"/>
              </a:ext>
            </a:extLst>
          </p:cNvPr>
          <p:cNvSpPr/>
          <p:nvPr/>
        </p:nvSpPr>
        <p:spPr>
          <a:xfrm>
            <a:off x="10748474" y="1237864"/>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SCAC</a:t>
            </a:r>
          </a:p>
        </p:txBody>
      </p:sp>
      <p:sp>
        <p:nvSpPr>
          <p:cNvPr id="86" name="Rectangle 85">
            <a:extLst>
              <a:ext uri="{FF2B5EF4-FFF2-40B4-BE49-F238E27FC236}">
                <a16:creationId xmlns:a16="http://schemas.microsoft.com/office/drawing/2014/main" id="{F05C1B0E-EC67-95AF-41A6-B59923846223}"/>
              </a:ext>
            </a:extLst>
          </p:cNvPr>
          <p:cNvSpPr/>
          <p:nvPr/>
        </p:nvSpPr>
        <p:spPr>
          <a:xfrm>
            <a:off x="11665341" y="1224330"/>
            <a:ext cx="981618"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Equipment</a:t>
            </a:r>
          </a:p>
        </p:txBody>
      </p:sp>
      <p:sp>
        <p:nvSpPr>
          <p:cNvPr id="88" name="Rectangle 87">
            <a:extLst>
              <a:ext uri="{FF2B5EF4-FFF2-40B4-BE49-F238E27FC236}">
                <a16:creationId xmlns:a16="http://schemas.microsoft.com/office/drawing/2014/main" id="{C12EA4F7-0707-46A8-D7F6-01BF55E3B56C}"/>
              </a:ext>
            </a:extLst>
          </p:cNvPr>
          <p:cNvSpPr/>
          <p:nvPr/>
        </p:nvSpPr>
        <p:spPr>
          <a:xfrm>
            <a:off x="12735240" y="1224329"/>
            <a:ext cx="847119"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Route Rank</a:t>
            </a:r>
          </a:p>
        </p:txBody>
      </p:sp>
      <p:sp>
        <p:nvSpPr>
          <p:cNvPr id="90" name="Rectangle 89">
            <a:extLst>
              <a:ext uri="{FF2B5EF4-FFF2-40B4-BE49-F238E27FC236}">
                <a16:creationId xmlns:a16="http://schemas.microsoft.com/office/drawing/2014/main" id="{A3C34287-D4E5-7CDC-00C4-44753658F8C0}"/>
              </a:ext>
            </a:extLst>
          </p:cNvPr>
          <p:cNvSpPr/>
          <p:nvPr/>
        </p:nvSpPr>
        <p:spPr>
          <a:xfrm>
            <a:off x="13703535" y="1229807"/>
            <a:ext cx="662886"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Rank</a:t>
            </a:r>
          </a:p>
        </p:txBody>
      </p:sp>
      <p:sp>
        <p:nvSpPr>
          <p:cNvPr id="92" name="TextBox 91">
            <a:extLst>
              <a:ext uri="{FF2B5EF4-FFF2-40B4-BE49-F238E27FC236}">
                <a16:creationId xmlns:a16="http://schemas.microsoft.com/office/drawing/2014/main" id="{4C1F99EE-BB80-5BCE-F0CD-5096DB01C574}"/>
              </a:ext>
            </a:extLst>
          </p:cNvPr>
          <p:cNvSpPr txBox="1"/>
          <p:nvPr/>
        </p:nvSpPr>
        <p:spPr>
          <a:xfrm>
            <a:off x="10793420" y="1730288"/>
            <a:ext cx="802442" cy="276999"/>
          </a:xfrm>
          <a:prstGeom prst="rect">
            <a:avLst/>
          </a:prstGeom>
          <a:noFill/>
          <a:ln>
            <a:solidFill>
              <a:schemeClr val="tx1"/>
            </a:solidFill>
            <a:prstDash val="dash"/>
          </a:ln>
        </p:spPr>
        <p:txBody>
          <a:bodyPr wrap="square" rtlCol="0">
            <a:spAutoFit/>
          </a:bodyPr>
          <a:lstStyle/>
          <a:p>
            <a:pPr algn="ctr"/>
            <a:r>
              <a:rPr lang="en-US" sz="1200" dirty="0"/>
              <a:t>CTNS</a:t>
            </a:r>
          </a:p>
        </p:txBody>
      </p:sp>
      <p:sp>
        <p:nvSpPr>
          <p:cNvPr id="94" name="TextBox 93">
            <a:extLst>
              <a:ext uri="{FF2B5EF4-FFF2-40B4-BE49-F238E27FC236}">
                <a16:creationId xmlns:a16="http://schemas.microsoft.com/office/drawing/2014/main" id="{900014D5-9891-BFB3-A732-B27019D04130}"/>
              </a:ext>
            </a:extLst>
          </p:cNvPr>
          <p:cNvSpPr txBox="1"/>
          <p:nvPr/>
        </p:nvSpPr>
        <p:spPr>
          <a:xfrm>
            <a:off x="11771430" y="1736885"/>
            <a:ext cx="802442" cy="276999"/>
          </a:xfrm>
          <a:prstGeom prst="rect">
            <a:avLst/>
          </a:prstGeom>
          <a:noFill/>
          <a:ln>
            <a:solidFill>
              <a:schemeClr val="tx1"/>
            </a:solidFill>
            <a:prstDash val="dash"/>
          </a:ln>
        </p:spPr>
        <p:txBody>
          <a:bodyPr wrap="square" rtlCol="0">
            <a:spAutoFit/>
          </a:bodyPr>
          <a:lstStyle/>
          <a:p>
            <a:pPr algn="ctr"/>
            <a:r>
              <a:rPr lang="en-US" sz="1200" dirty="0"/>
              <a:t>LTL</a:t>
            </a:r>
          </a:p>
        </p:txBody>
      </p:sp>
      <p:sp>
        <p:nvSpPr>
          <p:cNvPr id="96" name="TextBox 95">
            <a:extLst>
              <a:ext uri="{FF2B5EF4-FFF2-40B4-BE49-F238E27FC236}">
                <a16:creationId xmlns:a16="http://schemas.microsoft.com/office/drawing/2014/main" id="{F3D80CA5-28AB-2465-5663-F80D47FE8D74}"/>
              </a:ext>
            </a:extLst>
          </p:cNvPr>
          <p:cNvSpPr txBox="1"/>
          <p:nvPr/>
        </p:nvSpPr>
        <p:spPr>
          <a:xfrm>
            <a:off x="12772624" y="1715772"/>
            <a:ext cx="802442" cy="276999"/>
          </a:xfrm>
          <a:prstGeom prst="rect">
            <a:avLst/>
          </a:prstGeom>
          <a:noFill/>
          <a:ln>
            <a:solidFill>
              <a:schemeClr val="tx1"/>
            </a:solidFill>
            <a:prstDash val="dash"/>
          </a:ln>
        </p:spPr>
        <p:txBody>
          <a:bodyPr wrap="square" rtlCol="0">
            <a:spAutoFit/>
          </a:bodyPr>
          <a:lstStyle/>
          <a:p>
            <a:pPr algn="ctr"/>
            <a:r>
              <a:rPr lang="en-US" sz="1200" dirty="0"/>
              <a:t>5</a:t>
            </a:r>
          </a:p>
        </p:txBody>
      </p:sp>
      <p:sp>
        <p:nvSpPr>
          <p:cNvPr id="98" name="Rectangle 97">
            <a:extLst>
              <a:ext uri="{FF2B5EF4-FFF2-40B4-BE49-F238E27FC236}">
                <a16:creationId xmlns:a16="http://schemas.microsoft.com/office/drawing/2014/main" id="{26A2D4A2-2C9C-E98C-61D5-E5B702DA7076}"/>
              </a:ext>
            </a:extLst>
          </p:cNvPr>
          <p:cNvSpPr/>
          <p:nvPr/>
        </p:nvSpPr>
        <p:spPr>
          <a:xfrm>
            <a:off x="14468077" y="1224328"/>
            <a:ext cx="725714" cy="36223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Tender Status</a:t>
            </a:r>
          </a:p>
        </p:txBody>
      </p:sp>
      <p:sp>
        <p:nvSpPr>
          <p:cNvPr id="100" name="TextBox 99">
            <a:extLst>
              <a:ext uri="{FF2B5EF4-FFF2-40B4-BE49-F238E27FC236}">
                <a16:creationId xmlns:a16="http://schemas.microsoft.com/office/drawing/2014/main" id="{69AA5CEF-320B-0646-20C8-F1BBBFEB4C15}"/>
              </a:ext>
            </a:extLst>
          </p:cNvPr>
          <p:cNvSpPr txBox="1"/>
          <p:nvPr/>
        </p:nvSpPr>
        <p:spPr>
          <a:xfrm>
            <a:off x="13682571" y="1731336"/>
            <a:ext cx="696228" cy="276999"/>
          </a:xfrm>
          <a:prstGeom prst="rect">
            <a:avLst/>
          </a:prstGeom>
          <a:noFill/>
          <a:ln>
            <a:solidFill>
              <a:schemeClr val="tx1"/>
            </a:solidFill>
            <a:prstDash val="dash"/>
          </a:ln>
        </p:spPr>
        <p:txBody>
          <a:bodyPr wrap="square" rtlCol="0">
            <a:spAutoFit/>
          </a:bodyPr>
          <a:lstStyle/>
          <a:p>
            <a:pPr algn="ctr"/>
            <a:r>
              <a:rPr lang="en-US" sz="1200" dirty="0"/>
              <a:t>1</a:t>
            </a:r>
          </a:p>
        </p:txBody>
      </p:sp>
      <p:sp>
        <p:nvSpPr>
          <p:cNvPr id="102" name="TextBox 101">
            <a:extLst>
              <a:ext uri="{FF2B5EF4-FFF2-40B4-BE49-F238E27FC236}">
                <a16:creationId xmlns:a16="http://schemas.microsoft.com/office/drawing/2014/main" id="{DD13ED33-6095-4C98-E1EC-D76762B1B68D}"/>
              </a:ext>
            </a:extLst>
          </p:cNvPr>
          <p:cNvSpPr txBox="1"/>
          <p:nvPr/>
        </p:nvSpPr>
        <p:spPr>
          <a:xfrm>
            <a:off x="14495370" y="1722220"/>
            <a:ext cx="696228" cy="276999"/>
          </a:xfrm>
          <a:prstGeom prst="rect">
            <a:avLst/>
          </a:prstGeom>
          <a:noFill/>
          <a:ln>
            <a:solidFill>
              <a:schemeClr val="tx1"/>
            </a:solidFill>
            <a:prstDash val="dash"/>
          </a:ln>
        </p:spPr>
        <p:txBody>
          <a:bodyPr wrap="square" rtlCol="0">
            <a:spAutoFit/>
          </a:bodyPr>
          <a:lstStyle/>
          <a:p>
            <a:pPr algn="ctr"/>
            <a:endParaRPr lang="en-US" sz="1200" dirty="0"/>
          </a:p>
        </p:txBody>
      </p:sp>
      <p:sp>
        <p:nvSpPr>
          <p:cNvPr id="104" name="TextBox 103">
            <a:extLst>
              <a:ext uri="{FF2B5EF4-FFF2-40B4-BE49-F238E27FC236}">
                <a16:creationId xmlns:a16="http://schemas.microsoft.com/office/drawing/2014/main" id="{9A2B5371-DC45-AFC2-794E-1C42EFEE219E}"/>
              </a:ext>
            </a:extLst>
          </p:cNvPr>
          <p:cNvSpPr txBox="1"/>
          <p:nvPr/>
        </p:nvSpPr>
        <p:spPr>
          <a:xfrm>
            <a:off x="11662634" y="2516091"/>
            <a:ext cx="1260118" cy="215444"/>
          </a:xfrm>
          <a:prstGeom prst="rect">
            <a:avLst/>
          </a:prstGeom>
          <a:noFill/>
          <a:ln>
            <a:solidFill>
              <a:schemeClr val="tx1"/>
            </a:solidFill>
            <a:prstDash val="dash"/>
          </a:ln>
        </p:spPr>
        <p:txBody>
          <a:bodyPr wrap="square" rtlCol="0">
            <a:spAutoFit/>
          </a:bodyPr>
          <a:lstStyle/>
          <a:p>
            <a:pPr algn="ctr"/>
            <a:r>
              <a:rPr lang="en-US" sz="800" dirty="0"/>
              <a:t>06/05/2026 16:30 CDT</a:t>
            </a:r>
          </a:p>
        </p:txBody>
      </p:sp>
      <p:sp>
        <p:nvSpPr>
          <p:cNvPr id="106" name="TextBox 105">
            <a:extLst>
              <a:ext uri="{FF2B5EF4-FFF2-40B4-BE49-F238E27FC236}">
                <a16:creationId xmlns:a16="http://schemas.microsoft.com/office/drawing/2014/main" id="{EA79A3DF-DAC0-DF6B-070E-F04DA77A91EB}"/>
              </a:ext>
            </a:extLst>
          </p:cNvPr>
          <p:cNvSpPr txBox="1"/>
          <p:nvPr/>
        </p:nvSpPr>
        <p:spPr>
          <a:xfrm>
            <a:off x="13939257" y="2510471"/>
            <a:ext cx="1252341" cy="215444"/>
          </a:xfrm>
          <a:prstGeom prst="rect">
            <a:avLst/>
          </a:prstGeom>
          <a:noFill/>
          <a:ln>
            <a:solidFill>
              <a:schemeClr val="tx1"/>
            </a:solidFill>
            <a:prstDash val="dash"/>
          </a:ln>
        </p:spPr>
        <p:txBody>
          <a:bodyPr wrap="square" rtlCol="0">
            <a:spAutoFit/>
          </a:bodyPr>
          <a:lstStyle/>
          <a:p>
            <a:pPr algn="ctr"/>
            <a:r>
              <a:rPr lang="en-US" sz="800" dirty="0"/>
              <a:t>06/06/2026 16:30 CDT</a:t>
            </a:r>
          </a:p>
        </p:txBody>
      </p:sp>
      <p:sp>
        <p:nvSpPr>
          <p:cNvPr id="108" name="Rectangle 107">
            <a:extLst>
              <a:ext uri="{FF2B5EF4-FFF2-40B4-BE49-F238E27FC236}">
                <a16:creationId xmlns:a16="http://schemas.microsoft.com/office/drawing/2014/main" id="{E6662F6D-09CB-8951-1466-380888D27BD8}"/>
              </a:ext>
            </a:extLst>
          </p:cNvPr>
          <p:cNvSpPr/>
          <p:nvPr/>
        </p:nvSpPr>
        <p:spPr>
          <a:xfrm>
            <a:off x="10736393" y="2415167"/>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Pickup Date</a:t>
            </a:r>
          </a:p>
        </p:txBody>
      </p:sp>
      <p:sp>
        <p:nvSpPr>
          <p:cNvPr id="110" name="Rectangle 109">
            <a:extLst>
              <a:ext uri="{FF2B5EF4-FFF2-40B4-BE49-F238E27FC236}">
                <a16:creationId xmlns:a16="http://schemas.microsoft.com/office/drawing/2014/main" id="{4541FA88-D898-9370-4CDF-4D4D512693AD}"/>
              </a:ext>
            </a:extLst>
          </p:cNvPr>
          <p:cNvSpPr/>
          <p:nvPr/>
        </p:nvSpPr>
        <p:spPr>
          <a:xfrm>
            <a:off x="13053769" y="2444851"/>
            <a:ext cx="847388" cy="348703"/>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Delivery Date</a:t>
            </a:r>
          </a:p>
        </p:txBody>
      </p:sp>
      <p:sp>
        <p:nvSpPr>
          <p:cNvPr id="118" name="TextBox 117">
            <a:extLst>
              <a:ext uri="{FF2B5EF4-FFF2-40B4-BE49-F238E27FC236}">
                <a16:creationId xmlns:a16="http://schemas.microsoft.com/office/drawing/2014/main" id="{FF5B4D72-EB08-CFB3-2D07-4B2799A20045}"/>
              </a:ext>
            </a:extLst>
          </p:cNvPr>
          <p:cNvSpPr txBox="1"/>
          <p:nvPr/>
        </p:nvSpPr>
        <p:spPr>
          <a:xfrm>
            <a:off x="459860" y="3127979"/>
            <a:ext cx="1668593" cy="327782"/>
          </a:xfrm>
          <a:prstGeom prst="rect">
            <a:avLst/>
          </a:prstGeom>
          <a:noFill/>
        </p:spPr>
        <p:txBody>
          <a:bodyPr wrap="square" rtlCol="0">
            <a:spAutoFit/>
          </a:bodyPr>
          <a:lstStyle/>
          <a:p>
            <a:r>
              <a:rPr lang="en-US" sz="1530" dirty="0"/>
              <a:t>New Tender List</a:t>
            </a:r>
          </a:p>
        </p:txBody>
      </p:sp>
      <p:sp>
        <p:nvSpPr>
          <p:cNvPr id="120" name="TextBox 119">
            <a:extLst>
              <a:ext uri="{FF2B5EF4-FFF2-40B4-BE49-F238E27FC236}">
                <a16:creationId xmlns:a16="http://schemas.microsoft.com/office/drawing/2014/main" id="{9909BDD3-8048-7D1C-EAF9-F8906A8DEE49}"/>
              </a:ext>
            </a:extLst>
          </p:cNvPr>
          <p:cNvSpPr txBox="1"/>
          <p:nvPr/>
        </p:nvSpPr>
        <p:spPr>
          <a:xfrm>
            <a:off x="459859" y="3523039"/>
            <a:ext cx="1668593" cy="327782"/>
          </a:xfrm>
          <a:prstGeom prst="rect">
            <a:avLst/>
          </a:prstGeom>
          <a:noFill/>
        </p:spPr>
        <p:txBody>
          <a:bodyPr wrap="square" rtlCol="0">
            <a:spAutoFit/>
          </a:bodyPr>
          <a:lstStyle/>
          <a:p>
            <a:r>
              <a:rPr lang="en-US" sz="1530" dirty="0"/>
              <a:t>Prior Tender List</a:t>
            </a:r>
          </a:p>
        </p:txBody>
      </p:sp>
      <p:pic>
        <p:nvPicPr>
          <p:cNvPr id="8" name="Picture 7">
            <a:extLst>
              <a:ext uri="{FF2B5EF4-FFF2-40B4-BE49-F238E27FC236}">
                <a16:creationId xmlns:a16="http://schemas.microsoft.com/office/drawing/2014/main" id="{3B8BA7C3-FA0C-B5AB-61D5-2E2F3CE65CAC}"/>
              </a:ext>
            </a:extLst>
          </p:cNvPr>
          <p:cNvPicPr>
            <a:picLocks noChangeAspect="1"/>
          </p:cNvPicPr>
          <p:nvPr/>
        </p:nvPicPr>
        <p:blipFill>
          <a:blip r:embed="rId2"/>
          <a:srcRect t="70350" r="93128" b="4763"/>
          <a:stretch>
            <a:fillRect/>
          </a:stretch>
        </p:blipFill>
        <p:spPr>
          <a:xfrm>
            <a:off x="0" y="3468832"/>
            <a:ext cx="509122" cy="431801"/>
          </a:xfrm>
          <a:prstGeom prst="rect">
            <a:avLst/>
          </a:prstGeom>
        </p:spPr>
      </p:pic>
      <p:pic>
        <p:nvPicPr>
          <p:cNvPr id="21" name="Picture 20">
            <a:extLst>
              <a:ext uri="{FF2B5EF4-FFF2-40B4-BE49-F238E27FC236}">
                <a16:creationId xmlns:a16="http://schemas.microsoft.com/office/drawing/2014/main" id="{9E3FDFFE-4C80-D153-1DFD-419F1535EC03}"/>
              </a:ext>
            </a:extLst>
          </p:cNvPr>
          <p:cNvPicPr>
            <a:picLocks noChangeAspect="1"/>
          </p:cNvPicPr>
          <p:nvPr/>
        </p:nvPicPr>
        <p:blipFill>
          <a:blip r:embed="rId2"/>
          <a:srcRect t="70350" r="93128" b="4763"/>
          <a:stretch>
            <a:fillRect/>
          </a:stretch>
        </p:blipFill>
        <p:spPr>
          <a:xfrm>
            <a:off x="10801" y="3141050"/>
            <a:ext cx="509122" cy="431801"/>
          </a:xfrm>
          <a:prstGeom prst="rect">
            <a:avLst/>
          </a:prstGeom>
        </p:spPr>
      </p:pic>
      <p:pic>
        <p:nvPicPr>
          <p:cNvPr id="24" name="Picture 23">
            <a:extLst>
              <a:ext uri="{FF2B5EF4-FFF2-40B4-BE49-F238E27FC236}">
                <a16:creationId xmlns:a16="http://schemas.microsoft.com/office/drawing/2014/main" id="{2CF561BF-D627-8EF5-E63B-66201F6B409D}"/>
              </a:ext>
            </a:extLst>
          </p:cNvPr>
          <p:cNvPicPr>
            <a:picLocks noChangeAspect="1"/>
          </p:cNvPicPr>
          <p:nvPr/>
        </p:nvPicPr>
        <p:blipFill>
          <a:blip r:embed="rId3"/>
          <a:stretch>
            <a:fillRect/>
          </a:stretch>
        </p:blipFill>
        <p:spPr>
          <a:xfrm>
            <a:off x="265419" y="4355289"/>
            <a:ext cx="14601988" cy="2186172"/>
          </a:xfrm>
          <a:prstGeom prst="rect">
            <a:avLst/>
          </a:prstGeom>
        </p:spPr>
      </p:pic>
      <p:sp>
        <p:nvSpPr>
          <p:cNvPr id="30" name="TextBox 29">
            <a:extLst>
              <a:ext uri="{FF2B5EF4-FFF2-40B4-BE49-F238E27FC236}">
                <a16:creationId xmlns:a16="http://schemas.microsoft.com/office/drawing/2014/main" id="{7F1615B1-8E53-02A6-23CE-17D1D049ACBE}"/>
              </a:ext>
            </a:extLst>
          </p:cNvPr>
          <p:cNvSpPr txBox="1"/>
          <p:nvPr/>
        </p:nvSpPr>
        <p:spPr>
          <a:xfrm>
            <a:off x="249945" y="3994742"/>
            <a:ext cx="2080259" cy="327782"/>
          </a:xfrm>
          <a:prstGeom prst="rect">
            <a:avLst/>
          </a:prstGeom>
          <a:noFill/>
        </p:spPr>
        <p:txBody>
          <a:bodyPr wrap="square" rtlCol="0">
            <a:spAutoFit/>
          </a:bodyPr>
          <a:lstStyle/>
          <a:p>
            <a:r>
              <a:rPr lang="en-US" sz="1530" dirty="0"/>
              <a:t>Compare Screen</a:t>
            </a:r>
          </a:p>
        </p:txBody>
      </p:sp>
    </p:spTree>
    <p:extLst>
      <p:ext uri="{BB962C8B-B14F-4D97-AF65-F5344CB8AC3E}">
        <p14:creationId xmlns:p14="http://schemas.microsoft.com/office/powerpoint/2010/main" val="1743352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B86E4-19A6-55C0-2F83-194037FBDB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F424D53-9532-BA7D-032B-ADFD6931DA52}"/>
              </a:ext>
            </a:extLst>
          </p:cNvPr>
          <p:cNvSpPr txBox="1"/>
          <p:nvPr/>
        </p:nvSpPr>
        <p:spPr>
          <a:xfrm>
            <a:off x="265362" y="-715951"/>
            <a:ext cx="8180137" cy="646331"/>
          </a:xfrm>
          <a:prstGeom prst="rect">
            <a:avLst/>
          </a:prstGeom>
          <a:noFill/>
        </p:spPr>
        <p:txBody>
          <a:bodyPr wrap="square" rtlCol="0">
            <a:spAutoFit/>
          </a:bodyPr>
          <a:lstStyle/>
          <a:p>
            <a:r>
              <a:rPr lang="en-US" sz="3600" dirty="0"/>
              <a:t>Review Order Change – Direct – Page 3/3</a:t>
            </a:r>
          </a:p>
        </p:txBody>
      </p:sp>
      <p:sp>
        <p:nvSpPr>
          <p:cNvPr id="31" name="Rectangle 30">
            <a:extLst>
              <a:ext uri="{FF2B5EF4-FFF2-40B4-BE49-F238E27FC236}">
                <a16:creationId xmlns:a16="http://schemas.microsoft.com/office/drawing/2014/main" id="{B3CAEFF1-A9C8-2BA3-5955-C2222209322A}"/>
              </a:ext>
            </a:extLst>
          </p:cNvPr>
          <p:cNvSpPr/>
          <p:nvPr/>
        </p:nvSpPr>
        <p:spPr>
          <a:xfrm>
            <a:off x="10789921" y="-542815"/>
            <a:ext cx="1645920" cy="514350"/>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30" dirty="0"/>
              <a:t>Button</a:t>
            </a:r>
          </a:p>
        </p:txBody>
      </p:sp>
      <p:sp>
        <p:nvSpPr>
          <p:cNvPr id="33" name="Rectangle 32">
            <a:extLst>
              <a:ext uri="{FF2B5EF4-FFF2-40B4-BE49-F238E27FC236}">
                <a16:creationId xmlns:a16="http://schemas.microsoft.com/office/drawing/2014/main" id="{1EC338A8-3BA8-DDA5-6AE1-E8F19AEC6614}"/>
              </a:ext>
            </a:extLst>
          </p:cNvPr>
          <p:cNvSpPr/>
          <p:nvPr/>
        </p:nvSpPr>
        <p:spPr>
          <a:xfrm>
            <a:off x="12515118" y="-560000"/>
            <a:ext cx="1231410" cy="51435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30" dirty="0"/>
              <a:t>Display</a:t>
            </a:r>
          </a:p>
        </p:txBody>
      </p:sp>
      <p:grpSp>
        <p:nvGrpSpPr>
          <p:cNvPr id="34" name="Group 33">
            <a:extLst>
              <a:ext uri="{FF2B5EF4-FFF2-40B4-BE49-F238E27FC236}">
                <a16:creationId xmlns:a16="http://schemas.microsoft.com/office/drawing/2014/main" id="{1BDA0CB3-5D44-987A-B896-044E918304DF}"/>
              </a:ext>
            </a:extLst>
          </p:cNvPr>
          <p:cNvGrpSpPr/>
          <p:nvPr/>
        </p:nvGrpSpPr>
        <p:grpSpPr>
          <a:xfrm>
            <a:off x="13939257" y="-408174"/>
            <a:ext cx="252838" cy="210698"/>
            <a:chOff x="2181339" y="1663547"/>
            <a:chExt cx="461953" cy="403412"/>
          </a:xfrm>
        </p:grpSpPr>
        <p:sp>
          <p:nvSpPr>
            <p:cNvPr id="35" name="Oval 34">
              <a:extLst>
                <a:ext uri="{FF2B5EF4-FFF2-40B4-BE49-F238E27FC236}">
                  <a16:creationId xmlns:a16="http://schemas.microsoft.com/office/drawing/2014/main" id="{DF7E7430-E5CA-609E-97CD-A58D42EA3F33}"/>
                </a:ext>
              </a:extLst>
            </p:cNvPr>
            <p:cNvSpPr/>
            <p:nvPr/>
          </p:nvSpPr>
          <p:spPr>
            <a:xfrm>
              <a:off x="2181339" y="1663547"/>
              <a:ext cx="461953" cy="4034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sp>
          <p:nvSpPr>
            <p:cNvPr id="36" name="Oval 35">
              <a:extLst>
                <a:ext uri="{FF2B5EF4-FFF2-40B4-BE49-F238E27FC236}">
                  <a16:creationId xmlns:a16="http://schemas.microsoft.com/office/drawing/2014/main" id="{D484CDE4-9903-4998-DC4B-6C7553F1EBE0}"/>
                </a:ext>
              </a:extLst>
            </p:cNvPr>
            <p:cNvSpPr/>
            <p:nvPr/>
          </p:nvSpPr>
          <p:spPr>
            <a:xfrm>
              <a:off x="2339787" y="1770747"/>
              <a:ext cx="145056" cy="15650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95"/>
            </a:p>
          </p:txBody>
        </p:sp>
      </p:grpSp>
      <p:sp>
        <p:nvSpPr>
          <p:cNvPr id="3" name="TextBox 2">
            <a:extLst>
              <a:ext uri="{FF2B5EF4-FFF2-40B4-BE49-F238E27FC236}">
                <a16:creationId xmlns:a16="http://schemas.microsoft.com/office/drawing/2014/main" id="{72EF9050-9703-A407-2831-6080D82C7BDB}"/>
              </a:ext>
            </a:extLst>
          </p:cNvPr>
          <p:cNvSpPr txBox="1"/>
          <p:nvPr/>
        </p:nvSpPr>
        <p:spPr>
          <a:xfrm>
            <a:off x="265362" y="114300"/>
            <a:ext cx="2846138" cy="377281"/>
          </a:xfrm>
          <a:prstGeom prst="rect">
            <a:avLst/>
          </a:prstGeom>
          <a:noFill/>
        </p:spPr>
        <p:txBody>
          <a:bodyPr wrap="square" rtlCol="0">
            <a:spAutoFit/>
          </a:bodyPr>
          <a:lstStyle/>
          <a:p>
            <a:r>
              <a:rPr lang="en-US" dirty="0"/>
              <a:t>Compare screen fields</a:t>
            </a:r>
          </a:p>
        </p:txBody>
      </p:sp>
      <p:graphicFrame>
        <p:nvGraphicFramePr>
          <p:cNvPr id="6" name="Table 5">
            <a:extLst>
              <a:ext uri="{FF2B5EF4-FFF2-40B4-BE49-F238E27FC236}">
                <a16:creationId xmlns:a16="http://schemas.microsoft.com/office/drawing/2014/main" id="{01EB11EB-ABD1-D91C-30EB-7A43DFB8EDBF}"/>
              </a:ext>
            </a:extLst>
          </p:cNvPr>
          <p:cNvGraphicFramePr>
            <a:graphicFrameLocks noGrp="1"/>
          </p:cNvGraphicFramePr>
          <p:nvPr>
            <p:extLst>
              <p:ext uri="{D42A27DB-BD31-4B8C-83A1-F6EECF244321}">
                <p14:modId xmlns:p14="http://schemas.microsoft.com/office/powerpoint/2010/main" val="1263353390"/>
              </p:ext>
            </p:extLst>
          </p:nvPr>
        </p:nvGraphicFramePr>
        <p:xfrm>
          <a:off x="1018965" y="675501"/>
          <a:ext cx="4185070" cy="4959873"/>
        </p:xfrm>
        <a:graphic>
          <a:graphicData uri="http://schemas.openxmlformats.org/drawingml/2006/table">
            <a:tbl>
              <a:tblPr>
                <a:tableStyleId>{5C22544A-7EE6-4342-B048-85BDC9FD1C3A}</a:tableStyleId>
              </a:tblPr>
              <a:tblGrid>
                <a:gridCol w="843503">
                  <a:extLst>
                    <a:ext uri="{9D8B030D-6E8A-4147-A177-3AD203B41FA5}">
                      <a16:colId xmlns:a16="http://schemas.microsoft.com/office/drawing/2014/main" val="939707182"/>
                    </a:ext>
                  </a:extLst>
                </a:gridCol>
                <a:gridCol w="1551292">
                  <a:extLst>
                    <a:ext uri="{9D8B030D-6E8A-4147-A177-3AD203B41FA5}">
                      <a16:colId xmlns:a16="http://schemas.microsoft.com/office/drawing/2014/main" val="2670325507"/>
                    </a:ext>
                  </a:extLst>
                </a:gridCol>
                <a:gridCol w="1790275">
                  <a:extLst>
                    <a:ext uri="{9D8B030D-6E8A-4147-A177-3AD203B41FA5}">
                      <a16:colId xmlns:a16="http://schemas.microsoft.com/office/drawing/2014/main" val="74074639"/>
                    </a:ext>
                  </a:extLst>
                </a:gridCol>
              </a:tblGrid>
              <a:tr h="117604">
                <a:tc>
                  <a:txBody>
                    <a:bodyPr/>
                    <a:lstStyle/>
                    <a:p>
                      <a:pPr algn="l" fontAlgn="b">
                        <a:buNone/>
                      </a:pPr>
                      <a:r>
                        <a:rPr lang="en-US" sz="800" b="1" u="none" strike="noStrike">
                          <a:effectLst/>
                        </a:rPr>
                        <a:t>Fields</a:t>
                      </a:r>
                      <a:endParaRPr lang="en-US" sz="8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b="1" u="none" strike="noStrike">
                          <a:effectLst/>
                        </a:rPr>
                        <a:t>Example</a:t>
                      </a:r>
                      <a:endParaRPr lang="en-US" sz="800" b="1"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b="1" u="none" strike="noStrike" dirty="0">
                          <a:effectLst/>
                        </a:rPr>
                        <a:t>Source</a:t>
                      </a:r>
                      <a:endParaRPr lang="en-US" sz="800" b="1"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35475251"/>
                  </a:ext>
                </a:extLst>
              </a:tr>
              <a:tr h="117604">
                <a:tc>
                  <a:txBody>
                    <a:bodyPr/>
                    <a:lstStyle/>
                    <a:p>
                      <a:pPr algn="l" fontAlgn="b">
                        <a:buNone/>
                      </a:pPr>
                      <a:r>
                        <a:rPr lang="en-US" sz="800" u="none" strike="noStrike">
                          <a:effectLst/>
                        </a:rPr>
                        <a:t>Delivery Date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06/04/2026 08:00 CST, MON</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Routing</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74945295"/>
                  </a:ext>
                </a:extLst>
              </a:tr>
              <a:tr h="117604">
                <a:tc>
                  <a:txBody>
                    <a:bodyPr/>
                    <a:lstStyle/>
                    <a:p>
                      <a:pPr algn="l" fontAlgn="b">
                        <a:buNone/>
                      </a:pPr>
                      <a:r>
                        <a:rPr lang="en-US" sz="800" u="none" strike="noStrike">
                          <a:effectLst/>
                        </a:rPr>
                        <a:t>Pickup Date/Time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06/02/2026 08:00 CST, WED</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Routing</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337932093"/>
                  </a:ext>
                </a:extLst>
              </a:tr>
              <a:tr h="117604">
                <a:tc>
                  <a:txBody>
                    <a:bodyPr/>
                    <a:lstStyle/>
                    <a:p>
                      <a:pPr algn="l" fontAlgn="b">
                        <a:buNone/>
                      </a:pPr>
                      <a:r>
                        <a:rPr lang="en-US" sz="800" u="none" strike="noStrike">
                          <a:effectLst/>
                        </a:rPr>
                        <a:t>Distance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282 MI</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Routing</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315969"/>
                  </a:ext>
                </a:extLst>
              </a:tr>
              <a:tr h="117604">
                <a:tc>
                  <a:txBody>
                    <a:bodyPr/>
                    <a:lstStyle/>
                    <a:p>
                      <a:pPr algn="l" fontAlgn="b">
                        <a:buNone/>
                      </a:pPr>
                      <a:r>
                        <a:rPr lang="en-US" sz="800" u="none" strike="noStrike">
                          <a:effectLst/>
                        </a:rPr>
                        <a:t>Distance source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PCMILER PRACTICAL BORDERS OPENED V24</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30833686"/>
                  </a:ext>
                </a:extLst>
              </a:tr>
              <a:tr h="117604">
                <a:tc>
                  <a:txBody>
                    <a:bodyPr/>
                    <a:lstStyle/>
                    <a:p>
                      <a:pPr algn="l" fontAlgn="b">
                        <a:buNone/>
                      </a:pPr>
                      <a:r>
                        <a:rPr lang="en-US" sz="800" u="none" strike="noStrike">
                          <a:effectLst/>
                        </a:rPr>
                        <a:t>Incoterm Info</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FOB</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47615026"/>
                  </a:ext>
                </a:extLst>
              </a:tr>
              <a:tr h="117604">
                <a:tc>
                  <a:txBody>
                    <a:bodyPr/>
                    <a:lstStyle/>
                    <a:p>
                      <a:pPr algn="l" fontAlgn="b">
                        <a:buNone/>
                      </a:pPr>
                      <a:r>
                        <a:rPr lang="en-US" sz="800" u="none" strike="noStrike">
                          <a:effectLst/>
                        </a:rPr>
                        <a:t>Network Leverage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Y/N</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Routing</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958617653"/>
                  </a:ext>
                </a:extLst>
              </a:tr>
              <a:tr h="117604">
                <a:tc>
                  <a:txBody>
                    <a:bodyPr/>
                    <a:lstStyle/>
                    <a:p>
                      <a:pPr algn="l" fontAlgn="b">
                        <a:buNone/>
                      </a:pPr>
                      <a:r>
                        <a:rPr lang="en-US" sz="800" u="none" strike="noStrike">
                          <a:effectLst/>
                        </a:rPr>
                        <a:t>Order Requested Date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SSD/RDD, Date Time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071381000"/>
                  </a:ext>
                </a:extLst>
              </a:tr>
              <a:tr h="117604">
                <a:tc>
                  <a:txBody>
                    <a:bodyPr/>
                    <a:lstStyle/>
                    <a:p>
                      <a:pPr algn="l" fontAlgn="b">
                        <a:buNone/>
                      </a:pPr>
                      <a:r>
                        <a:rPr lang="en-US" sz="800" u="none" strike="noStrike">
                          <a:effectLst/>
                        </a:rPr>
                        <a:t>Bill To</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99155856"/>
                  </a:ext>
                </a:extLst>
              </a:tr>
              <a:tr h="117604">
                <a:tc>
                  <a:txBody>
                    <a:bodyPr/>
                    <a:lstStyle/>
                    <a:p>
                      <a:pPr algn="l" fontAlgn="b">
                        <a:buNone/>
                      </a:pPr>
                      <a:r>
                        <a:rPr lang="en-US" sz="800" u="none" strike="noStrike">
                          <a:effectLst/>
                        </a:rPr>
                        <a:t>Delivery Appointment</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6/4/26 3:00 PM</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 or entered in Shipment</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32254047"/>
                  </a:ext>
                </a:extLst>
              </a:tr>
              <a:tr h="117604">
                <a:tc>
                  <a:txBody>
                    <a:bodyPr/>
                    <a:lstStyle/>
                    <a:p>
                      <a:pPr algn="l" fontAlgn="b">
                        <a:buNone/>
                      </a:pPr>
                      <a:r>
                        <a:rPr lang="en-US" sz="800" u="none" strike="noStrike">
                          <a:effectLst/>
                        </a:rPr>
                        <a:t>Freight Terms</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543618448"/>
                  </a:ext>
                </a:extLst>
              </a:tr>
              <a:tr h="117604">
                <a:tc>
                  <a:txBody>
                    <a:bodyPr/>
                    <a:lstStyle/>
                    <a:p>
                      <a:pPr algn="l" fontAlgn="b">
                        <a:buNone/>
                      </a:pPr>
                      <a:r>
                        <a:rPr lang="en-US" sz="800" u="none" strike="noStrike">
                          <a:effectLst/>
                        </a:rPr>
                        <a:t>Pickup Appointment</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6/2/26 3:00 PM</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 or entered in Shipment</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740164446"/>
                  </a:ext>
                </a:extLst>
              </a:tr>
              <a:tr h="117604">
                <a:tc>
                  <a:txBody>
                    <a:bodyPr/>
                    <a:lstStyle/>
                    <a:p>
                      <a:pPr algn="l" fontAlgn="b">
                        <a:buNone/>
                      </a:pPr>
                      <a:r>
                        <a:rPr lang="en-US" sz="800" u="none" strike="noStrike">
                          <a:effectLst/>
                        </a:rPr>
                        <a:t>Package Count</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131875911"/>
                  </a:ext>
                </a:extLst>
              </a:tr>
              <a:tr h="117604">
                <a:tc>
                  <a:txBody>
                    <a:bodyPr/>
                    <a:lstStyle/>
                    <a:p>
                      <a:pPr algn="l" fontAlgn="b">
                        <a:buNone/>
                      </a:pPr>
                      <a:r>
                        <a:rPr lang="en-US" sz="800" u="none" strike="noStrike">
                          <a:effectLst/>
                        </a:rPr>
                        <a:t>Seed Equipment</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PMU</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As entered on the 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376017204"/>
                  </a:ext>
                </a:extLst>
              </a:tr>
              <a:tr h="117604">
                <a:tc>
                  <a:txBody>
                    <a:bodyPr/>
                    <a:lstStyle/>
                    <a:p>
                      <a:pPr algn="l" fontAlgn="b">
                        <a:buNone/>
                      </a:pPr>
                      <a:r>
                        <a:rPr lang="en-US" sz="800" u="none" strike="noStrike">
                          <a:effectLst/>
                        </a:rPr>
                        <a:t>Ship Direction</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Inbound</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84145282"/>
                  </a:ext>
                </a:extLst>
              </a:tr>
              <a:tr h="117604">
                <a:tc>
                  <a:txBody>
                    <a:bodyPr/>
                    <a:lstStyle/>
                    <a:p>
                      <a:pPr algn="l" fontAlgn="b">
                        <a:buNone/>
                      </a:pPr>
                      <a:r>
                        <a:rPr lang="en-US" sz="800" u="none" strike="noStrike">
                          <a:effectLst/>
                        </a:rPr>
                        <a:t>Ship From</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Add 1,2,3, city, State, Zip, Country</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45631503"/>
                  </a:ext>
                </a:extLst>
              </a:tr>
              <a:tr h="117604">
                <a:tc>
                  <a:txBody>
                    <a:bodyPr/>
                    <a:lstStyle/>
                    <a:p>
                      <a:pPr algn="l" fontAlgn="b">
                        <a:buNone/>
                      </a:pPr>
                      <a:r>
                        <a:rPr lang="en-US" sz="800" u="none" strike="noStrike">
                          <a:effectLst/>
                        </a:rPr>
                        <a:t>Ship To</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Add 1,2,3, city, State, Zip, Country</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10962659"/>
                  </a:ext>
                </a:extLst>
              </a:tr>
              <a:tr h="117604">
                <a:tc>
                  <a:txBody>
                    <a:bodyPr/>
                    <a:lstStyle/>
                    <a:p>
                      <a:pPr algn="l" fontAlgn="b">
                        <a:buNone/>
                      </a:pPr>
                      <a:r>
                        <a:rPr lang="en-US" sz="800" u="none" strike="noStrike">
                          <a:effectLst/>
                        </a:rPr>
                        <a:t>Volume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100 Cuft</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Shipment</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87460137"/>
                  </a:ext>
                </a:extLst>
              </a:tr>
              <a:tr h="117604">
                <a:tc>
                  <a:txBody>
                    <a:bodyPr/>
                    <a:lstStyle/>
                    <a:p>
                      <a:pPr algn="l" fontAlgn="b">
                        <a:buNone/>
                      </a:pPr>
                      <a:r>
                        <a:rPr lang="en-US" sz="800" u="none" strike="noStrike">
                          <a:effectLst/>
                        </a:rPr>
                        <a:t>Gross weight </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2000 LB</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Total of the Shipment</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991171971"/>
                  </a:ext>
                </a:extLst>
              </a:tr>
              <a:tr h="352811">
                <a:tc>
                  <a:txBody>
                    <a:bodyPr/>
                    <a:lstStyle/>
                    <a:p>
                      <a:pPr algn="l" fontAlgn="b">
                        <a:buNone/>
                      </a:pPr>
                      <a:r>
                        <a:rPr lang="en-US" sz="800" u="none" strike="noStrike">
                          <a:effectLst/>
                        </a:rPr>
                        <a:t>Boiling Point</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Line # 100 C</a:t>
                      </a:r>
                      <a:br>
                        <a:rPr lang="en-US" sz="800" u="none" strike="noStrike">
                          <a:effectLst/>
                        </a:rPr>
                      </a:br>
                      <a:r>
                        <a:rPr lang="en-US" sz="800" u="none" strike="noStrike">
                          <a:effectLst/>
                        </a:rPr>
                        <a:t>Line # 101 C</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 If multiple line exist in an order, list Boiling Point by Line or Sequence #</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356797323"/>
                  </a:ext>
                </a:extLst>
              </a:tr>
              <a:tr h="117604">
                <a:tc>
                  <a:txBody>
                    <a:bodyPr/>
                    <a:lstStyle/>
                    <a:p>
                      <a:pPr algn="l" fontAlgn="b">
                        <a:buNone/>
                      </a:pPr>
                      <a:r>
                        <a:rPr lang="en-US" sz="800" u="none" strike="noStrike">
                          <a:effectLst/>
                        </a:rPr>
                        <a:t>Flash Point</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Same as Boiling Point</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Same as Boiling Point</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066371027"/>
                  </a:ext>
                </a:extLst>
              </a:tr>
              <a:tr h="352811">
                <a:tc>
                  <a:txBody>
                    <a:bodyPr/>
                    <a:lstStyle/>
                    <a:p>
                      <a:pPr algn="l" fontAlgn="b">
                        <a:buNone/>
                      </a:pPr>
                      <a:r>
                        <a:rPr lang="en-US" sz="800" u="none" strike="noStrike">
                          <a:effectLst/>
                        </a:rPr>
                        <a:t>Hazmat Class</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I</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 If multiple line exist in an order, list Boiling Point by Line or Sequence #</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551929873"/>
                  </a:ext>
                </a:extLst>
              </a:tr>
              <a:tr h="117604">
                <a:tc>
                  <a:txBody>
                    <a:bodyPr/>
                    <a:lstStyle/>
                    <a:p>
                      <a:pPr algn="l" fontAlgn="b">
                        <a:buNone/>
                      </a:pPr>
                      <a:r>
                        <a:rPr lang="en-US" sz="800" u="none" strike="noStrike">
                          <a:effectLst/>
                        </a:rPr>
                        <a:t>Hazmat Code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UN0012</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same as Hazmat class</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163692325"/>
                  </a:ext>
                </a:extLst>
              </a:tr>
              <a:tr h="352811">
                <a:tc>
                  <a:txBody>
                    <a:bodyPr/>
                    <a:lstStyle/>
                    <a:p>
                      <a:pPr algn="l" fontAlgn="b">
                        <a:buNone/>
                      </a:pPr>
                      <a:r>
                        <a:rPr lang="en-US" sz="800" u="none" strike="noStrike">
                          <a:effectLst/>
                        </a:rPr>
                        <a:t>Hazmat Description</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Flammable Liquid</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Source from order. If muntiple line exist, should show by Line/sequence #</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96130597"/>
                  </a:ext>
                </a:extLst>
              </a:tr>
              <a:tr h="117604">
                <a:tc>
                  <a:txBody>
                    <a:bodyPr/>
                    <a:lstStyle/>
                    <a:p>
                      <a:pPr algn="l" fontAlgn="b">
                        <a:buNone/>
                      </a:pPr>
                      <a:r>
                        <a:rPr lang="en-US" sz="800" u="none" strike="noStrike">
                          <a:effectLst/>
                        </a:rPr>
                        <a:t>Hazmat Pkg Group</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II</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same as Hazmat class</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002746979"/>
                  </a:ext>
                </a:extLst>
              </a:tr>
              <a:tr h="235207">
                <a:tc>
                  <a:txBody>
                    <a:bodyPr/>
                    <a:lstStyle/>
                    <a:p>
                      <a:pPr algn="l" fontAlgn="b">
                        <a:buNone/>
                      </a:pPr>
                      <a:r>
                        <a:rPr lang="en-US" sz="800" u="none" strike="noStrike">
                          <a:effectLst/>
                        </a:rPr>
                        <a:t>Item/Description</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Asadero</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Description of item. Multiple items, show by line/seq #</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041519102"/>
                  </a:ext>
                </a:extLst>
              </a:tr>
              <a:tr h="117604">
                <a:tc>
                  <a:txBody>
                    <a:bodyPr/>
                    <a:lstStyle/>
                    <a:p>
                      <a:pPr algn="l" fontAlgn="b">
                        <a:buNone/>
                      </a:pPr>
                      <a:r>
                        <a:rPr lang="en-US" sz="800" u="none" strike="noStrike">
                          <a:effectLst/>
                        </a:rPr>
                        <a:t>Marine Pollutant</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Check box</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Order. Checkbox by line/seq</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83735589"/>
                  </a:ext>
                </a:extLst>
              </a:tr>
              <a:tr h="117604">
                <a:tc>
                  <a:txBody>
                    <a:bodyPr/>
                    <a:lstStyle/>
                    <a:p>
                      <a:pPr algn="l" fontAlgn="b">
                        <a:buNone/>
                      </a:pPr>
                      <a:r>
                        <a:rPr lang="en-US" sz="800" u="none" strike="noStrike">
                          <a:effectLst/>
                        </a:rPr>
                        <a:t>Shipping Class</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From 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269805014"/>
                  </a:ext>
                </a:extLst>
              </a:tr>
              <a:tr h="117604">
                <a:tc>
                  <a:txBody>
                    <a:bodyPr/>
                    <a:lstStyle/>
                    <a:p>
                      <a:pPr algn="l" fontAlgn="b">
                        <a:buNone/>
                      </a:pPr>
                      <a:r>
                        <a:rPr lang="en-US" sz="800" u="none" strike="noStrike">
                          <a:effectLst/>
                        </a:rPr>
                        <a:t>Tunnel Code</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1</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From Order</a:t>
                      </a:r>
                      <a:endParaRPr lang="en-US" sz="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60458324"/>
                  </a:ext>
                </a:extLst>
              </a:tr>
              <a:tr h="117604">
                <a:tc>
                  <a:txBody>
                    <a:bodyPr/>
                    <a:lstStyle/>
                    <a:p>
                      <a:pPr algn="l" fontAlgn="b">
                        <a:buNone/>
                      </a:pPr>
                      <a:r>
                        <a:rPr lang="en-US" sz="800" u="none" strike="noStrike">
                          <a:effectLst/>
                        </a:rPr>
                        <a:t>WGK Class</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a:effectLst/>
                        </a:rPr>
                        <a:t>II</a:t>
                      </a:r>
                      <a:endParaRPr lang="en-US" sz="8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US" sz="800" u="none" strike="noStrike" dirty="0">
                          <a:effectLst/>
                        </a:rPr>
                        <a:t>From Order</a:t>
                      </a:r>
                      <a:endParaRPr lang="en-US" sz="8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91140640"/>
                  </a:ext>
                </a:extLst>
              </a:tr>
            </a:tbl>
          </a:graphicData>
        </a:graphic>
      </p:graphicFrame>
    </p:spTree>
    <p:extLst>
      <p:ext uri="{BB962C8B-B14F-4D97-AF65-F5344CB8AC3E}">
        <p14:creationId xmlns:p14="http://schemas.microsoft.com/office/powerpoint/2010/main" val="2173404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414233-64C5-3496-0AB6-7EFF4EAE0060}"/>
              </a:ext>
            </a:extLst>
          </p:cNvPr>
          <p:cNvSpPr>
            <a:spLocks noGrp="1"/>
          </p:cNvSpPr>
          <p:nvPr>
            <p:ph type="title"/>
          </p:nvPr>
        </p:nvSpPr>
        <p:spPr>
          <a:xfrm>
            <a:off x="4263887" y="1796788"/>
            <a:ext cx="7851913" cy="1701786"/>
          </a:xfrm>
        </p:spPr>
        <p:txBody>
          <a:bodyPr>
            <a:normAutofit/>
          </a:bodyPr>
          <a:lstStyle/>
          <a:p>
            <a:pPr algn="ctr"/>
            <a:r>
              <a:rPr lang="en-US" sz="3600" dirty="0"/>
              <a:t>Consolidation - Multi Stop Order Change</a:t>
            </a:r>
          </a:p>
        </p:txBody>
      </p:sp>
    </p:spTree>
    <p:extLst>
      <p:ext uri="{BB962C8B-B14F-4D97-AF65-F5344CB8AC3E}">
        <p14:creationId xmlns:p14="http://schemas.microsoft.com/office/powerpoint/2010/main" val="4197428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B3338C6-B277-D488-DA32-D6ECF4E77C3A}"/>
              </a:ext>
            </a:extLst>
          </p:cNvPr>
          <p:cNvGrpSpPr/>
          <p:nvPr/>
        </p:nvGrpSpPr>
        <p:grpSpPr>
          <a:xfrm>
            <a:off x="725557" y="119270"/>
            <a:ext cx="8030817" cy="6152322"/>
            <a:chOff x="1297652" y="0"/>
            <a:chExt cx="8810444" cy="7213971"/>
          </a:xfrm>
        </p:grpSpPr>
        <p:pic>
          <p:nvPicPr>
            <p:cNvPr id="7" name="Picture 6">
              <a:extLst>
                <a:ext uri="{FF2B5EF4-FFF2-40B4-BE49-F238E27FC236}">
                  <a16:creationId xmlns:a16="http://schemas.microsoft.com/office/drawing/2014/main" id="{C0901C1A-B05D-23E0-AC12-97999ED854D7}"/>
                </a:ext>
              </a:extLst>
            </p:cNvPr>
            <p:cNvPicPr>
              <a:picLocks noChangeAspect="1"/>
            </p:cNvPicPr>
            <p:nvPr/>
          </p:nvPicPr>
          <p:blipFill>
            <a:blip r:embed="rId2"/>
            <a:srcRect l="666" r="937"/>
            <a:stretch>
              <a:fillRect/>
            </a:stretch>
          </p:blipFill>
          <p:spPr>
            <a:xfrm>
              <a:off x="1297652" y="0"/>
              <a:ext cx="8810443" cy="3035456"/>
            </a:xfrm>
            <a:prstGeom prst="rect">
              <a:avLst/>
            </a:prstGeom>
          </p:spPr>
        </p:pic>
        <p:pic>
          <p:nvPicPr>
            <p:cNvPr id="9" name="Picture 8">
              <a:extLst>
                <a:ext uri="{FF2B5EF4-FFF2-40B4-BE49-F238E27FC236}">
                  <a16:creationId xmlns:a16="http://schemas.microsoft.com/office/drawing/2014/main" id="{9DABA080-6714-413C-8869-E8E28A3BFBA6}"/>
                </a:ext>
              </a:extLst>
            </p:cNvPr>
            <p:cNvPicPr>
              <a:picLocks noChangeAspect="1"/>
            </p:cNvPicPr>
            <p:nvPr/>
          </p:nvPicPr>
          <p:blipFill>
            <a:blip r:embed="rId3"/>
            <a:stretch>
              <a:fillRect/>
            </a:stretch>
          </p:blipFill>
          <p:spPr>
            <a:xfrm>
              <a:off x="1297653" y="3035456"/>
              <a:ext cx="8810443" cy="4178515"/>
            </a:xfrm>
            <a:prstGeom prst="rect">
              <a:avLst/>
            </a:prstGeom>
          </p:spPr>
        </p:pic>
      </p:grpSp>
      <p:sp>
        <p:nvSpPr>
          <p:cNvPr id="11" name="Rectangle 10">
            <a:extLst>
              <a:ext uri="{FF2B5EF4-FFF2-40B4-BE49-F238E27FC236}">
                <a16:creationId xmlns:a16="http://schemas.microsoft.com/office/drawing/2014/main" id="{97A35AC9-5E8B-F9F2-E284-0E9EC2CC6FDA}"/>
              </a:ext>
            </a:extLst>
          </p:cNvPr>
          <p:cNvSpPr/>
          <p:nvPr/>
        </p:nvSpPr>
        <p:spPr>
          <a:xfrm>
            <a:off x="2963332" y="83820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Anchor Date</a:t>
            </a:r>
          </a:p>
        </p:txBody>
      </p:sp>
      <p:sp>
        <p:nvSpPr>
          <p:cNvPr id="12" name="TextBox 11">
            <a:extLst>
              <a:ext uri="{FF2B5EF4-FFF2-40B4-BE49-F238E27FC236}">
                <a16:creationId xmlns:a16="http://schemas.microsoft.com/office/drawing/2014/main" id="{EC9F5655-E833-92B6-28BA-0930D23CE0CD}"/>
              </a:ext>
            </a:extLst>
          </p:cNvPr>
          <p:cNvSpPr txBox="1"/>
          <p:nvPr/>
        </p:nvSpPr>
        <p:spPr>
          <a:xfrm>
            <a:off x="2963332" y="1049868"/>
            <a:ext cx="838201" cy="230832"/>
          </a:xfrm>
          <a:prstGeom prst="rect">
            <a:avLst/>
          </a:prstGeom>
          <a:noFill/>
        </p:spPr>
        <p:txBody>
          <a:bodyPr wrap="square" rtlCol="0">
            <a:spAutoFit/>
          </a:bodyPr>
          <a:lstStyle/>
          <a:p>
            <a:pPr algn="ctr"/>
            <a:r>
              <a:rPr lang="en-US" sz="900" dirty="0"/>
              <a:t>3/20/2026</a:t>
            </a:r>
          </a:p>
        </p:txBody>
      </p:sp>
      <p:sp>
        <p:nvSpPr>
          <p:cNvPr id="14" name="Rectangle 13">
            <a:extLst>
              <a:ext uri="{FF2B5EF4-FFF2-40B4-BE49-F238E27FC236}">
                <a16:creationId xmlns:a16="http://schemas.microsoft.com/office/drawing/2014/main" id="{3C094BC2-BDF4-6BCE-24EA-ABBAF98CC31F}"/>
              </a:ext>
            </a:extLst>
          </p:cNvPr>
          <p:cNvSpPr/>
          <p:nvPr/>
        </p:nvSpPr>
        <p:spPr>
          <a:xfrm>
            <a:off x="2125130" y="83820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Planning Date Type</a:t>
            </a:r>
          </a:p>
        </p:txBody>
      </p:sp>
      <p:sp>
        <p:nvSpPr>
          <p:cNvPr id="16" name="TextBox 15">
            <a:extLst>
              <a:ext uri="{FF2B5EF4-FFF2-40B4-BE49-F238E27FC236}">
                <a16:creationId xmlns:a16="http://schemas.microsoft.com/office/drawing/2014/main" id="{12464E1C-374A-5DDB-2484-1E1F273713EB}"/>
              </a:ext>
            </a:extLst>
          </p:cNvPr>
          <p:cNvSpPr txBox="1"/>
          <p:nvPr/>
        </p:nvSpPr>
        <p:spPr>
          <a:xfrm>
            <a:off x="2125130" y="1049868"/>
            <a:ext cx="838201" cy="215444"/>
          </a:xfrm>
          <a:prstGeom prst="rect">
            <a:avLst/>
          </a:prstGeom>
          <a:noFill/>
        </p:spPr>
        <p:txBody>
          <a:bodyPr wrap="square" rtlCol="0">
            <a:spAutoFit/>
          </a:bodyPr>
          <a:lstStyle/>
          <a:p>
            <a:pPr algn="ctr"/>
            <a:r>
              <a:rPr lang="en-US" sz="800" dirty="0"/>
              <a:t>RDD</a:t>
            </a:r>
          </a:p>
        </p:txBody>
      </p:sp>
      <p:sp>
        <p:nvSpPr>
          <p:cNvPr id="18" name="Rectangle 17">
            <a:extLst>
              <a:ext uri="{FF2B5EF4-FFF2-40B4-BE49-F238E27FC236}">
                <a16:creationId xmlns:a16="http://schemas.microsoft.com/office/drawing/2014/main" id="{F2BE2686-63B8-391B-A7A0-F6E0DD962F1D}"/>
              </a:ext>
            </a:extLst>
          </p:cNvPr>
          <p:cNvSpPr/>
          <p:nvPr/>
        </p:nvSpPr>
        <p:spPr>
          <a:xfrm>
            <a:off x="7499072" y="83820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Edit Shipment  Stope</a:t>
            </a:r>
          </a:p>
        </p:txBody>
      </p:sp>
      <p:sp>
        <p:nvSpPr>
          <p:cNvPr id="20" name="Rectangle 19">
            <a:extLst>
              <a:ext uri="{FF2B5EF4-FFF2-40B4-BE49-F238E27FC236}">
                <a16:creationId xmlns:a16="http://schemas.microsoft.com/office/drawing/2014/main" id="{2FCF7A16-3E12-0E19-FFC2-2FF6C0392C5F}"/>
              </a:ext>
            </a:extLst>
          </p:cNvPr>
          <p:cNvSpPr/>
          <p:nvPr/>
        </p:nvSpPr>
        <p:spPr>
          <a:xfrm>
            <a:off x="6525406" y="83820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Approve Plan</a:t>
            </a:r>
          </a:p>
        </p:txBody>
      </p:sp>
      <p:pic>
        <p:nvPicPr>
          <p:cNvPr id="22" name="Picture 21">
            <a:extLst>
              <a:ext uri="{FF2B5EF4-FFF2-40B4-BE49-F238E27FC236}">
                <a16:creationId xmlns:a16="http://schemas.microsoft.com/office/drawing/2014/main" id="{5203107C-7EA1-7D4F-4CDA-7247B9B07769}"/>
              </a:ext>
            </a:extLst>
          </p:cNvPr>
          <p:cNvPicPr>
            <a:picLocks noChangeAspect="1"/>
          </p:cNvPicPr>
          <p:nvPr/>
        </p:nvPicPr>
        <p:blipFill>
          <a:blip r:embed="rId4"/>
          <a:stretch>
            <a:fillRect/>
          </a:stretch>
        </p:blipFill>
        <p:spPr>
          <a:xfrm>
            <a:off x="7599697" y="2883168"/>
            <a:ext cx="2526080" cy="1606633"/>
          </a:xfrm>
          <a:prstGeom prst="rect">
            <a:avLst/>
          </a:prstGeom>
        </p:spPr>
      </p:pic>
      <p:pic>
        <p:nvPicPr>
          <p:cNvPr id="24" name="Picture 23">
            <a:extLst>
              <a:ext uri="{FF2B5EF4-FFF2-40B4-BE49-F238E27FC236}">
                <a16:creationId xmlns:a16="http://schemas.microsoft.com/office/drawing/2014/main" id="{002C8B1E-5360-54A2-C6F8-285AF2C0C46C}"/>
              </a:ext>
            </a:extLst>
          </p:cNvPr>
          <p:cNvPicPr>
            <a:picLocks noChangeAspect="1"/>
          </p:cNvPicPr>
          <p:nvPr/>
        </p:nvPicPr>
        <p:blipFill>
          <a:blip r:embed="rId5"/>
          <a:stretch>
            <a:fillRect/>
          </a:stretch>
        </p:blipFill>
        <p:spPr>
          <a:xfrm>
            <a:off x="9766596" y="3629332"/>
            <a:ext cx="2787793" cy="1720938"/>
          </a:xfrm>
          <a:prstGeom prst="rect">
            <a:avLst/>
          </a:prstGeom>
        </p:spPr>
      </p:pic>
      <p:pic>
        <p:nvPicPr>
          <p:cNvPr id="26" name="Picture 25">
            <a:extLst>
              <a:ext uri="{FF2B5EF4-FFF2-40B4-BE49-F238E27FC236}">
                <a16:creationId xmlns:a16="http://schemas.microsoft.com/office/drawing/2014/main" id="{9FF81125-6FE7-E27A-661A-9FF447076A52}"/>
              </a:ext>
            </a:extLst>
          </p:cNvPr>
          <p:cNvPicPr>
            <a:picLocks noChangeAspect="1"/>
          </p:cNvPicPr>
          <p:nvPr/>
        </p:nvPicPr>
        <p:blipFill>
          <a:blip r:embed="rId6"/>
          <a:stretch>
            <a:fillRect/>
          </a:stretch>
        </p:blipFill>
        <p:spPr>
          <a:xfrm>
            <a:off x="12385584" y="3910262"/>
            <a:ext cx="2932081" cy="2186172"/>
          </a:xfrm>
          <a:prstGeom prst="rect">
            <a:avLst/>
          </a:prstGeom>
        </p:spPr>
      </p:pic>
      <p:sp>
        <p:nvSpPr>
          <p:cNvPr id="28" name="TextBox 27">
            <a:extLst>
              <a:ext uri="{FF2B5EF4-FFF2-40B4-BE49-F238E27FC236}">
                <a16:creationId xmlns:a16="http://schemas.microsoft.com/office/drawing/2014/main" id="{DD3A131D-FAD3-3B07-4460-A25DB99302A2}"/>
              </a:ext>
            </a:extLst>
          </p:cNvPr>
          <p:cNvSpPr txBox="1"/>
          <p:nvPr/>
        </p:nvSpPr>
        <p:spPr>
          <a:xfrm>
            <a:off x="12727989" y="3263931"/>
            <a:ext cx="1925320" cy="646331"/>
          </a:xfrm>
          <a:prstGeom prst="rect">
            <a:avLst/>
          </a:prstGeom>
          <a:noFill/>
        </p:spPr>
        <p:txBody>
          <a:bodyPr wrap="square" rtlCol="0">
            <a:spAutoFit/>
          </a:bodyPr>
          <a:lstStyle/>
          <a:p>
            <a:r>
              <a:rPr lang="en-US" sz="1200" dirty="0"/>
              <a:t>User clicks on the order and see side by side compare of the change</a:t>
            </a:r>
            <a:endParaRPr lang="en-US" sz="1100" dirty="0"/>
          </a:p>
        </p:txBody>
      </p:sp>
    </p:spTree>
    <p:extLst>
      <p:ext uri="{BB962C8B-B14F-4D97-AF65-F5344CB8AC3E}">
        <p14:creationId xmlns:p14="http://schemas.microsoft.com/office/powerpoint/2010/main" val="69614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9C22121-D838-85E2-835B-3CADAC0DA2A8}"/>
              </a:ext>
            </a:extLst>
          </p:cNvPr>
          <p:cNvSpPr txBox="1"/>
          <p:nvPr/>
        </p:nvSpPr>
        <p:spPr>
          <a:xfrm>
            <a:off x="355600" y="182880"/>
            <a:ext cx="1656080" cy="369332"/>
          </a:xfrm>
          <a:prstGeom prst="rect">
            <a:avLst/>
          </a:prstGeom>
          <a:noFill/>
        </p:spPr>
        <p:txBody>
          <a:bodyPr wrap="square" rtlCol="0">
            <a:spAutoFit/>
          </a:bodyPr>
          <a:lstStyle/>
          <a:p>
            <a:r>
              <a:rPr lang="en-US" dirty="0"/>
              <a:t>Before EDIT</a:t>
            </a:r>
          </a:p>
        </p:txBody>
      </p:sp>
      <p:sp>
        <p:nvSpPr>
          <p:cNvPr id="10" name="TextBox 9">
            <a:extLst>
              <a:ext uri="{FF2B5EF4-FFF2-40B4-BE49-F238E27FC236}">
                <a16:creationId xmlns:a16="http://schemas.microsoft.com/office/drawing/2014/main" id="{42AA7F83-7941-ABEA-71E7-EBCC45833132}"/>
              </a:ext>
            </a:extLst>
          </p:cNvPr>
          <p:cNvSpPr txBox="1"/>
          <p:nvPr/>
        </p:nvSpPr>
        <p:spPr>
          <a:xfrm>
            <a:off x="5614603" y="3727046"/>
            <a:ext cx="776572" cy="369332"/>
          </a:xfrm>
          <a:prstGeom prst="rect">
            <a:avLst/>
          </a:prstGeom>
          <a:noFill/>
        </p:spPr>
        <p:txBody>
          <a:bodyPr wrap="square" rtlCol="0">
            <a:spAutoFit/>
          </a:bodyPr>
          <a:lstStyle/>
          <a:p>
            <a:r>
              <a:rPr lang="en-US" dirty="0"/>
              <a:t> EDIT</a:t>
            </a:r>
          </a:p>
        </p:txBody>
      </p:sp>
      <p:sp>
        <p:nvSpPr>
          <p:cNvPr id="11" name="Arrow: Down 10">
            <a:extLst>
              <a:ext uri="{FF2B5EF4-FFF2-40B4-BE49-F238E27FC236}">
                <a16:creationId xmlns:a16="http://schemas.microsoft.com/office/drawing/2014/main" id="{FF0CA74A-9617-E875-F4B1-BD9E0BCC3FE1}"/>
              </a:ext>
            </a:extLst>
          </p:cNvPr>
          <p:cNvSpPr/>
          <p:nvPr/>
        </p:nvSpPr>
        <p:spPr>
          <a:xfrm rot="16200000">
            <a:off x="5769381" y="3563283"/>
            <a:ext cx="675696" cy="13725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AC5DF9F0-AC1D-CD02-2B93-E767CD4CD996}"/>
              </a:ext>
            </a:extLst>
          </p:cNvPr>
          <p:cNvGrpSpPr/>
          <p:nvPr/>
        </p:nvGrpSpPr>
        <p:grpSpPr>
          <a:xfrm>
            <a:off x="202060" y="584200"/>
            <a:ext cx="4039740" cy="5963920"/>
            <a:chOff x="202060" y="584200"/>
            <a:chExt cx="4039740" cy="5963920"/>
          </a:xfrm>
        </p:grpSpPr>
        <p:pic>
          <p:nvPicPr>
            <p:cNvPr id="7" name="Picture 6">
              <a:extLst>
                <a:ext uri="{FF2B5EF4-FFF2-40B4-BE49-F238E27FC236}">
                  <a16:creationId xmlns:a16="http://schemas.microsoft.com/office/drawing/2014/main" id="{B6F3CB17-887F-7C60-97ED-A2A64E03570E}"/>
                </a:ext>
              </a:extLst>
            </p:cNvPr>
            <p:cNvPicPr>
              <a:picLocks noChangeAspect="1"/>
            </p:cNvPicPr>
            <p:nvPr/>
          </p:nvPicPr>
          <p:blipFill>
            <a:blip r:embed="rId2"/>
            <a:stretch>
              <a:fillRect/>
            </a:stretch>
          </p:blipFill>
          <p:spPr>
            <a:xfrm>
              <a:off x="202060" y="584200"/>
              <a:ext cx="4039740" cy="5963920"/>
            </a:xfrm>
            <a:prstGeom prst="rect">
              <a:avLst/>
            </a:prstGeom>
          </p:spPr>
        </p:pic>
        <p:sp>
          <p:nvSpPr>
            <p:cNvPr id="13" name="Rectangle 12">
              <a:extLst>
                <a:ext uri="{FF2B5EF4-FFF2-40B4-BE49-F238E27FC236}">
                  <a16:creationId xmlns:a16="http://schemas.microsoft.com/office/drawing/2014/main" id="{74F04738-5ED8-C89D-69E1-121A73AE210F}"/>
                </a:ext>
              </a:extLst>
            </p:cNvPr>
            <p:cNvSpPr/>
            <p:nvPr/>
          </p:nvSpPr>
          <p:spPr>
            <a:xfrm>
              <a:off x="3250922" y="76835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Edit Shipment  Stope</a:t>
              </a:r>
            </a:p>
          </p:txBody>
        </p:sp>
        <p:sp>
          <p:nvSpPr>
            <p:cNvPr id="15" name="Rectangle 14">
              <a:extLst>
                <a:ext uri="{FF2B5EF4-FFF2-40B4-BE49-F238E27FC236}">
                  <a16:creationId xmlns:a16="http://schemas.microsoft.com/office/drawing/2014/main" id="{90E6A989-4416-3105-A767-55CADB8E8B99}"/>
                </a:ext>
              </a:extLst>
            </p:cNvPr>
            <p:cNvSpPr/>
            <p:nvPr/>
          </p:nvSpPr>
          <p:spPr>
            <a:xfrm>
              <a:off x="2277256" y="76835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Approve Plan</a:t>
              </a:r>
            </a:p>
          </p:txBody>
        </p:sp>
        <p:sp>
          <p:nvSpPr>
            <p:cNvPr id="18" name="Rectangle 17">
              <a:extLst>
                <a:ext uri="{FF2B5EF4-FFF2-40B4-BE49-F238E27FC236}">
                  <a16:creationId xmlns:a16="http://schemas.microsoft.com/office/drawing/2014/main" id="{B0F0F7D3-6D20-E615-8162-2F7338246FBC}"/>
                </a:ext>
              </a:extLst>
            </p:cNvPr>
            <p:cNvSpPr/>
            <p:nvPr/>
          </p:nvSpPr>
          <p:spPr>
            <a:xfrm>
              <a:off x="2696356" y="112776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Anchor Date</a:t>
              </a:r>
            </a:p>
          </p:txBody>
        </p:sp>
        <p:sp>
          <p:nvSpPr>
            <p:cNvPr id="20" name="TextBox 19">
              <a:extLst>
                <a:ext uri="{FF2B5EF4-FFF2-40B4-BE49-F238E27FC236}">
                  <a16:creationId xmlns:a16="http://schemas.microsoft.com/office/drawing/2014/main" id="{B03F0242-A0B5-BE76-2029-5F5B72DE7C19}"/>
                </a:ext>
              </a:extLst>
            </p:cNvPr>
            <p:cNvSpPr txBox="1"/>
            <p:nvPr/>
          </p:nvSpPr>
          <p:spPr>
            <a:xfrm>
              <a:off x="2696356" y="1339428"/>
              <a:ext cx="838201" cy="230832"/>
            </a:xfrm>
            <a:prstGeom prst="rect">
              <a:avLst/>
            </a:prstGeom>
            <a:noFill/>
          </p:spPr>
          <p:txBody>
            <a:bodyPr wrap="square" rtlCol="0">
              <a:spAutoFit/>
            </a:bodyPr>
            <a:lstStyle/>
            <a:p>
              <a:pPr algn="ctr"/>
              <a:r>
                <a:rPr lang="en-US" sz="900" dirty="0"/>
                <a:t>3/20/2026</a:t>
              </a:r>
            </a:p>
          </p:txBody>
        </p:sp>
        <p:sp>
          <p:nvSpPr>
            <p:cNvPr id="22" name="Rectangle 21">
              <a:extLst>
                <a:ext uri="{FF2B5EF4-FFF2-40B4-BE49-F238E27FC236}">
                  <a16:creationId xmlns:a16="http://schemas.microsoft.com/office/drawing/2014/main" id="{9D9D27A2-5560-F5B5-EF0A-6591ED838E85}"/>
                </a:ext>
              </a:extLst>
            </p:cNvPr>
            <p:cNvSpPr/>
            <p:nvPr/>
          </p:nvSpPr>
          <p:spPr>
            <a:xfrm>
              <a:off x="1858154" y="112776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Planning Date Type</a:t>
              </a:r>
            </a:p>
          </p:txBody>
        </p:sp>
        <p:sp>
          <p:nvSpPr>
            <p:cNvPr id="24" name="TextBox 23">
              <a:extLst>
                <a:ext uri="{FF2B5EF4-FFF2-40B4-BE49-F238E27FC236}">
                  <a16:creationId xmlns:a16="http://schemas.microsoft.com/office/drawing/2014/main" id="{D2C87FA1-7512-D649-7F3D-977871510439}"/>
                </a:ext>
              </a:extLst>
            </p:cNvPr>
            <p:cNvSpPr txBox="1"/>
            <p:nvPr/>
          </p:nvSpPr>
          <p:spPr>
            <a:xfrm>
              <a:off x="1858154" y="1339428"/>
              <a:ext cx="838201" cy="215444"/>
            </a:xfrm>
            <a:prstGeom prst="rect">
              <a:avLst/>
            </a:prstGeom>
            <a:noFill/>
          </p:spPr>
          <p:txBody>
            <a:bodyPr wrap="square" rtlCol="0">
              <a:spAutoFit/>
            </a:bodyPr>
            <a:lstStyle/>
            <a:p>
              <a:pPr algn="ctr"/>
              <a:r>
                <a:rPr lang="en-US" sz="800" dirty="0"/>
                <a:t>RDD</a:t>
              </a:r>
            </a:p>
          </p:txBody>
        </p:sp>
      </p:grpSp>
      <p:sp>
        <p:nvSpPr>
          <p:cNvPr id="26" name="Rectangle 25">
            <a:extLst>
              <a:ext uri="{FF2B5EF4-FFF2-40B4-BE49-F238E27FC236}">
                <a16:creationId xmlns:a16="http://schemas.microsoft.com/office/drawing/2014/main" id="{0058AC58-5FF6-79DF-36B9-7AA1F733C886}"/>
              </a:ext>
            </a:extLst>
          </p:cNvPr>
          <p:cNvSpPr/>
          <p:nvPr/>
        </p:nvSpPr>
        <p:spPr>
          <a:xfrm>
            <a:off x="9827406" y="176911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Anchor Date</a:t>
            </a:r>
          </a:p>
        </p:txBody>
      </p:sp>
      <p:sp>
        <p:nvSpPr>
          <p:cNvPr id="28" name="TextBox 27">
            <a:extLst>
              <a:ext uri="{FF2B5EF4-FFF2-40B4-BE49-F238E27FC236}">
                <a16:creationId xmlns:a16="http://schemas.microsoft.com/office/drawing/2014/main" id="{D196F261-D72B-9872-5BCC-BF547AE7E150}"/>
              </a:ext>
            </a:extLst>
          </p:cNvPr>
          <p:cNvSpPr txBox="1"/>
          <p:nvPr/>
        </p:nvSpPr>
        <p:spPr>
          <a:xfrm>
            <a:off x="9827406" y="1980778"/>
            <a:ext cx="838201" cy="230832"/>
          </a:xfrm>
          <a:prstGeom prst="rect">
            <a:avLst/>
          </a:prstGeom>
          <a:noFill/>
        </p:spPr>
        <p:txBody>
          <a:bodyPr wrap="square" rtlCol="0">
            <a:spAutoFit/>
          </a:bodyPr>
          <a:lstStyle/>
          <a:p>
            <a:pPr algn="ctr"/>
            <a:r>
              <a:rPr lang="en-US" sz="900" dirty="0"/>
              <a:t>3/20/2026</a:t>
            </a:r>
          </a:p>
        </p:txBody>
      </p:sp>
      <p:sp>
        <p:nvSpPr>
          <p:cNvPr id="30" name="Rectangle 29">
            <a:extLst>
              <a:ext uri="{FF2B5EF4-FFF2-40B4-BE49-F238E27FC236}">
                <a16:creationId xmlns:a16="http://schemas.microsoft.com/office/drawing/2014/main" id="{9BDF5BCF-89B6-5539-3873-14F99D269485}"/>
              </a:ext>
            </a:extLst>
          </p:cNvPr>
          <p:cNvSpPr/>
          <p:nvPr/>
        </p:nvSpPr>
        <p:spPr>
          <a:xfrm>
            <a:off x="8989204" y="1769110"/>
            <a:ext cx="838201" cy="211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Planning Date Type</a:t>
            </a:r>
          </a:p>
        </p:txBody>
      </p:sp>
      <p:sp>
        <p:nvSpPr>
          <p:cNvPr id="32" name="TextBox 31">
            <a:extLst>
              <a:ext uri="{FF2B5EF4-FFF2-40B4-BE49-F238E27FC236}">
                <a16:creationId xmlns:a16="http://schemas.microsoft.com/office/drawing/2014/main" id="{5EE1D1AA-D247-02E2-636E-AB4322B0BD5B}"/>
              </a:ext>
            </a:extLst>
          </p:cNvPr>
          <p:cNvSpPr txBox="1"/>
          <p:nvPr/>
        </p:nvSpPr>
        <p:spPr>
          <a:xfrm>
            <a:off x="8989204" y="1980778"/>
            <a:ext cx="838201" cy="215444"/>
          </a:xfrm>
          <a:prstGeom prst="rect">
            <a:avLst/>
          </a:prstGeom>
          <a:noFill/>
        </p:spPr>
        <p:txBody>
          <a:bodyPr wrap="square" rtlCol="0">
            <a:spAutoFit/>
          </a:bodyPr>
          <a:lstStyle/>
          <a:p>
            <a:pPr algn="ctr"/>
            <a:r>
              <a:rPr lang="en-US" sz="800" dirty="0"/>
              <a:t>RDD</a:t>
            </a:r>
          </a:p>
        </p:txBody>
      </p:sp>
      <p:sp>
        <p:nvSpPr>
          <p:cNvPr id="34" name="TextBox 33">
            <a:extLst>
              <a:ext uri="{FF2B5EF4-FFF2-40B4-BE49-F238E27FC236}">
                <a16:creationId xmlns:a16="http://schemas.microsoft.com/office/drawing/2014/main" id="{BEB03B4C-6FBD-D8A1-9659-2890E4382D1E}"/>
              </a:ext>
            </a:extLst>
          </p:cNvPr>
          <p:cNvSpPr txBox="1"/>
          <p:nvPr/>
        </p:nvSpPr>
        <p:spPr>
          <a:xfrm>
            <a:off x="5956300" y="2514600"/>
            <a:ext cx="1638300" cy="800219"/>
          </a:xfrm>
          <a:prstGeom prst="rect">
            <a:avLst/>
          </a:prstGeom>
          <a:noFill/>
        </p:spPr>
        <p:txBody>
          <a:bodyPr wrap="square" rtlCol="0">
            <a:spAutoFit/>
          </a:bodyPr>
          <a:lstStyle/>
          <a:p>
            <a:r>
              <a:rPr lang="en-US" sz="1200" dirty="0"/>
              <a:t>3 SECTIONS</a:t>
            </a:r>
            <a:endParaRPr lang="en-US" sz="1100" dirty="0"/>
          </a:p>
          <a:p>
            <a:pPr marL="228600" indent="-228600">
              <a:buAutoNum type="arabicPeriod"/>
            </a:pPr>
            <a:r>
              <a:rPr lang="en-US" sz="1100" b="1" dirty="0">
                <a:solidFill>
                  <a:srgbClr val="00B050"/>
                </a:solidFill>
              </a:rPr>
              <a:t>Stops</a:t>
            </a:r>
          </a:p>
          <a:p>
            <a:pPr marL="228600" indent="-228600">
              <a:buAutoNum type="arabicPeriod"/>
            </a:pPr>
            <a:r>
              <a:rPr lang="en-US" sz="1100" b="1" dirty="0">
                <a:solidFill>
                  <a:srgbClr val="00B050"/>
                </a:solidFill>
              </a:rPr>
              <a:t>Order actions</a:t>
            </a:r>
          </a:p>
          <a:p>
            <a:pPr marL="228600" indent="-228600">
              <a:buAutoNum type="arabicPeriod"/>
            </a:pPr>
            <a:r>
              <a:rPr lang="en-US" sz="1200" b="1" dirty="0">
                <a:solidFill>
                  <a:srgbClr val="00B050"/>
                </a:solidFill>
              </a:rPr>
              <a:t>Add Orders</a:t>
            </a:r>
          </a:p>
        </p:txBody>
      </p:sp>
      <p:grpSp>
        <p:nvGrpSpPr>
          <p:cNvPr id="37" name="Group 36">
            <a:extLst>
              <a:ext uri="{FF2B5EF4-FFF2-40B4-BE49-F238E27FC236}">
                <a16:creationId xmlns:a16="http://schemas.microsoft.com/office/drawing/2014/main" id="{E7CB605A-4D56-B013-3EB4-23FAB706AAFE}"/>
              </a:ext>
            </a:extLst>
          </p:cNvPr>
          <p:cNvGrpSpPr/>
          <p:nvPr/>
        </p:nvGrpSpPr>
        <p:grpSpPr>
          <a:xfrm>
            <a:off x="7499038" y="449616"/>
            <a:ext cx="6051706" cy="6187132"/>
            <a:chOff x="7507505" y="818146"/>
            <a:chExt cx="6051706" cy="6187132"/>
          </a:xfrm>
        </p:grpSpPr>
        <p:pic>
          <p:nvPicPr>
            <p:cNvPr id="5" name="Picture 4">
              <a:extLst>
                <a:ext uri="{FF2B5EF4-FFF2-40B4-BE49-F238E27FC236}">
                  <a16:creationId xmlns:a16="http://schemas.microsoft.com/office/drawing/2014/main" id="{7A8C78D6-3A7E-5FD9-60B9-1C6219B42AA1}"/>
                </a:ext>
              </a:extLst>
            </p:cNvPr>
            <p:cNvPicPr>
              <a:picLocks noChangeAspect="1"/>
            </p:cNvPicPr>
            <p:nvPr/>
          </p:nvPicPr>
          <p:blipFill>
            <a:blip r:embed="rId3"/>
            <a:stretch>
              <a:fillRect/>
            </a:stretch>
          </p:blipFill>
          <p:spPr>
            <a:xfrm>
              <a:off x="7507505" y="818146"/>
              <a:ext cx="6051706" cy="6187132"/>
            </a:xfrm>
            <a:prstGeom prst="rect">
              <a:avLst/>
            </a:prstGeom>
          </p:spPr>
        </p:pic>
        <p:pic>
          <p:nvPicPr>
            <p:cNvPr id="36" name="Picture 35">
              <a:extLst>
                <a:ext uri="{FF2B5EF4-FFF2-40B4-BE49-F238E27FC236}">
                  <a16:creationId xmlns:a16="http://schemas.microsoft.com/office/drawing/2014/main" id="{13DDE2CA-6EAE-8C59-3646-C0CB929BA188}"/>
                </a:ext>
              </a:extLst>
            </p:cNvPr>
            <p:cNvPicPr>
              <a:picLocks noChangeAspect="1"/>
            </p:cNvPicPr>
            <p:nvPr/>
          </p:nvPicPr>
          <p:blipFill>
            <a:blip r:embed="rId4"/>
            <a:stretch>
              <a:fillRect/>
            </a:stretch>
          </p:blipFill>
          <p:spPr>
            <a:xfrm>
              <a:off x="9583077" y="2868127"/>
              <a:ext cx="1524665" cy="228700"/>
            </a:xfrm>
            <a:prstGeom prst="rect">
              <a:avLst/>
            </a:prstGeom>
            <a:ln>
              <a:solidFill>
                <a:schemeClr val="accent1"/>
              </a:solidFill>
            </a:ln>
          </p:spPr>
        </p:pic>
      </p:grpSp>
    </p:spTree>
    <p:extLst>
      <p:ext uri="{BB962C8B-B14F-4D97-AF65-F5344CB8AC3E}">
        <p14:creationId xmlns:p14="http://schemas.microsoft.com/office/powerpoint/2010/main" val="1813445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3BA304-E2D0-1906-76A7-F26E3DF12B26}"/>
              </a:ext>
            </a:extLst>
          </p:cNvPr>
          <p:cNvPicPr>
            <a:picLocks noChangeAspect="1"/>
          </p:cNvPicPr>
          <p:nvPr/>
        </p:nvPicPr>
        <p:blipFill>
          <a:blip r:embed="rId2"/>
          <a:stretch>
            <a:fillRect/>
          </a:stretch>
        </p:blipFill>
        <p:spPr>
          <a:xfrm>
            <a:off x="2257936" y="849973"/>
            <a:ext cx="4453549" cy="5842000"/>
          </a:xfrm>
          <a:prstGeom prst="rect">
            <a:avLst/>
          </a:prstGeom>
        </p:spPr>
      </p:pic>
      <p:sp>
        <p:nvSpPr>
          <p:cNvPr id="6" name="Title 1">
            <a:extLst>
              <a:ext uri="{FF2B5EF4-FFF2-40B4-BE49-F238E27FC236}">
                <a16:creationId xmlns:a16="http://schemas.microsoft.com/office/drawing/2014/main" id="{27756196-C486-23FD-22B3-EF05FE542A0E}"/>
              </a:ext>
            </a:extLst>
          </p:cNvPr>
          <p:cNvSpPr>
            <a:spLocks noGrp="1"/>
          </p:cNvSpPr>
          <p:nvPr>
            <p:ph type="title"/>
          </p:nvPr>
        </p:nvSpPr>
        <p:spPr>
          <a:xfrm>
            <a:off x="199888" y="166027"/>
            <a:ext cx="2932780" cy="468974"/>
          </a:xfrm>
        </p:spPr>
        <p:txBody>
          <a:bodyPr>
            <a:normAutofit fontScale="90000"/>
          </a:bodyPr>
          <a:lstStyle/>
          <a:p>
            <a:pPr algn="ctr"/>
            <a:r>
              <a:rPr lang="en-US" sz="3600" dirty="0"/>
              <a:t>EDIT Stop</a:t>
            </a:r>
          </a:p>
        </p:txBody>
      </p:sp>
      <p:sp>
        <p:nvSpPr>
          <p:cNvPr id="8" name="Arrow: Curved Down 7">
            <a:extLst>
              <a:ext uri="{FF2B5EF4-FFF2-40B4-BE49-F238E27FC236}">
                <a16:creationId xmlns:a16="http://schemas.microsoft.com/office/drawing/2014/main" id="{B17DC6C2-8FF9-8C36-5E0F-9BF537701669}"/>
              </a:ext>
            </a:extLst>
          </p:cNvPr>
          <p:cNvSpPr/>
          <p:nvPr/>
        </p:nvSpPr>
        <p:spPr>
          <a:xfrm rot="16200000">
            <a:off x="1406070" y="3020335"/>
            <a:ext cx="1296935" cy="564863"/>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Arrow: Curved Down 9">
            <a:extLst>
              <a:ext uri="{FF2B5EF4-FFF2-40B4-BE49-F238E27FC236}">
                <a16:creationId xmlns:a16="http://schemas.microsoft.com/office/drawing/2014/main" id="{54A1FDD3-B6A2-FD9D-89F1-931DA7BA2FC0}"/>
              </a:ext>
            </a:extLst>
          </p:cNvPr>
          <p:cNvSpPr/>
          <p:nvPr/>
        </p:nvSpPr>
        <p:spPr>
          <a:xfrm rot="5400000" flipV="1">
            <a:off x="1533062" y="4183889"/>
            <a:ext cx="1191258" cy="465498"/>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DBC5BC56-D654-908D-19FD-A216D8A9978B}"/>
              </a:ext>
            </a:extLst>
          </p:cNvPr>
          <p:cNvSpPr txBox="1"/>
          <p:nvPr/>
        </p:nvSpPr>
        <p:spPr>
          <a:xfrm>
            <a:off x="59267" y="3302000"/>
            <a:ext cx="1617133" cy="1200329"/>
          </a:xfrm>
          <a:prstGeom prst="rect">
            <a:avLst/>
          </a:prstGeom>
          <a:noFill/>
        </p:spPr>
        <p:txBody>
          <a:bodyPr wrap="square" rtlCol="0">
            <a:spAutoFit/>
          </a:bodyPr>
          <a:lstStyle/>
          <a:p>
            <a:r>
              <a:rPr lang="en-US" sz="900" dirty="0">
                <a:solidFill>
                  <a:srgbClr val="00B050"/>
                </a:solidFill>
              </a:rPr>
              <a:t>User should be able to drag and drop the stops</a:t>
            </a:r>
          </a:p>
          <a:p>
            <a:endParaRPr lang="en-US" sz="900" dirty="0">
              <a:solidFill>
                <a:srgbClr val="00B050"/>
              </a:solidFill>
            </a:endParaRPr>
          </a:p>
          <a:p>
            <a:r>
              <a:rPr lang="en-US" sz="900" dirty="0">
                <a:solidFill>
                  <a:srgbClr val="00B050"/>
                </a:solidFill>
              </a:rPr>
              <a:t>1. Logic should be available to prevent user saving changes like, order being delivered, before being picked up,</a:t>
            </a:r>
          </a:p>
        </p:txBody>
      </p:sp>
      <p:sp>
        <p:nvSpPr>
          <p:cNvPr id="13" name="TextBox 12">
            <a:extLst>
              <a:ext uri="{FF2B5EF4-FFF2-40B4-BE49-F238E27FC236}">
                <a16:creationId xmlns:a16="http://schemas.microsoft.com/office/drawing/2014/main" id="{55D39E6D-C4D3-F32D-5D82-F50102EA81E7}"/>
              </a:ext>
            </a:extLst>
          </p:cNvPr>
          <p:cNvSpPr txBox="1"/>
          <p:nvPr/>
        </p:nvSpPr>
        <p:spPr>
          <a:xfrm>
            <a:off x="199888" y="5454922"/>
            <a:ext cx="1617133" cy="1338828"/>
          </a:xfrm>
          <a:prstGeom prst="rect">
            <a:avLst/>
          </a:prstGeom>
          <a:noFill/>
        </p:spPr>
        <p:txBody>
          <a:bodyPr wrap="square" rtlCol="0">
            <a:spAutoFit/>
          </a:bodyPr>
          <a:lstStyle/>
          <a:p>
            <a:r>
              <a:rPr lang="en-US" sz="900" dirty="0">
                <a:solidFill>
                  <a:srgbClr val="00B050"/>
                </a:solidFill>
              </a:rPr>
              <a:t>User should be able to add stops (Pickup or Delivery)</a:t>
            </a:r>
          </a:p>
          <a:p>
            <a:pPr marL="171450" indent="-171450">
              <a:buFontTx/>
              <a:buChar char="-"/>
            </a:pPr>
            <a:r>
              <a:rPr lang="en-US" sz="900" dirty="0">
                <a:solidFill>
                  <a:srgbClr val="00B050"/>
                </a:solidFill>
              </a:rPr>
              <a:t>User should not be able to finalize the shipment without adding at least one order to the stop.</a:t>
            </a:r>
          </a:p>
          <a:p>
            <a:pPr marL="171450" indent="-171450">
              <a:buFontTx/>
              <a:buChar char="-"/>
            </a:pPr>
            <a:r>
              <a:rPr lang="en-US" sz="900" dirty="0">
                <a:solidFill>
                  <a:srgbClr val="00B050"/>
                </a:solidFill>
              </a:rPr>
              <a:t>Similarly, the same order should be picked up before being delivered.</a:t>
            </a:r>
          </a:p>
        </p:txBody>
      </p:sp>
      <p:cxnSp>
        <p:nvCxnSpPr>
          <p:cNvPr id="15" name="Straight Arrow Connector 14">
            <a:extLst>
              <a:ext uri="{FF2B5EF4-FFF2-40B4-BE49-F238E27FC236}">
                <a16:creationId xmlns:a16="http://schemas.microsoft.com/office/drawing/2014/main" id="{F915B759-D2BC-8AC9-DF08-AA6ACCCFDCC8}"/>
              </a:ext>
            </a:extLst>
          </p:cNvPr>
          <p:cNvCxnSpPr>
            <a:cxnSpLocks/>
            <a:stCxn id="13" idx="3"/>
          </p:cNvCxnSpPr>
          <p:nvPr/>
        </p:nvCxnSpPr>
        <p:spPr>
          <a:xfrm>
            <a:off x="1817021" y="6124336"/>
            <a:ext cx="789019" cy="935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6713ADB-6800-EAA3-480A-BD54624B409D}"/>
              </a:ext>
            </a:extLst>
          </p:cNvPr>
          <p:cNvSpPr txBox="1"/>
          <p:nvPr/>
        </p:nvSpPr>
        <p:spPr>
          <a:xfrm>
            <a:off x="7164334" y="2291080"/>
            <a:ext cx="1617133" cy="784830"/>
          </a:xfrm>
          <a:prstGeom prst="rect">
            <a:avLst/>
          </a:prstGeom>
          <a:noFill/>
        </p:spPr>
        <p:txBody>
          <a:bodyPr wrap="square" rtlCol="0">
            <a:spAutoFit/>
          </a:bodyPr>
          <a:lstStyle/>
          <a:p>
            <a:r>
              <a:rPr lang="en-US" sz="900" dirty="0">
                <a:solidFill>
                  <a:srgbClr val="00B050"/>
                </a:solidFill>
              </a:rPr>
              <a:t>System auto selects Stop P1 for user to Edit. User can Select P2 or D1 or any stop and corresponding order details to be populated</a:t>
            </a:r>
          </a:p>
        </p:txBody>
      </p:sp>
      <p:cxnSp>
        <p:nvCxnSpPr>
          <p:cNvPr id="22" name="Straight Arrow Connector 21">
            <a:extLst>
              <a:ext uri="{FF2B5EF4-FFF2-40B4-BE49-F238E27FC236}">
                <a16:creationId xmlns:a16="http://schemas.microsoft.com/office/drawing/2014/main" id="{D188C3CB-3F3B-C8E1-C03D-00DEE9E6AF02}"/>
              </a:ext>
            </a:extLst>
          </p:cNvPr>
          <p:cNvCxnSpPr>
            <a:stCxn id="20" idx="1"/>
          </p:cNvCxnSpPr>
          <p:nvPr/>
        </p:nvCxnSpPr>
        <p:spPr>
          <a:xfrm flipH="1" flipV="1">
            <a:off x="4978400" y="2654299"/>
            <a:ext cx="2185934" cy="291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2B38D78D-FDA6-CD8E-5B4D-543E43F0F545}"/>
              </a:ext>
            </a:extLst>
          </p:cNvPr>
          <p:cNvSpPr txBox="1"/>
          <p:nvPr/>
        </p:nvSpPr>
        <p:spPr>
          <a:xfrm>
            <a:off x="7209249" y="3378558"/>
            <a:ext cx="1928401" cy="2723823"/>
          </a:xfrm>
          <a:prstGeom prst="rect">
            <a:avLst/>
          </a:prstGeom>
          <a:noFill/>
          <a:ln>
            <a:solidFill>
              <a:schemeClr val="tx1"/>
            </a:solidFill>
          </a:ln>
        </p:spPr>
        <p:txBody>
          <a:bodyPr wrap="square" rtlCol="0">
            <a:spAutoFit/>
          </a:bodyPr>
          <a:lstStyle/>
          <a:p>
            <a:r>
              <a:rPr lang="en-US" sz="900" dirty="0">
                <a:solidFill>
                  <a:srgbClr val="00B050"/>
                </a:solidFill>
              </a:rPr>
              <a:t>Order # will be displayed as chip</a:t>
            </a:r>
          </a:p>
          <a:p>
            <a:endParaRPr lang="en-US" sz="900" dirty="0">
              <a:solidFill>
                <a:srgbClr val="00B050"/>
              </a:solidFill>
            </a:endParaRPr>
          </a:p>
          <a:p>
            <a:r>
              <a:rPr lang="en-US" sz="900" dirty="0">
                <a:solidFill>
                  <a:srgbClr val="00B050"/>
                </a:solidFill>
              </a:rPr>
              <a:t>Move: User will have option to drag and move the order to any stop (P2,P3,D1)</a:t>
            </a:r>
          </a:p>
          <a:p>
            <a:endParaRPr lang="en-US" sz="900" dirty="0">
              <a:solidFill>
                <a:srgbClr val="00B050"/>
              </a:solidFill>
            </a:endParaRPr>
          </a:p>
          <a:p>
            <a:r>
              <a:rPr lang="en-US" sz="900" dirty="0">
                <a:solidFill>
                  <a:srgbClr val="00B050"/>
                </a:solidFill>
              </a:rPr>
              <a:t>Remove: Remove button. </a:t>
            </a:r>
          </a:p>
          <a:p>
            <a:r>
              <a:rPr lang="en-US" sz="900" dirty="0">
                <a:solidFill>
                  <a:srgbClr val="00B050"/>
                </a:solidFill>
              </a:rPr>
              <a:t>Remove will remove order from Shipment (pickup and delivery). Moves it to the available order list (in case the user wants to add order again). Finalized the removal once user confirms the change. </a:t>
            </a:r>
          </a:p>
          <a:p>
            <a:endParaRPr lang="en-US" sz="900" dirty="0">
              <a:solidFill>
                <a:srgbClr val="00B050"/>
              </a:solidFill>
            </a:endParaRPr>
          </a:p>
          <a:p>
            <a:r>
              <a:rPr lang="en-US" sz="900" dirty="0">
                <a:solidFill>
                  <a:srgbClr val="FF0000"/>
                </a:solidFill>
              </a:rPr>
              <a:t>Note: Should have logic that prevents order just being in delivery without a pickup or vice versa. Similarly, pickup of the order should happen before delivery</a:t>
            </a:r>
          </a:p>
        </p:txBody>
      </p:sp>
      <p:cxnSp>
        <p:nvCxnSpPr>
          <p:cNvPr id="26" name="Straight Arrow Connector 25">
            <a:extLst>
              <a:ext uri="{FF2B5EF4-FFF2-40B4-BE49-F238E27FC236}">
                <a16:creationId xmlns:a16="http://schemas.microsoft.com/office/drawing/2014/main" id="{0BD25AEA-F4C2-B8FD-43A9-1075BB7A00F3}"/>
              </a:ext>
            </a:extLst>
          </p:cNvPr>
          <p:cNvCxnSpPr>
            <a:cxnSpLocks/>
          </p:cNvCxnSpPr>
          <p:nvPr/>
        </p:nvCxnSpPr>
        <p:spPr>
          <a:xfrm flipH="1">
            <a:off x="5162550" y="3752430"/>
            <a:ext cx="2001784" cy="3311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90D07F00-A657-CE9F-46F8-81BC56E381BA}"/>
              </a:ext>
            </a:extLst>
          </p:cNvPr>
          <p:cNvSpPr txBox="1"/>
          <p:nvPr/>
        </p:nvSpPr>
        <p:spPr>
          <a:xfrm>
            <a:off x="9331960" y="2734792"/>
            <a:ext cx="2367280" cy="984885"/>
          </a:xfrm>
          <a:prstGeom prst="rect">
            <a:avLst/>
          </a:prstGeom>
          <a:noFill/>
        </p:spPr>
        <p:txBody>
          <a:bodyPr wrap="square" rtlCol="0">
            <a:spAutoFit/>
          </a:bodyPr>
          <a:lstStyle/>
          <a:p>
            <a:r>
              <a:rPr lang="en-US" sz="1000" b="1" dirty="0"/>
              <a:t>Order Tool Tip display:</a:t>
            </a:r>
          </a:p>
          <a:p>
            <a:pPr marL="228600" indent="-228600">
              <a:buAutoNum type="arabicPeriod"/>
            </a:pPr>
            <a:r>
              <a:rPr lang="en-US" sz="800" dirty="0"/>
              <a:t>Planning Type: SSD/RDD</a:t>
            </a:r>
          </a:p>
          <a:p>
            <a:pPr marL="228600" indent="-228600">
              <a:buAutoNum type="arabicPeriod"/>
            </a:pPr>
            <a:r>
              <a:rPr lang="en-US" sz="800" dirty="0"/>
              <a:t>Pickup/Delivery Date Time: 6/3/2026 08:00</a:t>
            </a:r>
          </a:p>
          <a:p>
            <a:pPr marL="228600" indent="-228600">
              <a:buAutoNum type="arabicPeriod"/>
            </a:pPr>
            <a:r>
              <a:rPr lang="en-US" sz="800" dirty="0"/>
              <a:t>Gross weight: 1000 LB</a:t>
            </a:r>
          </a:p>
          <a:p>
            <a:pPr marL="228600" indent="-228600">
              <a:buAutoNum type="arabicPeriod"/>
            </a:pPr>
            <a:r>
              <a:rPr lang="en-US" sz="800" dirty="0"/>
              <a:t>Volume: 30 </a:t>
            </a:r>
            <a:r>
              <a:rPr lang="en-US" sz="800" dirty="0" err="1"/>
              <a:t>Cuft</a:t>
            </a:r>
            <a:endParaRPr lang="en-US" sz="800" dirty="0"/>
          </a:p>
          <a:p>
            <a:pPr marL="228600" indent="-228600">
              <a:buAutoNum type="arabicPeriod"/>
            </a:pPr>
            <a:r>
              <a:rPr lang="en-US" sz="800" dirty="0"/>
              <a:t>Origin: City, State, Postal, Country</a:t>
            </a:r>
          </a:p>
          <a:p>
            <a:pPr marL="228600" indent="-228600">
              <a:buFontTx/>
              <a:buAutoNum type="arabicPeriod"/>
            </a:pPr>
            <a:r>
              <a:rPr lang="en-US" sz="800" dirty="0"/>
              <a:t>Destination: City, State, Postal, Country</a:t>
            </a:r>
          </a:p>
        </p:txBody>
      </p:sp>
      <p:cxnSp>
        <p:nvCxnSpPr>
          <p:cNvPr id="29" name="Straight Arrow Connector 28">
            <a:extLst>
              <a:ext uri="{FF2B5EF4-FFF2-40B4-BE49-F238E27FC236}">
                <a16:creationId xmlns:a16="http://schemas.microsoft.com/office/drawing/2014/main" id="{97E700C5-292C-3276-4B75-428C61F6FFEC}"/>
              </a:ext>
            </a:extLst>
          </p:cNvPr>
          <p:cNvCxnSpPr>
            <a:cxnSpLocks/>
            <a:stCxn id="27" idx="1"/>
          </p:cNvCxnSpPr>
          <p:nvPr/>
        </p:nvCxnSpPr>
        <p:spPr>
          <a:xfrm flipH="1">
            <a:off x="4460240" y="3227235"/>
            <a:ext cx="4871720" cy="3592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ight Bracket 35">
            <a:extLst>
              <a:ext uri="{FF2B5EF4-FFF2-40B4-BE49-F238E27FC236}">
                <a16:creationId xmlns:a16="http://schemas.microsoft.com/office/drawing/2014/main" id="{7DE8F0AC-BFE4-3795-2F2D-8CA33EFB0022}"/>
              </a:ext>
            </a:extLst>
          </p:cNvPr>
          <p:cNvSpPr/>
          <p:nvPr/>
        </p:nvSpPr>
        <p:spPr>
          <a:xfrm>
            <a:off x="5092699" y="3372208"/>
            <a:ext cx="94321" cy="1447442"/>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39" name="Picture 38">
            <a:extLst>
              <a:ext uri="{FF2B5EF4-FFF2-40B4-BE49-F238E27FC236}">
                <a16:creationId xmlns:a16="http://schemas.microsoft.com/office/drawing/2014/main" id="{69B0AEA1-1D92-A777-0294-4E5C7DDC58E8}"/>
              </a:ext>
            </a:extLst>
          </p:cNvPr>
          <p:cNvPicPr>
            <a:picLocks noChangeAspect="1"/>
          </p:cNvPicPr>
          <p:nvPr/>
        </p:nvPicPr>
        <p:blipFill>
          <a:blip r:embed="rId3"/>
          <a:stretch>
            <a:fillRect/>
          </a:stretch>
        </p:blipFill>
        <p:spPr>
          <a:xfrm>
            <a:off x="9331960" y="4740469"/>
            <a:ext cx="3570971" cy="1808764"/>
          </a:xfrm>
          <a:prstGeom prst="rect">
            <a:avLst/>
          </a:prstGeom>
        </p:spPr>
      </p:pic>
    </p:spTree>
    <p:extLst>
      <p:ext uri="{BB962C8B-B14F-4D97-AF65-F5344CB8AC3E}">
        <p14:creationId xmlns:p14="http://schemas.microsoft.com/office/powerpoint/2010/main" val="3001832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5F7B3E1-788C-9CCC-1CF9-F3B743DA91BD}"/>
              </a:ext>
            </a:extLst>
          </p:cNvPr>
          <p:cNvPicPr>
            <a:picLocks noChangeAspect="1"/>
          </p:cNvPicPr>
          <p:nvPr/>
        </p:nvPicPr>
        <p:blipFill>
          <a:blip r:embed="rId2"/>
          <a:stretch>
            <a:fillRect/>
          </a:stretch>
        </p:blipFill>
        <p:spPr>
          <a:xfrm>
            <a:off x="5706533" y="778895"/>
            <a:ext cx="4021667" cy="1617172"/>
          </a:xfrm>
          <a:prstGeom prst="rect">
            <a:avLst/>
          </a:prstGeom>
        </p:spPr>
      </p:pic>
      <p:cxnSp>
        <p:nvCxnSpPr>
          <p:cNvPr id="11" name="Straight Arrow Connector 10">
            <a:extLst>
              <a:ext uri="{FF2B5EF4-FFF2-40B4-BE49-F238E27FC236}">
                <a16:creationId xmlns:a16="http://schemas.microsoft.com/office/drawing/2014/main" id="{8B68CBE3-6974-8BAF-28C0-BB25ADDADA9E}"/>
              </a:ext>
            </a:extLst>
          </p:cNvPr>
          <p:cNvCxnSpPr>
            <a:cxnSpLocks/>
            <a:stCxn id="16" idx="0"/>
          </p:cNvCxnSpPr>
          <p:nvPr/>
        </p:nvCxnSpPr>
        <p:spPr>
          <a:xfrm flipV="1">
            <a:off x="6807067" y="1819175"/>
            <a:ext cx="565885" cy="1609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C144BBF-6A7D-4FAD-5747-5EA27CB37D2B}"/>
              </a:ext>
            </a:extLst>
          </p:cNvPr>
          <p:cNvSpPr txBox="1"/>
          <p:nvPr/>
        </p:nvSpPr>
        <p:spPr>
          <a:xfrm>
            <a:off x="4431632" y="3429000"/>
            <a:ext cx="4750869" cy="646331"/>
          </a:xfrm>
          <a:prstGeom prst="rect">
            <a:avLst/>
          </a:prstGeom>
          <a:noFill/>
        </p:spPr>
        <p:txBody>
          <a:bodyPr wrap="square" rtlCol="0">
            <a:spAutoFit/>
          </a:bodyPr>
          <a:lstStyle/>
          <a:p>
            <a:r>
              <a:rPr lang="en-US" dirty="0"/>
              <a:t>New stop is added to the bottom of that stop type (Pickup or delivery)</a:t>
            </a:r>
          </a:p>
        </p:txBody>
      </p:sp>
      <p:grpSp>
        <p:nvGrpSpPr>
          <p:cNvPr id="20" name="Group 19">
            <a:extLst>
              <a:ext uri="{FF2B5EF4-FFF2-40B4-BE49-F238E27FC236}">
                <a16:creationId xmlns:a16="http://schemas.microsoft.com/office/drawing/2014/main" id="{08DD77DD-773B-667D-7B1D-C5C600997B0D}"/>
              </a:ext>
            </a:extLst>
          </p:cNvPr>
          <p:cNvGrpSpPr/>
          <p:nvPr/>
        </p:nvGrpSpPr>
        <p:grpSpPr>
          <a:xfrm>
            <a:off x="361875" y="250721"/>
            <a:ext cx="4616525" cy="3284344"/>
            <a:chOff x="361875" y="250721"/>
            <a:chExt cx="4616525" cy="3284344"/>
          </a:xfrm>
        </p:grpSpPr>
        <p:pic>
          <p:nvPicPr>
            <p:cNvPr id="5" name="Picture 4">
              <a:extLst>
                <a:ext uri="{FF2B5EF4-FFF2-40B4-BE49-F238E27FC236}">
                  <a16:creationId xmlns:a16="http://schemas.microsoft.com/office/drawing/2014/main" id="{6583361A-DED1-1ED3-826D-7C1792B7317E}"/>
                </a:ext>
              </a:extLst>
            </p:cNvPr>
            <p:cNvPicPr>
              <a:picLocks noChangeAspect="1"/>
            </p:cNvPicPr>
            <p:nvPr/>
          </p:nvPicPr>
          <p:blipFill>
            <a:blip r:embed="rId3"/>
            <a:srcRect b="55213"/>
            <a:stretch>
              <a:fillRect/>
            </a:stretch>
          </p:blipFill>
          <p:spPr>
            <a:xfrm>
              <a:off x="361875" y="250721"/>
              <a:ext cx="4616525" cy="2822679"/>
            </a:xfrm>
            <a:prstGeom prst="rect">
              <a:avLst/>
            </a:prstGeom>
          </p:spPr>
        </p:pic>
        <p:pic>
          <p:nvPicPr>
            <p:cNvPr id="18" name="Picture 17">
              <a:extLst>
                <a:ext uri="{FF2B5EF4-FFF2-40B4-BE49-F238E27FC236}">
                  <a16:creationId xmlns:a16="http://schemas.microsoft.com/office/drawing/2014/main" id="{3F421B3A-5E0F-9B74-203C-093314503E5A}"/>
                </a:ext>
              </a:extLst>
            </p:cNvPr>
            <p:cNvPicPr>
              <a:picLocks noChangeAspect="1"/>
            </p:cNvPicPr>
            <p:nvPr/>
          </p:nvPicPr>
          <p:blipFill>
            <a:blip r:embed="rId3"/>
            <a:srcRect l="20203" t="90831"/>
            <a:stretch>
              <a:fillRect/>
            </a:stretch>
          </p:blipFill>
          <p:spPr>
            <a:xfrm>
              <a:off x="529388" y="2957215"/>
              <a:ext cx="2552699" cy="577850"/>
            </a:xfrm>
            <a:prstGeom prst="rect">
              <a:avLst/>
            </a:prstGeom>
          </p:spPr>
        </p:pic>
      </p:grpSp>
    </p:spTree>
    <p:extLst>
      <p:ext uri="{BB962C8B-B14F-4D97-AF65-F5344CB8AC3E}">
        <p14:creationId xmlns:p14="http://schemas.microsoft.com/office/powerpoint/2010/main" val="1877550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BC51B4-9236-B2AF-2FAD-9B00F6E70C7E}"/>
              </a:ext>
            </a:extLst>
          </p:cNvPr>
          <p:cNvGrpSpPr/>
          <p:nvPr/>
        </p:nvGrpSpPr>
        <p:grpSpPr>
          <a:xfrm>
            <a:off x="851870" y="248601"/>
            <a:ext cx="5048416" cy="5702759"/>
            <a:chOff x="851870" y="248601"/>
            <a:chExt cx="5048416" cy="5702759"/>
          </a:xfrm>
        </p:grpSpPr>
        <p:pic>
          <p:nvPicPr>
            <p:cNvPr id="5" name="Picture 4">
              <a:extLst>
                <a:ext uri="{FF2B5EF4-FFF2-40B4-BE49-F238E27FC236}">
                  <a16:creationId xmlns:a16="http://schemas.microsoft.com/office/drawing/2014/main" id="{05B4DA37-382C-851D-D941-AAC3B5CB0096}"/>
                </a:ext>
              </a:extLst>
            </p:cNvPr>
            <p:cNvPicPr>
              <a:picLocks noChangeAspect="1"/>
            </p:cNvPicPr>
            <p:nvPr/>
          </p:nvPicPr>
          <p:blipFill>
            <a:blip r:embed="rId2"/>
            <a:srcRect b="15905"/>
            <a:stretch>
              <a:fillRect/>
            </a:stretch>
          </p:blipFill>
          <p:spPr>
            <a:xfrm>
              <a:off x="851870" y="248601"/>
              <a:ext cx="5048416" cy="5343677"/>
            </a:xfrm>
            <a:prstGeom prst="rect">
              <a:avLst/>
            </a:prstGeom>
          </p:spPr>
        </p:pic>
        <p:pic>
          <p:nvPicPr>
            <p:cNvPr id="12" name="Picture 11">
              <a:extLst>
                <a:ext uri="{FF2B5EF4-FFF2-40B4-BE49-F238E27FC236}">
                  <a16:creationId xmlns:a16="http://schemas.microsoft.com/office/drawing/2014/main" id="{3B7EE267-8A7A-D6D6-72A1-CFF7534F4D8A}"/>
                </a:ext>
              </a:extLst>
            </p:cNvPr>
            <p:cNvPicPr>
              <a:picLocks noChangeAspect="1"/>
            </p:cNvPicPr>
            <p:nvPr/>
          </p:nvPicPr>
          <p:blipFill>
            <a:blip r:embed="rId2"/>
            <a:srcRect t="94349"/>
            <a:stretch>
              <a:fillRect/>
            </a:stretch>
          </p:blipFill>
          <p:spPr>
            <a:xfrm>
              <a:off x="851870" y="5592278"/>
              <a:ext cx="5048416" cy="359082"/>
            </a:xfrm>
            <a:prstGeom prst="rect">
              <a:avLst/>
            </a:prstGeom>
          </p:spPr>
        </p:pic>
      </p:grpSp>
      <p:sp>
        <p:nvSpPr>
          <p:cNvPr id="8" name="Rectangle 7">
            <a:extLst>
              <a:ext uri="{FF2B5EF4-FFF2-40B4-BE49-F238E27FC236}">
                <a16:creationId xmlns:a16="http://schemas.microsoft.com/office/drawing/2014/main" id="{047FB450-43D2-302D-17D5-AF299F578D6D}"/>
              </a:ext>
            </a:extLst>
          </p:cNvPr>
          <p:cNvSpPr/>
          <p:nvPr/>
        </p:nvSpPr>
        <p:spPr>
          <a:xfrm>
            <a:off x="3059764" y="1601716"/>
            <a:ext cx="3149600" cy="1543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Search by</a:t>
            </a:r>
          </a:p>
          <a:p>
            <a:r>
              <a:rPr lang="en-US" sz="1000" dirty="0"/>
              <a:t>Customer, Origin, Destination, Order #, Buy shipment, Shipment Status, Tender Status  </a:t>
            </a:r>
          </a:p>
          <a:p>
            <a:endParaRPr lang="en-US" sz="1000" dirty="0"/>
          </a:p>
          <a:p>
            <a:r>
              <a:rPr lang="en-US" sz="1000" dirty="0"/>
              <a:t>Details as in the Shipment Grid</a:t>
            </a:r>
          </a:p>
          <a:p>
            <a:endParaRPr lang="en-US" sz="1000" dirty="0"/>
          </a:p>
          <a:p>
            <a:r>
              <a:rPr lang="en-US" sz="1000" dirty="0"/>
              <a:t>User should not be able to add shipments / Orders already Tender ‘Sent’ or ‘Accepted’</a:t>
            </a:r>
            <a:br>
              <a:rPr lang="en-US" dirty="0"/>
            </a:br>
            <a:endParaRPr lang="en-US" dirty="0"/>
          </a:p>
        </p:txBody>
      </p:sp>
      <p:grpSp>
        <p:nvGrpSpPr>
          <p:cNvPr id="15" name="Group 14">
            <a:extLst>
              <a:ext uri="{FF2B5EF4-FFF2-40B4-BE49-F238E27FC236}">
                <a16:creationId xmlns:a16="http://schemas.microsoft.com/office/drawing/2014/main" id="{6615A0C0-1F07-AED7-13F7-44662EABD746}"/>
              </a:ext>
            </a:extLst>
          </p:cNvPr>
          <p:cNvGrpSpPr/>
          <p:nvPr/>
        </p:nvGrpSpPr>
        <p:grpSpPr>
          <a:xfrm>
            <a:off x="10345821" y="596766"/>
            <a:ext cx="4278429" cy="3744227"/>
            <a:chOff x="8288956" y="1386038"/>
            <a:chExt cx="5543835" cy="4716378"/>
          </a:xfrm>
        </p:grpSpPr>
        <p:pic>
          <p:nvPicPr>
            <p:cNvPr id="10" name="Picture 9">
              <a:extLst>
                <a:ext uri="{FF2B5EF4-FFF2-40B4-BE49-F238E27FC236}">
                  <a16:creationId xmlns:a16="http://schemas.microsoft.com/office/drawing/2014/main" id="{E7FEFA76-5879-4F6A-35D1-EAAF475A1B94}"/>
                </a:ext>
              </a:extLst>
            </p:cNvPr>
            <p:cNvPicPr>
              <a:picLocks noChangeAspect="1"/>
            </p:cNvPicPr>
            <p:nvPr/>
          </p:nvPicPr>
          <p:blipFill>
            <a:blip r:embed="rId3"/>
            <a:stretch>
              <a:fillRect/>
            </a:stretch>
          </p:blipFill>
          <p:spPr>
            <a:xfrm>
              <a:off x="8288956" y="1992169"/>
              <a:ext cx="5543835" cy="4110247"/>
            </a:xfrm>
            <a:prstGeom prst="rect">
              <a:avLst/>
            </a:prstGeom>
          </p:spPr>
        </p:pic>
        <p:sp>
          <p:nvSpPr>
            <p:cNvPr id="14" name="Rectangle 13">
              <a:extLst>
                <a:ext uri="{FF2B5EF4-FFF2-40B4-BE49-F238E27FC236}">
                  <a16:creationId xmlns:a16="http://schemas.microsoft.com/office/drawing/2014/main" id="{4E2300AD-5977-643B-59EF-A0D38645CDAE}"/>
                </a:ext>
              </a:extLst>
            </p:cNvPr>
            <p:cNvSpPr/>
            <p:nvPr/>
          </p:nvSpPr>
          <p:spPr>
            <a:xfrm>
              <a:off x="8417258" y="1386038"/>
              <a:ext cx="2143760" cy="6061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Rules to add another shipment</a:t>
              </a:r>
            </a:p>
          </p:txBody>
        </p:sp>
      </p:grpSp>
      <p:grpSp>
        <p:nvGrpSpPr>
          <p:cNvPr id="20" name="Group 19">
            <a:extLst>
              <a:ext uri="{FF2B5EF4-FFF2-40B4-BE49-F238E27FC236}">
                <a16:creationId xmlns:a16="http://schemas.microsoft.com/office/drawing/2014/main" id="{CA5FD226-84B4-D261-0A67-06E8EDB63615}"/>
              </a:ext>
            </a:extLst>
          </p:cNvPr>
          <p:cNvGrpSpPr/>
          <p:nvPr/>
        </p:nvGrpSpPr>
        <p:grpSpPr>
          <a:xfrm>
            <a:off x="5751965" y="3898202"/>
            <a:ext cx="3026276" cy="2712424"/>
            <a:chOff x="5751965" y="3898202"/>
            <a:chExt cx="3026276" cy="2712424"/>
          </a:xfrm>
        </p:grpSpPr>
        <p:pic>
          <p:nvPicPr>
            <p:cNvPr id="17" name="Picture 16">
              <a:extLst>
                <a:ext uri="{FF2B5EF4-FFF2-40B4-BE49-F238E27FC236}">
                  <a16:creationId xmlns:a16="http://schemas.microsoft.com/office/drawing/2014/main" id="{FFFBE0C0-649D-8963-49BB-2FDB27DEDD35}"/>
                </a:ext>
              </a:extLst>
            </p:cNvPr>
            <p:cNvPicPr>
              <a:picLocks noChangeAspect="1"/>
            </p:cNvPicPr>
            <p:nvPr/>
          </p:nvPicPr>
          <p:blipFill>
            <a:blip r:embed="rId4"/>
            <a:stretch>
              <a:fillRect/>
            </a:stretch>
          </p:blipFill>
          <p:spPr>
            <a:xfrm>
              <a:off x="5751965" y="4497881"/>
              <a:ext cx="3026276" cy="2112745"/>
            </a:xfrm>
            <a:prstGeom prst="rect">
              <a:avLst/>
            </a:prstGeom>
          </p:spPr>
        </p:pic>
        <p:sp>
          <p:nvSpPr>
            <p:cNvPr id="19" name="Rectangle 18">
              <a:extLst>
                <a:ext uri="{FF2B5EF4-FFF2-40B4-BE49-F238E27FC236}">
                  <a16:creationId xmlns:a16="http://schemas.microsoft.com/office/drawing/2014/main" id="{B749AFD1-AB46-49E0-CFCF-1B84010A7063}"/>
                </a:ext>
              </a:extLst>
            </p:cNvPr>
            <p:cNvSpPr/>
            <p:nvPr/>
          </p:nvSpPr>
          <p:spPr>
            <a:xfrm>
              <a:off x="5986736" y="3898202"/>
              <a:ext cx="2791505" cy="481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Should reflect the change under the stops</a:t>
              </a:r>
            </a:p>
          </p:txBody>
        </p:sp>
      </p:grpSp>
    </p:spTree>
    <p:extLst>
      <p:ext uri="{BB962C8B-B14F-4D97-AF65-F5344CB8AC3E}">
        <p14:creationId xmlns:p14="http://schemas.microsoft.com/office/powerpoint/2010/main" val="910400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3B3D1C-A63B-F2D3-DDB3-E9715E586504}"/>
              </a:ext>
            </a:extLst>
          </p:cNvPr>
          <p:cNvPicPr>
            <a:picLocks noChangeAspect="1"/>
          </p:cNvPicPr>
          <p:nvPr/>
        </p:nvPicPr>
        <p:blipFill>
          <a:blip r:embed="rId2"/>
          <a:stretch>
            <a:fillRect/>
          </a:stretch>
        </p:blipFill>
        <p:spPr>
          <a:xfrm>
            <a:off x="355682" y="760395"/>
            <a:ext cx="3946811" cy="5996539"/>
          </a:xfrm>
          <a:prstGeom prst="rect">
            <a:avLst/>
          </a:prstGeom>
        </p:spPr>
      </p:pic>
      <p:sp>
        <p:nvSpPr>
          <p:cNvPr id="8" name="Title 1">
            <a:extLst>
              <a:ext uri="{FF2B5EF4-FFF2-40B4-BE49-F238E27FC236}">
                <a16:creationId xmlns:a16="http://schemas.microsoft.com/office/drawing/2014/main" id="{37B981F8-1CC6-26DF-A13E-FE484D465618}"/>
              </a:ext>
            </a:extLst>
          </p:cNvPr>
          <p:cNvSpPr>
            <a:spLocks noGrp="1"/>
          </p:cNvSpPr>
          <p:nvPr>
            <p:ph type="title"/>
          </p:nvPr>
        </p:nvSpPr>
        <p:spPr>
          <a:xfrm>
            <a:off x="604149" y="291421"/>
            <a:ext cx="2932780" cy="468974"/>
          </a:xfrm>
        </p:spPr>
        <p:txBody>
          <a:bodyPr>
            <a:normAutofit fontScale="90000"/>
          </a:bodyPr>
          <a:lstStyle/>
          <a:p>
            <a:pPr algn="ctr"/>
            <a:r>
              <a:rPr lang="en-US" sz="3600" dirty="0"/>
              <a:t>Review Change</a:t>
            </a:r>
          </a:p>
        </p:txBody>
      </p:sp>
      <p:pic>
        <p:nvPicPr>
          <p:cNvPr id="10" name="Picture 9">
            <a:extLst>
              <a:ext uri="{FF2B5EF4-FFF2-40B4-BE49-F238E27FC236}">
                <a16:creationId xmlns:a16="http://schemas.microsoft.com/office/drawing/2014/main" id="{85CA9BD6-22E8-0188-7254-061513C370D2}"/>
              </a:ext>
            </a:extLst>
          </p:cNvPr>
          <p:cNvPicPr>
            <a:picLocks noChangeAspect="1"/>
          </p:cNvPicPr>
          <p:nvPr/>
        </p:nvPicPr>
        <p:blipFill>
          <a:blip r:embed="rId3"/>
          <a:stretch>
            <a:fillRect/>
          </a:stretch>
        </p:blipFill>
        <p:spPr>
          <a:xfrm>
            <a:off x="4813300" y="2175049"/>
            <a:ext cx="2736939" cy="2289076"/>
          </a:xfrm>
          <a:prstGeom prst="rect">
            <a:avLst/>
          </a:prstGeom>
        </p:spPr>
      </p:pic>
      <p:sp>
        <p:nvSpPr>
          <p:cNvPr id="11" name="TextBox 10">
            <a:extLst>
              <a:ext uri="{FF2B5EF4-FFF2-40B4-BE49-F238E27FC236}">
                <a16:creationId xmlns:a16="http://schemas.microsoft.com/office/drawing/2014/main" id="{AAE73018-5372-AA6A-D84E-10C07AFCA3C4}"/>
              </a:ext>
            </a:extLst>
          </p:cNvPr>
          <p:cNvSpPr txBox="1"/>
          <p:nvPr/>
        </p:nvSpPr>
        <p:spPr>
          <a:xfrm>
            <a:off x="4813300" y="1727200"/>
            <a:ext cx="4203700" cy="523220"/>
          </a:xfrm>
          <a:prstGeom prst="rect">
            <a:avLst/>
          </a:prstGeom>
          <a:noFill/>
        </p:spPr>
        <p:txBody>
          <a:bodyPr wrap="square" rtlCol="0">
            <a:spAutoFit/>
          </a:bodyPr>
          <a:lstStyle/>
          <a:p>
            <a:r>
              <a:rPr lang="en-US" sz="1400" dirty="0"/>
              <a:t>When new order is added-Review change details as below </a:t>
            </a:r>
          </a:p>
        </p:txBody>
      </p:sp>
    </p:spTree>
    <p:extLst>
      <p:ext uri="{BB962C8B-B14F-4D97-AF65-F5344CB8AC3E}">
        <p14:creationId xmlns:p14="http://schemas.microsoft.com/office/powerpoint/2010/main" val="2302371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1DF078-ACF3-C9F3-E5C2-08F0B450A6C0}"/>
              </a:ext>
            </a:extLst>
          </p:cNvPr>
          <p:cNvPicPr>
            <a:picLocks noChangeAspect="1"/>
          </p:cNvPicPr>
          <p:nvPr/>
        </p:nvPicPr>
        <p:blipFill>
          <a:blip r:embed="rId2"/>
          <a:stretch>
            <a:fillRect/>
          </a:stretch>
        </p:blipFill>
        <p:spPr>
          <a:xfrm>
            <a:off x="226897" y="355841"/>
            <a:ext cx="7367435" cy="5015056"/>
          </a:xfrm>
          <a:prstGeom prst="rect">
            <a:avLst/>
          </a:prstGeom>
        </p:spPr>
      </p:pic>
      <p:pic>
        <p:nvPicPr>
          <p:cNvPr id="7" name="Picture 6">
            <a:extLst>
              <a:ext uri="{FF2B5EF4-FFF2-40B4-BE49-F238E27FC236}">
                <a16:creationId xmlns:a16="http://schemas.microsoft.com/office/drawing/2014/main" id="{F5BD90B2-1408-68FB-2DAE-43B206331B2D}"/>
              </a:ext>
            </a:extLst>
          </p:cNvPr>
          <p:cNvPicPr>
            <a:picLocks noChangeAspect="1"/>
          </p:cNvPicPr>
          <p:nvPr/>
        </p:nvPicPr>
        <p:blipFill>
          <a:blip r:embed="rId3"/>
          <a:stretch>
            <a:fillRect/>
          </a:stretch>
        </p:blipFill>
        <p:spPr>
          <a:xfrm>
            <a:off x="7700211" y="603105"/>
            <a:ext cx="7617691" cy="4912171"/>
          </a:xfrm>
          <a:prstGeom prst="rect">
            <a:avLst/>
          </a:prstGeom>
        </p:spPr>
      </p:pic>
    </p:spTree>
    <p:extLst>
      <p:ext uri="{BB962C8B-B14F-4D97-AF65-F5344CB8AC3E}">
        <p14:creationId xmlns:p14="http://schemas.microsoft.com/office/powerpoint/2010/main" val="5946456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57330</TotalTime>
  <Words>989</Words>
  <Application>Microsoft Office PowerPoint</Application>
  <PresentationFormat>Custom</PresentationFormat>
  <Paragraphs>299</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Aptos Narrow</vt:lpstr>
      <vt:lpstr>Arial</vt:lpstr>
      <vt:lpstr>Office Theme</vt:lpstr>
      <vt:lpstr>Buy Shipment View</vt:lpstr>
      <vt:lpstr>PowerPoint Presentation</vt:lpstr>
      <vt:lpstr>PowerPoint Presentation</vt:lpstr>
      <vt:lpstr>PowerPoint Presentation</vt:lpstr>
      <vt:lpstr>PowerPoint Presentation</vt:lpstr>
      <vt:lpstr>Consolidation - Multi Stop Order Change</vt:lpstr>
      <vt:lpstr>PowerPoint Presentation</vt:lpstr>
      <vt:lpstr>PowerPoint Presentation</vt:lpstr>
      <vt:lpstr>EDIT Stop</vt:lpstr>
      <vt:lpstr>PowerPoint Presentation</vt:lpstr>
      <vt:lpstr>PowerPoint Presentation</vt:lpstr>
      <vt:lpstr>Review Change</vt:lpstr>
      <vt:lpstr>PowerPoint Presentation</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Soundararajan, Janardhana (Cognizant)</dc:creator>
  <cp:lastModifiedBy>Soundararajan, Janardhana (Cognizant)</cp:lastModifiedBy>
  <cp:revision>2</cp:revision>
  <dcterms:created xsi:type="dcterms:W3CDTF">2026-01-15T17:37:17Z</dcterms:created>
  <dcterms:modified xsi:type="dcterms:W3CDTF">2026-08-12T20:48:45Z</dcterms:modified>
</cp:coreProperties>
</file>
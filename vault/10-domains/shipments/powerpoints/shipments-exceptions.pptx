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1" r:id="rId2"/>
    <p:sldId id="272" r:id="rId3"/>
    <p:sldId id="259" r:id="rId4"/>
    <p:sldId id="258" r:id="rId5"/>
    <p:sldId id="260" r:id="rId6"/>
    <p:sldId id="267" r:id="rId7"/>
    <p:sldId id="268" r:id="rId8"/>
    <p:sldId id="273" r:id="rId9"/>
    <p:sldId id="274" r:id="rId10"/>
    <p:sldId id="275" r:id="rId11"/>
    <p:sldId id="276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BE17FF-0356-4C76-9D53-9BAA50A1D355}" v="101" dt="2026-02-19T02:10:17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 autoAdjust="0"/>
    <p:restoredTop sz="93245" autoAdjust="0"/>
  </p:normalViewPr>
  <p:slideViewPr>
    <p:cSldViewPr snapToGrid="0">
      <p:cViewPr varScale="1">
        <p:scale>
          <a:sx n="103" d="100"/>
          <a:sy n="103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C2F2E-23A3-4D43-B639-82F7726028A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349F9-84C8-4250-86B8-5C1801EB4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2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A252-F5A9-D3AD-7C3F-6F502756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8029E-0A58-00D2-A9C4-7302F3891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4DE61-D487-CA0D-2344-CE5EB4ABF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Bottom tab sequence</a:t>
            </a:r>
          </a:p>
          <a:p>
            <a:r>
              <a:rPr lang="en-US" dirty="0"/>
              <a:t>Stops and Appointment, Order, Product, Routing Options, Tender History, Cost Allocation, Instructions, History, Documents, Notes (Internal)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B6EB9-5495-3327-B3BE-77484DDA7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8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Consol: *G20TECH_SYS_01 (USALCO)</a:t>
            </a:r>
          </a:p>
          <a:p>
            <a:r>
              <a:rPr lang="en-US" dirty="0"/>
              <a:t>Consol: C774092</a:t>
            </a:r>
          </a:p>
          <a:p>
            <a:r>
              <a:rPr lang="en-US" dirty="0"/>
              <a:t>Order: LOAD200801, LOAD200802, LOAD200803, LOAD200804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55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DFC8-95AA-0E82-52D4-305F4C37F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18825-05AC-F715-297F-158D2BAEE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9E09B-1295-8DB6-F54B-3820ABBE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7E51A-6577-46FD-1B81-9990A741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A7DCC-9796-EE56-B4F1-84F79FCC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9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1CB7-AA53-67ED-4AFE-4C79E4D3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EDC8-0560-1080-C35B-EC09B233D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128CE-CF56-0FE8-D615-844262E8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6ECF-B217-103D-CD40-FA068924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E93B-F3F8-70A3-59C2-F65C422C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2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142F-EE2B-DB56-A655-3DAA06CD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B4892-438F-AE79-BE95-6CCADF7AF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BE8F-7CD1-59BF-F011-FC4A6187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D340A-EB54-38D1-C0F5-24F49483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BA30E-51DF-283D-0A93-76FD3F3C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9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B1CD-7939-D9A7-D4FE-6D3EF944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C0CD3-C796-9421-0301-168385C3C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1047E-70A0-8720-B2CE-8489DA7AF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4E9FE-B0E2-6229-3350-571C6A65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52090-FEDF-6990-6A8D-A41B09DA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F7252-7E04-0184-4BBC-FDEB17FB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7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B0D9-F68C-4054-FF39-01C600CB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9C896-77DD-108A-E802-619C9A2F5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BCBE8-B2D8-9F96-7AB1-8690DCBD8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9B093-95C4-3D21-83B3-587C33F9F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4A8E5-BACB-D446-91FF-A16A7541B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4B6B3-B005-1096-F3B7-8BEA76A4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BD72A-43E4-5317-4A0C-A0B4E2CE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57906-7902-48A7-5198-4858AFC9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4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4B55-727B-B04E-9C0E-025D8325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B395A-22D3-82FC-3564-BE2EBA8D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58C8-E10D-A0B7-9365-1D3C4A66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2B58B-5CAD-8F01-6944-1417623D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80F1B-85CA-A096-5EF4-38A841C70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64182-569C-45B4-74C5-AF705164A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4138F-EA79-276A-3C31-E1706A1A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4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C92D-F234-1E16-91C3-583B777B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5AF6E-C2CC-8F9F-7F85-8AD53C0D7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C2B28-518C-502C-0B1D-D863A535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34122-E743-BEF1-7AFA-8C3EDA45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0C872-BD85-AF10-E4D2-82E908C7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8DF2A-7109-D5C2-E742-42F4D036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F838-98C6-2365-8BAE-D007C37D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4F362B-DF60-82D4-D378-5A8472CBB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7B7B2-9E02-BD32-9411-07A40BB0F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71069-6B2F-99BE-94E0-4DFDD3F2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452B7-EDBE-A66C-04F9-11678202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3CBAA-05BA-2F03-6A75-FAA3240D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2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4AB8-CEFD-427C-018F-075B4C48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FCB51-E89C-0F66-4B41-32655CCDC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835DF-FF40-823F-B810-C73AE0E8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F8346-F27B-2885-600F-D0285377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732E5-A4BD-A458-20B1-49ECB00A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432F90-BAF1-9CE2-FADA-83CA6AB70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D1C69-120C-4697-A95F-6C03DAB72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46EE-C6CC-CFE2-17E0-DED4B19A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CB87-3565-A836-60EA-66A535C4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635BE-5B85-61BC-4573-52325B2A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2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41ED35-8F10-9A63-CD8E-649715A9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71AC4-B58D-56C3-CE9B-062DEB58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8B031-6E03-CBDA-E02E-9E10AB599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6418D-E661-485F-B6E3-48E118577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8F4E1-69ED-7311-37D1-DF70399EA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2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9DE6-D8C5-E9BA-DBCF-3C6758224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Shipment</a:t>
            </a:r>
          </a:p>
        </p:txBody>
      </p:sp>
    </p:spTree>
    <p:extLst>
      <p:ext uri="{BB962C8B-B14F-4D97-AF65-F5344CB8AC3E}">
        <p14:creationId xmlns:p14="http://schemas.microsoft.com/office/powerpoint/2010/main" val="1653896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77C4-F07F-D64D-AF32-CE45524D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101BDC-269F-AC4C-1EC3-9FAE77ED6ACE}"/>
              </a:ext>
            </a:extLst>
          </p:cNvPr>
          <p:cNvSpPr txBox="1"/>
          <p:nvPr/>
        </p:nvSpPr>
        <p:spPr>
          <a:xfrm>
            <a:off x="-38807" y="-46213"/>
            <a:ext cx="166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Shipment Planning 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63365-01B5-9290-EBCD-16F2DCB25C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764"/>
          <a:stretch>
            <a:fillRect/>
          </a:stretch>
        </p:blipFill>
        <p:spPr>
          <a:xfrm>
            <a:off x="10196144" y="2290072"/>
            <a:ext cx="1070636" cy="257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070B836-589C-9AF7-B5E6-5CBEA0D49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58" y="2587760"/>
            <a:ext cx="1070636" cy="2346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9749722-4B1A-40BD-D16E-B349CFEA1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79" y="2319983"/>
            <a:ext cx="1244664" cy="2540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1C9708D-3ED2-8C72-7246-CBF3EE8CD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777" y="2280402"/>
            <a:ext cx="1143059" cy="311166"/>
          </a:xfrm>
          <a:prstGeom prst="rect">
            <a:avLst/>
          </a:prstGeom>
        </p:spPr>
      </p:pic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145A6A6-50CE-40BF-D8E1-5AACA0623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920830"/>
              </p:ext>
            </p:extLst>
          </p:nvPr>
        </p:nvGraphicFramePr>
        <p:xfrm>
          <a:off x="387421" y="2819828"/>
          <a:ext cx="11397615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874">
                  <a:extLst>
                    <a:ext uri="{9D8B030D-6E8A-4147-A177-3AD203B41FA5}">
                      <a16:colId xmlns:a16="http://schemas.microsoft.com/office/drawing/2014/main" val="2299961496"/>
                    </a:ext>
                  </a:extLst>
                </a:gridCol>
                <a:gridCol w="1031612">
                  <a:extLst>
                    <a:ext uri="{9D8B030D-6E8A-4147-A177-3AD203B41FA5}">
                      <a16:colId xmlns:a16="http://schemas.microsoft.com/office/drawing/2014/main" val="63472440"/>
                    </a:ext>
                  </a:extLst>
                </a:gridCol>
                <a:gridCol w="966087">
                  <a:extLst>
                    <a:ext uri="{9D8B030D-6E8A-4147-A177-3AD203B41FA5}">
                      <a16:colId xmlns:a16="http://schemas.microsoft.com/office/drawing/2014/main" val="137753275"/>
                    </a:ext>
                  </a:extLst>
                </a:gridCol>
                <a:gridCol w="556566">
                  <a:extLst>
                    <a:ext uri="{9D8B030D-6E8A-4147-A177-3AD203B41FA5}">
                      <a16:colId xmlns:a16="http://schemas.microsoft.com/office/drawing/2014/main" val="1150411051"/>
                    </a:ext>
                  </a:extLst>
                </a:gridCol>
                <a:gridCol w="921527">
                  <a:extLst>
                    <a:ext uri="{9D8B030D-6E8A-4147-A177-3AD203B41FA5}">
                      <a16:colId xmlns:a16="http://schemas.microsoft.com/office/drawing/2014/main" val="3252033987"/>
                    </a:ext>
                  </a:extLst>
                </a:gridCol>
                <a:gridCol w="903279">
                  <a:extLst>
                    <a:ext uri="{9D8B030D-6E8A-4147-A177-3AD203B41FA5}">
                      <a16:colId xmlns:a16="http://schemas.microsoft.com/office/drawing/2014/main" val="4235384241"/>
                    </a:ext>
                  </a:extLst>
                </a:gridCol>
                <a:gridCol w="1003644">
                  <a:extLst>
                    <a:ext uri="{9D8B030D-6E8A-4147-A177-3AD203B41FA5}">
                      <a16:colId xmlns:a16="http://schemas.microsoft.com/office/drawing/2014/main" val="1006403190"/>
                    </a:ext>
                  </a:extLst>
                </a:gridCol>
                <a:gridCol w="1158752">
                  <a:extLst>
                    <a:ext uri="{9D8B030D-6E8A-4147-A177-3AD203B41FA5}">
                      <a16:colId xmlns:a16="http://schemas.microsoft.com/office/drawing/2014/main" val="923378335"/>
                    </a:ext>
                  </a:extLst>
                </a:gridCol>
                <a:gridCol w="821162">
                  <a:extLst>
                    <a:ext uri="{9D8B030D-6E8A-4147-A177-3AD203B41FA5}">
                      <a16:colId xmlns:a16="http://schemas.microsoft.com/office/drawing/2014/main" val="3417147507"/>
                    </a:ext>
                  </a:extLst>
                </a:gridCol>
                <a:gridCol w="583939">
                  <a:extLst>
                    <a:ext uri="{9D8B030D-6E8A-4147-A177-3AD203B41FA5}">
                      <a16:colId xmlns:a16="http://schemas.microsoft.com/office/drawing/2014/main" val="1350056266"/>
                    </a:ext>
                  </a:extLst>
                </a:gridCol>
                <a:gridCol w="839410">
                  <a:extLst>
                    <a:ext uri="{9D8B030D-6E8A-4147-A177-3AD203B41FA5}">
                      <a16:colId xmlns:a16="http://schemas.microsoft.com/office/drawing/2014/main" val="1042750234"/>
                    </a:ext>
                  </a:extLst>
                </a:gridCol>
                <a:gridCol w="833820">
                  <a:extLst>
                    <a:ext uri="{9D8B030D-6E8A-4147-A177-3AD203B41FA5}">
                      <a16:colId xmlns:a16="http://schemas.microsoft.com/office/drawing/2014/main" val="59263022"/>
                    </a:ext>
                  </a:extLst>
                </a:gridCol>
                <a:gridCol w="825943">
                  <a:extLst>
                    <a:ext uri="{9D8B030D-6E8A-4147-A177-3AD203B41FA5}">
                      <a16:colId xmlns:a16="http://schemas.microsoft.com/office/drawing/2014/main" val="693219657"/>
                    </a:ext>
                  </a:extLst>
                </a:gridCol>
              </a:tblGrid>
              <a:tr h="25501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Buy Shipment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Customer ID(s)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Order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Order Count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Pickup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Gross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SCAC / Tender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 Freight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89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B28826319</a:t>
                      </a:r>
                      <a:endParaRPr lang="en-US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ERCO_SYS_01 , USALCO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S2600074M , JAN7ERCO7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01/12/2026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01/29/2026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Houston, TX, US, 77001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Galena Park, TX, US, 77547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6000 LB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53FTDryVan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SEFL – 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1080 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94972"/>
                  </a:ext>
                </a:extLst>
              </a:tr>
              <a:tr h="3092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B28826319</a:t>
                      </a:r>
                      <a:endParaRPr lang="en-US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ERCO_SYS_01 , USALCO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S2600074M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01/12/2026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01/29/2026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Houston, TX, US, 77001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Galena Park, TX, US, 77547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6000 LB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53FTDryVan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SEFL - 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2000 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8212"/>
                  </a:ext>
                </a:extLst>
              </a:tr>
            </a:tbl>
          </a:graphicData>
        </a:graphic>
      </p:graphicFrame>
      <p:sp>
        <p:nvSpPr>
          <p:cNvPr id="38" name="Oval 37">
            <a:extLst>
              <a:ext uri="{FF2B5EF4-FFF2-40B4-BE49-F238E27FC236}">
                <a16:creationId xmlns:a16="http://schemas.microsoft.com/office/drawing/2014/main" id="{72A39AFE-9950-62E2-5F41-AAE19F46967A}"/>
              </a:ext>
            </a:extLst>
          </p:cNvPr>
          <p:cNvSpPr/>
          <p:nvPr/>
        </p:nvSpPr>
        <p:spPr>
          <a:xfrm>
            <a:off x="276444" y="2246510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480948-E311-8297-FACB-C36F73F4DB6A}"/>
              </a:ext>
            </a:extLst>
          </p:cNvPr>
          <p:cNvSpPr/>
          <p:nvPr/>
        </p:nvSpPr>
        <p:spPr>
          <a:xfrm>
            <a:off x="3084300" y="2236683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0ED80A-91E9-3091-473F-BA6FEC1BAFF5}"/>
              </a:ext>
            </a:extLst>
          </p:cNvPr>
          <p:cNvSpPr/>
          <p:nvPr/>
        </p:nvSpPr>
        <p:spPr>
          <a:xfrm>
            <a:off x="8818067" y="2277882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803949-9B45-2C02-CFE4-94E744739FDD}"/>
              </a:ext>
            </a:extLst>
          </p:cNvPr>
          <p:cNvSpPr/>
          <p:nvPr/>
        </p:nvSpPr>
        <p:spPr>
          <a:xfrm>
            <a:off x="11266780" y="2246510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E44FDD8-890F-AB1C-E05E-8E598418D143}"/>
              </a:ext>
            </a:extLst>
          </p:cNvPr>
          <p:cNvSpPr/>
          <p:nvPr/>
        </p:nvSpPr>
        <p:spPr>
          <a:xfrm>
            <a:off x="0" y="2822419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C60E711-7970-07F9-166A-90ADF7BB7B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" y="3396339"/>
            <a:ext cx="461664" cy="36933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713CA3A-77D4-73D6-4D3A-3820F7688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2" y="3847073"/>
            <a:ext cx="461664" cy="369332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6F6CA3D-F342-047B-E3B1-47496A026E32}"/>
              </a:ext>
            </a:extLst>
          </p:cNvPr>
          <p:cNvCxnSpPr>
            <a:cxnSpLocks/>
          </p:cNvCxnSpPr>
          <p:nvPr/>
        </p:nvCxnSpPr>
        <p:spPr>
          <a:xfrm>
            <a:off x="421310" y="4521561"/>
            <a:ext cx="11363725" cy="123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CE0CB9F-652D-67B8-C968-00B73980ADF2}"/>
              </a:ext>
            </a:extLst>
          </p:cNvPr>
          <p:cNvSpPr/>
          <p:nvPr/>
        </p:nvSpPr>
        <p:spPr>
          <a:xfrm>
            <a:off x="1757562" y="4636837"/>
            <a:ext cx="1037228" cy="245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Order   V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ADA444-B7B8-EDD0-DFE4-631414285E98}"/>
              </a:ext>
            </a:extLst>
          </p:cNvPr>
          <p:cNvSpPr/>
          <p:nvPr/>
        </p:nvSpPr>
        <p:spPr>
          <a:xfrm>
            <a:off x="2840920" y="4647265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Product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0A8E8D-86AC-9A63-717B-CCE17FC7ED77}"/>
              </a:ext>
            </a:extLst>
          </p:cNvPr>
          <p:cNvSpPr/>
          <p:nvPr/>
        </p:nvSpPr>
        <p:spPr>
          <a:xfrm>
            <a:off x="9401973" y="4647265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Documents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3138B8D-2F67-396A-3587-5AF1745FD42C}"/>
              </a:ext>
            </a:extLst>
          </p:cNvPr>
          <p:cNvSpPr/>
          <p:nvPr/>
        </p:nvSpPr>
        <p:spPr>
          <a:xfrm>
            <a:off x="669575" y="4644591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Stops and Appointment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B1C0EC-2D65-C9B9-FCD7-43D6473126FA}"/>
              </a:ext>
            </a:extLst>
          </p:cNvPr>
          <p:cNvSpPr/>
          <p:nvPr/>
        </p:nvSpPr>
        <p:spPr>
          <a:xfrm>
            <a:off x="7211333" y="4653100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Instructions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5F9C4CC-2107-C911-5337-EEB198D1832D}"/>
              </a:ext>
            </a:extLst>
          </p:cNvPr>
          <p:cNvSpPr/>
          <p:nvPr/>
        </p:nvSpPr>
        <p:spPr>
          <a:xfrm>
            <a:off x="6133267" y="4644591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Cost Allocation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9DC70E8-75CF-D409-1A76-114C4697CE38}"/>
              </a:ext>
            </a:extLst>
          </p:cNvPr>
          <p:cNvSpPr/>
          <p:nvPr/>
        </p:nvSpPr>
        <p:spPr>
          <a:xfrm>
            <a:off x="5042974" y="4634987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Tender History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7DA7BF9-ACC5-A950-7DDD-9D05EFAF9855}"/>
              </a:ext>
            </a:extLst>
          </p:cNvPr>
          <p:cNvSpPr/>
          <p:nvPr/>
        </p:nvSpPr>
        <p:spPr>
          <a:xfrm>
            <a:off x="8299453" y="4653100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History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31C1CD-5468-D78D-E43E-1EF0330EB728}"/>
              </a:ext>
            </a:extLst>
          </p:cNvPr>
          <p:cNvSpPr/>
          <p:nvPr/>
        </p:nvSpPr>
        <p:spPr>
          <a:xfrm>
            <a:off x="10494435" y="4644591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Notes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4E6EEFB-C529-8D49-06E5-D52ED5D86D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421" y="4632426"/>
            <a:ext cx="249308" cy="27829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150A7ED-6910-949D-FF36-8079668ACC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96955" y="4632426"/>
            <a:ext cx="228612" cy="25401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82859E1-2755-AE09-E8E9-3B8D444DAD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25567" y="4611166"/>
            <a:ext cx="247663" cy="273064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3D197E4E-9780-FC2B-BD5B-EDDEB917A23C}"/>
              </a:ext>
            </a:extLst>
          </p:cNvPr>
          <p:cNvSpPr/>
          <p:nvPr/>
        </p:nvSpPr>
        <p:spPr>
          <a:xfrm>
            <a:off x="11949398" y="4295123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0A997E70-A1DA-6A5B-A243-079E6BA80F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500" y="5102574"/>
            <a:ext cx="11413067" cy="17554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091A1F8-0AC0-281E-AA11-CD813BD8C3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5488" y="2328029"/>
            <a:ext cx="1054154" cy="215911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3F9C3883-7685-6606-17CA-D2A9284E0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14855"/>
              </p:ext>
            </p:extLst>
          </p:nvPr>
        </p:nvGraphicFramePr>
        <p:xfrm>
          <a:off x="2376955" y="4940197"/>
          <a:ext cx="821799" cy="33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799">
                  <a:extLst>
                    <a:ext uri="{9D8B030D-6E8A-4147-A177-3AD203B41FA5}">
                      <a16:colId xmlns:a16="http://schemas.microsoft.com/office/drawing/2014/main" val="2597803943"/>
                    </a:ext>
                  </a:extLst>
                </a:gridCol>
              </a:tblGrid>
              <a:tr h="152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S2600074M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3936798"/>
                  </a:ext>
                </a:extLst>
              </a:tr>
              <a:tr h="152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 JAN7ERCO7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455561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9C77499-E7DB-D7F6-D344-7477DAFA5A32}"/>
              </a:ext>
            </a:extLst>
          </p:cNvPr>
          <p:cNvSpPr/>
          <p:nvPr/>
        </p:nvSpPr>
        <p:spPr>
          <a:xfrm>
            <a:off x="3940454" y="4653100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Routing Options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DF836E-827A-3D51-9165-3638FE89587B}"/>
              </a:ext>
            </a:extLst>
          </p:cNvPr>
          <p:cNvSpPr/>
          <p:nvPr/>
        </p:nvSpPr>
        <p:spPr>
          <a:xfrm>
            <a:off x="3707672" y="2335404"/>
            <a:ext cx="931640" cy="262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Actions   v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6CCFE60-708C-A33C-C505-0D2F87918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335239"/>
              </p:ext>
            </p:extLst>
          </p:nvPr>
        </p:nvGraphicFramePr>
        <p:xfrm>
          <a:off x="4692367" y="2319983"/>
          <a:ext cx="1041400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56831416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Buy Shipment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26209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Edit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57553344"/>
                  </a:ext>
                </a:extLst>
              </a:tr>
            </a:tbl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73E4D1DB-BA42-8B95-ACCE-45095DDF9A1B}"/>
              </a:ext>
            </a:extLst>
          </p:cNvPr>
          <p:cNvSpPr/>
          <p:nvPr/>
        </p:nvSpPr>
        <p:spPr>
          <a:xfrm>
            <a:off x="1856614" y="399787"/>
            <a:ext cx="2052356" cy="13196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r>
              <a:rPr lang="en-US" sz="1050" b="1" dirty="0"/>
              <a:t>Date Issues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Routing Review                           7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Tender Issues                              7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Tender Review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Bid Review                                    2</a:t>
            </a:r>
          </a:p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endParaRPr lang="en-US" sz="105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5D82BF-5221-DEC0-777E-2AF0247395E1}"/>
              </a:ext>
            </a:extLst>
          </p:cNvPr>
          <p:cNvSpPr/>
          <p:nvPr/>
        </p:nvSpPr>
        <p:spPr>
          <a:xfrm>
            <a:off x="1872503" y="56249"/>
            <a:ext cx="2027114" cy="275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Shipment Exceptions</a:t>
            </a:r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C909C2FC-5FEC-8154-84E4-1FEF290DD4D3}"/>
              </a:ext>
            </a:extLst>
          </p:cNvPr>
          <p:cNvSpPr/>
          <p:nvPr/>
        </p:nvSpPr>
        <p:spPr>
          <a:xfrm>
            <a:off x="421310" y="1844370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All (Exceptions)  </a:t>
            </a:r>
          </a:p>
        </p:txBody>
      </p:sp>
      <p:sp>
        <p:nvSpPr>
          <p:cNvPr id="70" name="Rectangle: Top Corners Rounded 69">
            <a:extLst>
              <a:ext uri="{FF2B5EF4-FFF2-40B4-BE49-F238E27FC236}">
                <a16:creationId xmlns:a16="http://schemas.microsoft.com/office/drawing/2014/main" id="{2BE4595D-367F-8DCE-256B-2D56E4952EA7}"/>
              </a:ext>
            </a:extLst>
          </p:cNvPr>
          <p:cNvSpPr/>
          <p:nvPr/>
        </p:nvSpPr>
        <p:spPr>
          <a:xfrm>
            <a:off x="1587676" y="1852271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Date Issues</a:t>
            </a:r>
          </a:p>
        </p:txBody>
      </p:sp>
      <p:sp>
        <p:nvSpPr>
          <p:cNvPr id="80" name="Rectangle: Top Corners Rounded 79">
            <a:extLst>
              <a:ext uri="{FF2B5EF4-FFF2-40B4-BE49-F238E27FC236}">
                <a16:creationId xmlns:a16="http://schemas.microsoft.com/office/drawing/2014/main" id="{3307ED43-413A-FA22-417A-4DB9B9CAE5E0}"/>
              </a:ext>
            </a:extLst>
          </p:cNvPr>
          <p:cNvSpPr/>
          <p:nvPr/>
        </p:nvSpPr>
        <p:spPr>
          <a:xfrm>
            <a:off x="4091523" y="1869876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Tender Issues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0F095FC1-4BA1-5967-80DF-A4D43DF63336}"/>
              </a:ext>
            </a:extLst>
          </p:cNvPr>
          <p:cNvSpPr/>
          <p:nvPr/>
        </p:nvSpPr>
        <p:spPr>
          <a:xfrm>
            <a:off x="2838334" y="1852271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Routing Review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90C120B3-E64E-5835-77F6-61303672E14E}"/>
              </a:ext>
            </a:extLst>
          </p:cNvPr>
          <p:cNvSpPr/>
          <p:nvPr/>
        </p:nvSpPr>
        <p:spPr>
          <a:xfrm>
            <a:off x="5342181" y="1863447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Tender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8ED73-DD5C-87A0-39B0-BCBBB18C2591}"/>
              </a:ext>
            </a:extLst>
          </p:cNvPr>
          <p:cNvSpPr/>
          <p:nvPr/>
        </p:nvSpPr>
        <p:spPr>
          <a:xfrm>
            <a:off x="4444598" y="331793"/>
            <a:ext cx="2247900" cy="9609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b="1" dirty="0"/>
              <a:t>Tendering</a:t>
            </a:r>
          </a:p>
          <a:p>
            <a:pPr>
              <a:lnSpc>
                <a:spcPct val="150000"/>
              </a:lnSpc>
            </a:pPr>
            <a:r>
              <a:rPr lang="en-US" sz="900" b="1" dirty="0"/>
              <a:t>Accepted</a:t>
            </a:r>
          </a:p>
          <a:p>
            <a:pPr>
              <a:lnSpc>
                <a:spcPct val="150000"/>
              </a:lnSpc>
            </a:pPr>
            <a:r>
              <a:rPr lang="en-US" sz="900" b="1" dirty="0" err="1"/>
              <a:t>SpotBid</a:t>
            </a:r>
            <a:endParaRPr lang="en-US" sz="9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84EB6C-F303-DB8B-6A8C-119EA558F096}"/>
              </a:ext>
            </a:extLst>
          </p:cNvPr>
          <p:cNvSpPr/>
          <p:nvPr/>
        </p:nvSpPr>
        <p:spPr>
          <a:xfrm>
            <a:off x="44445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9A4D3-3908-1FA2-9809-EE930B337814}"/>
              </a:ext>
            </a:extLst>
          </p:cNvPr>
          <p:cNvSpPr/>
          <p:nvPr/>
        </p:nvSpPr>
        <p:spPr>
          <a:xfrm>
            <a:off x="6921098" y="331794"/>
            <a:ext cx="2247900" cy="8001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dirty="0"/>
              <a:t>Review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Optimization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Hold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093B4-37D9-9CBE-6D0B-8E3FAE96E819}"/>
              </a:ext>
            </a:extLst>
          </p:cNvPr>
          <p:cNvSpPr/>
          <p:nvPr/>
        </p:nvSpPr>
        <p:spPr>
          <a:xfrm>
            <a:off x="69210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PGI/PGR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EC5295B1-0EF9-B5AE-BD23-CCBD0528E317}"/>
              </a:ext>
            </a:extLst>
          </p:cNvPr>
          <p:cNvSpPr/>
          <p:nvPr/>
        </p:nvSpPr>
        <p:spPr>
          <a:xfrm>
            <a:off x="6595231" y="1844369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Bid Review</a:t>
            </a:r>
          </a:p>
        </p:txBody>
      </p:sp>
    </p:spTree>
    <p:extLst>
      <p:ext uri="{BB962C8B-B14F-4D97-AF65-F5344CB8AC3E}">
        <p14:creationId xmlns:p14="http://schemas.microsoft.com/office/powerpoint/2010/main" val="11327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64B77D-476E-325D-90F6-7F852751D413}"/>
              </a:ext>
            </a:extLst>
          </p:cNvPr>
          <p:cNvSpPr txBox="1"/>
          <p:nvPr/>
        </p:nvSpPr>
        <p:spPr>
          <a:xfrm>
            <a:off x="380999" y="0"/>
            <a:ext cx="247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Attributes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4C392B-33E2-1845-028C-E7A4FC751B48}"/>
              </a:ext>
            </a:extLst>
          </p:cNvPr>
          <p:cNvGraphicFramePr>
            <a:graphicFrameLocks noGrp="1"/>
          </p:cNvGraphicFramePr>
          <p:nvPr/>
        </p:nvGraphicFramePr>
        <p:xfrm>
          <a:off x="472440" y="369332"/>
          <a:ext cx="5718544" cy="548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6253">
                  <a:extLst>
                    <a:ext uri="{9D8B030D-6E8A-4147-A177-3AD203B41FA5}">
                      <a16:colId xmlns:a16="http://schemas.microsoft.com/office/drawing/2014/main" val="1988481888"/>
                    </a:ext>
                  </a:extLst>
                </a:gridCol>
                <a:gridCol w="1871474">
                  <a:extLst>
                    <a:ext uri="{9D8B030D-6E8A-4147-A177-3AD203B41FA5}">
                      <a16:colId xmlns:a16="http://schemas.microsoft.com/office/drawing/2014/main" val="784292309"/>
                    </a:ext>
                  </a:extLst>
                </a:gridCol>
                <a:gridCol w="2370817">
                  <a:extLst>
                    <a:ext uri="{9D8B030D-6E8A-4147-A177-3AD203B41FA5}">
                      <a16:colId xmlns:a16="http://schemas.microsoft.com/office/drawing/2014/main" val="3748980396"/>
                    </a:ext>
                  </a:extLst>
                </a:gridCol>
              </a:tblGrid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Attributes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Example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90254637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Buy Shipment #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28826319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9141415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Sell Shipment #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25678981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7473266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Customer ID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*G20TECH_SYS_01, 2nd customer ID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Cross customer, Customer ID separate by Coma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83066211"/>
                  </a:ext>
                </a:extLst>
              </a:tr>
              <a:tr h="165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Order #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JAN6ERCO6, JAN7ERCO7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Transportation Order #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9477374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Pickup Date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01/12/2026 09:00 CST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Planned Pickup Date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177042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Delivery Date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01/29/2026 09:00 CST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Planned Delivery Date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1310754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Origin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Bastrop, LA, US, 71202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First pickup (City, State, Country code, Zip)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46105827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Destination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GEISMAR, TX, US,  79762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Last drop off (City, State, Country code, Zip)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3389589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Gross Weight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6000 LB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4978990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LTL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664971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Equipment Code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9138338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Pickup #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41197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43389494"/>
                  </a:ext>
                </a:extLst>
              </a:tr>
              <a:tr h="165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SCAC - Tender Status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CTNS - 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SCAC and Tender status are together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6419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AP Freight cost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1080 USD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Total AP freight cost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0390403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Hazadous (Y/N)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Hazrdous indicator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5364943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Pro#/Booking #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345678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00775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Customer Name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*USALCO_SYS_01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4910078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Consignor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G2O TECHNOLOGIES LLC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Name of the Consignor (First Pickup)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26562385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Consignee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MC ATHLON GEISMAR PL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Name of the Consignee (Last Drop Off)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34957450"/>
                  </a:ext>
                </a:extLst>
              </a:tr>
              <a:tr h="165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Pkg Count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 PLT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Total package count with units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307331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Equipment #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8043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522713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Net Weight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3500 LB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2929379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Tare Weight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2500 LB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738249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F6D254-0364-A8B5-CE3F-C1D8D7084108}"/>
              </a:ext>
            </a:extLst>
          </p:cNvPr>
          <p:cNvGraphicFramePr>
            <a:graphicFrameLocks noGrp="1"/>
          </p:cNvGraphicFramePr>
          <p:nvPr/>
        </p:nvGraphicFramePr>
        <p:xfrm>
          <a:off x="6367130" y="184666"/>
          <a:ext cx="5443871" cy="6282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3957">
                  <a:extLst>
                    <a:ext uri="{9D8B030D-6E8A-4147-A177-3AD203B41FA5}">
                      <a16:colId xmlns:a16="http://schemas.microsoft.com/office/drawing/2014/main" val="818761574"/>
                    </a:ext>
                  </a:extLst>
                </a:gridCol>
                <a:gridCol w="1703179">
                  <a:extLst>
                    <a:ext uri="{9D8B030D-6E8A-4147-A177-3AD203B41FA5}">
                      <a16:colId xmlns:a16="http://schemas.microsoft.com/office/drawing/2014/main" val="814039123"/>
                    </a:ext>
                  </a:extLst>
                </a:gridCol>
                <a:gridCol w="2226735">
                  <a:extLst>
                    <a:ext uri="{9D8B030D-6E8A-4147-A177-3AD203B41FA5}">
                      <a16:colId xmlns:a16="http://schemas.microsoft.com/office/drawing/2014/main" val="1762865750"/>
                    </a:ext>
                  </a:extLst>
                </a:gridCol>
              </a:tblGrid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Attributes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Example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56692219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Earliest Pickup 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01/12/2026 09:00 CST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Latest value from orders at the first pickup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0656695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Latest Pickup 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01/12/2026 11:00 CST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Earliest value from orders at the fist pickup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8860299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Earliest Delivery Date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01/19/2026 09:00 CST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Latest value from orders at the last drop off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32378210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Latest Delivery Date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01/19/2026 14:00 CST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Earliest value from orders at the last drop off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67986200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Distance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635 MI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MI - Miles code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8188651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Stops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count of stops (Pickup stop(s)+Delivery stop(s)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701290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Ship Direction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Outbound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Direction of shipment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77407361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Freight Terms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Pre-Paid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0810511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Seal Number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S345676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92244165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Incoterm Info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FOB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9898590"/>
                  </a:ext>
                </a:extLst>
              </a:tr>
              <a:tr h="330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Shipment Status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Tender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 be in any status (shipment). New, Hold, Review, Tender,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0910669"/>
                  </a:ext>
                </a:extLst>
              </a:tr>
              <a:tr h="330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Validation message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CHK_Dates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Message will appear for User Review Status (</a:t>
                      </a:r>
                      <a:r>
                        <a:rPr lang="en-US" sz="1200" u="none" strike="noStrike" dirty="0" err="1">
                          <a:effectLst/>
                        </a:rPr>
                        <a:t>CHK_Dates</a:t>
                      </a:r>
                      <a:r>
                        <a:rPr lang="en-US" sz="1200" u="none" strike="noStrike" dirty="0">
                          <a:effectLst/>
                        </a:rPr>
                        <a:t>, Date in the past, </a:t>
                      </a:r>
                      <a:r>
                        <a:rPr lang="en-US" sz="1200" u="none" strike="noStrike" dirty="0" err="1">
                          <a:effectLst/>
                        </a:rPr>
                        <a:t>etc</a:t>
                      </a:r>
                      <a:r>
                        <a:rPr lang="en-US" sz="1200" u="none" strike="noStrike" dirty="0">
                          <a:effectLst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3826719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AR Freight Cost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1280 USD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AR freight cost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25173255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Shipment Type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Pooling, Cross customer, Line haul, Rule 11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749259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Shipment Sequence leg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or 2 or 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multi leg buy shipments, which leg this shipment belongs 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5325673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Next Shipment ID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 of the next shipment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Applicable for pooling, Rule 11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1248740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Preferred AP Direct Cost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 USD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Direct AP cost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858149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Preferred AR Direct Cost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1200 USD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Direct AR cost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6407449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Load Status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Shipment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 be in any status (shipment). New, In shipment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2366163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Load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23567, 45673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Shows load numbers in the shipment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30615833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Load Count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 of loads in a shipment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85708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25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663FFA-6859-DE00-63AB-17DD12AE4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2" y="853317"/>
            <a:ext cx="1244664" cy="254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554EA3-5CD8-4AD7-EE36-D8012790D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72" y="1107330"/>
            <a:ext cx="1667542" cy="3701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C0CA9F-C038-0BA8-B2C4-F32B38B6B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3648" y="1107330"/>
            <a:ext cx="2260685" cy="3777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FAC44E-1B6B-9B13-4F04-5294D0A58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3648" y="853316"/>
            <a:ext cx="1143059" cy="2540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84C3E5-BB0F-FDB1-2E54-2B4F45003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914" y="853316"/>
            <a:ext cx="1054154" cy="2159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38FEFD-A9E2-4A11-FABE-E8B6B92F321B}"/>
              </a:ext>
            </a:extLst>
          </p:cNvPr>
          <p:cNvSpPr txBox="1"/>
          <p:nvPr/>
        </p:nvSpPr>
        <p:spPr>
          <a:xfrm>
            <a:off x="5215469" y="1107329"/>
            <a:ext cx="19473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Options:</a:t>
            </a:r>
          </a:p>
          <a:p>
            <a:r>
              <a:rPr lang="en-US" sz="1100" dirty="0"/>
              <a:t>Export Excel CSV (Current Fields)</a:t>
            </a:r>
          </a:p>
          <a:p>
            <a:r>
              <a:rPr lang="en-US" sz="1100" dirty="0"/>
              <a:t>Export Excel CSV (All Fields)</a:t>
            </a:r>
          </a:p>
          <a:p>
            <a:endParaRPr lang="en-US" sz="1100" dirty="0"/>
          </a:p>
          <a:p>
            <a:r>
              <a:rPr lang="en-US" sz="1100" dirty="0"/>
              <a:t>Note to the users: “Only the first 10,000 records will be exported to Excel.”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48257D-2F77-5BCA-B502-B57B898EF9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0764"/>
          <a:stretch>
            <a:fillRect/>
          </a:stretch>
        </p:blipFill>
        <p:spPr>
          <a:xfrm>
            <a:off x="8159977" y="853316"/>
            <a:ext cx="1070636" cy="2571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83E046-2608-679D-5DC2-F7B7842357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1467" y="1132316"/>
            <a:ext cx="4529666" cy="377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8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20F2C8-DF44-8E51-9216-E3395C1CA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18" y="592019"/>
            <a:ext cx="355887" cy="39238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44EF62-3A12-36B3-90F0-FC4823434452}"/>
              </a:ext>
            </a:extLst>
          </p:cNvPr>
          <p:cNvGraphicFramePr>
            <a:graphicFrameLocks noGrp="1"/>
          </p:cNvGraphicFramePr>
          <p:nvPr/>
        </p:nvGraphicFramePr>
        <p:xfrm>
          <a:off x="7034471" y="984407"/>
          <a:ext cx="2928236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8236">
                  <a:extLst>
                    <a:ext uri="{9D8B030D-6E8A-4147-A177-3AD203B41FA5}">
                      <a16:colId xmlns:a16="http://schemas.microsoft.com/office/drawing/2014/main" val="39146349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Tabs for Shipment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103925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Order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737973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Product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57040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Instruction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84164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Stops and Appointments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686201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Attachment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218300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Cost Allocation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27115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Load Details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64159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Prior Tender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001882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History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3723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Notes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4134185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D34D82A-6F73-9F4F-54FB-316F73F31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66" y="1141045"/>
            <a:ext cx="5660083" cy="3856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DDC7E0-210D-F0D0-0B9D-05D60C9DF1D8}"/>
              </a:ext>
            </a:extLst>
          </p:cNvPr>
          <p:cNvSpPr txBox="1"/>
          <p:nvPr/>
        </p:nvSpPr>
        <p:spPr>
          <a:xfrm>
            <a:off x="1382233" y="592019"/>
            <a:ext cx="434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Configuration tab for the bottom screen</a:t>
            </a:r>
          </a:p>
        </p:txBody>
      </p:sp>
    </p:spTree>
    <p:extLst>
      <p:ext uri="{BB962C8B-B14F-4D97-AF65-F5344CB8AC3E}">
        <p14:creationId xmlns:p14="http://schemas.microsoft.com/office/powerpoint/2010/main" val="1518191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3D99A0-7312-05B4-87E3-0017D890DBD7}"/>
              </a:ext>
            </a:extLst>
          </p:cNvPr>
          <p:cNvSpPr txBox="1"/>
          <p:nvPr/>
        </p:nvSpPr>
        <p:spPr>
          <a:xfrm>
            <a:off x="173611" y="81930"/>
            <a:ext cx="3759021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Distance: 1,013 mi</a:t>
            </a:r>
          </a:p>
          <a:p>
            <a:r>
              <a:rPr lang="en-US" sz="1100" b="1" dirty="0"/>
              <a:t>Gross weight: 420 LB</a:t>
            </a:r>
          </a:p>
          <a:p>
            <a:r>
              <a:rPr lang="en-US" sz="1100" b="1" dirty="0"/>
              <a:t>Volume: 328.0 </a:t>
            </a:r>
            <a:r>
              <a:rPr lang="en-US" sz="1100" b="1" dirty="0" err="1"/>
              <a:t>cuft</a:t>
            </a:r>
            <a:endParaRPr lang="en-US" sz="1100" b="1" dirty="0"/>
          </a:p>
          <a:p>
            <a:r>
              <a:rPr lang="en-US" sz="1100" b="1" dirty="0"/>
              <a:t>Accepted Carrier: FXFE – LTL</a:t>
            </a:r>
          </a:p>
          <a:p>
            <a:r>
              <a:rPr lang="en-US" sz="1100" b="1" dirty="0"/>
              <a:t>Seed Equipment – TL</a:t>
            </a:r>
          </a:p>
          <a:p>
            <a:r>
              <a:rPr lang="en-US" sz="1100" b="1" dirty="0"/>
              <a:t>Utilization: 75%</a:t>
            </a:r>
          </a:p>
          <a:p>
            <a:endParaRPr lang="en-US" sz="1100" dirty="0"/>
          </a:p>
          <a:p>
            <a:r>
              <a:rPr lang="en-US" sz="1100" b="1" dirty="0"/>
              <a:t>Stop 1: Pickup</a:t>
            </a:r>
          </a:p>
          <a:p>
            <a:r>
              <a:rPr lang="en-US" sz="1100" dirty="0"/>
              <a:t>Order: LOAD200801</a:t>
            </a:r>
          </a:p>
          <a:p>
            <a:r>
              <a:rPr lang="en-US" sz="1100" dirty="0">
                <a:solidFill>
                  <a:srgbClr val="FF0000"/>
                </a:solidFill>
              </a:rPr>
              <a:t>From: </a:t>
            </a:r>
            <a:r>
              <a:rPr lang="en-US" sz="1100" dirty="0"/>
              <a:t>01-BP, COLUMBUS, GA 31907 US (Org Name, City, State, Zip, Country) or </a:t>
            </a:r>
          </a:p>
          <a:p>
            <a:r>
              <a:rPr lang="en-US" sz="1100" dirty="0">
                <a:solidFill>
                  <a:srgbClr val="FF0000"/>
                </a:solidFill>
              </a:rPr>
              <a:t>From: </a:t>
            </a:r>
            <a:r>
              <a:rPr lang="en-US" sz="1100" dirty="0"/>
              <a:t>01-BP, 1502 NORTH WASHINGTON, COLUMBUS, GA 31907 US (Org Name, Address 1,2,3 City, State, Zip, Country)</a:t>
            </a:r>
          </a:p>
          <a:p>
            <a:r>
              <a:rPr lang="en-US" sz="1100" dirty="0"/>
              <a:t>Date: August 20, 2025 14:00 CST</a:t>
            </a:r>
          </a:p>
          <a:p>
            <a:r>
              <a:rPr lang="en-US" sz="1100" dirty="0"/>
              <a:t>Appointment: 14:00 CST</a:t>
            </a:r>
          </a:p>
          <a:p>
            <a:r>
              <a:rPr lang="en-US" sz="1100" dirty="0"/>
              <a:t>Weight: 105 LB</a:t>
            </a:r>
          </a:p>
          <a:p>
            <a:r>
              <a:rPr lang="en-US" sz="1100" dirty="0"/>
              <a:t>Volume: 82 </a:t>
            </a:r>
            <a:r>
              <a:rPr lang="en-US" sz="1100" dirty="0" err="1"/>
              <a:t>cuft</a:t>
            </a:r>
            <a:endParaRPr lang="en-US" sz="1100" dirty="0"/>
          </a:p>
          <a:p>
            <a:r>
              <a:rPr lang="en-US" sz="1100" dirty="0"/>
              <a:t>Package Count: 3 </a:t>
            </a:r>
          </a:p>
          <a:p>
            <a:r>
              <a:rPr lang="en-US" sz="1100" dirty="0"/>
              <a:t>Pickup No:</a:t>
            </a:r>
          </a:p>
          <a:p>
            <a:endParaRPr lang="en-US" sz="1100" dirty="0"/>
          </a:p>
          <a:p>
            <a:r>
              <a:rPr lang="en-US" sz="1100" b="1" dirty="0"/>
              <a:t>Stop 2: Pickup</a:t>
            </a:r>
          </a:p>
          <a:p>
            <a:r>
              <a:rPr lang="en-US" sz="1100" dirty="0"/>
              <a:t>Order: LOAD200802, LOAD200803</a:t>
            </a:r>
          </a:p>
          <a:p>
            <a:r>
              <a:rPr lang="en-US" sz="1100" dirty="0"/>
              <a:t>From: 02-BP, COLUMBUS, GA 31906 US</a:t>
            </a:r>
          </a:p>
          <a:p>
            <a:r>
              <a:rPr lang="en-US" sz="1100" dirty="0"/>
              <a:t>Date: August 20, 2025 14:00 CST</a:t>
            </a:r>
          </a:p>
          <a:p>
            <a:r>
              <a:rPr lang="en-US" sz="1100" dirty="0"/>
              <a:t>Appointment: 14:00 CST</a:t>
            </a:r>
          </a:p>
          <a:p>
            <a:r>
              <a:rPr lang="en-US" sz="1100" dirty="0"/>
              <a:t>Weight: 105 LB</a:t>
            </a:r>
          </a:p>
          <a:p>
            <a:r>
              <a:rPr lang="en-US" sz="1100" dirty="0"/>
              <a:t>Volume: 82 </a:t>
            </a:r>
            <a:r>
              <a:rPr lang="en-US" sz="1100" dirty="0" err="1"/>
              <a:t>cuft</a:t>
            </a:r>
            <a:endParaRPr lang="en-US" sz="1100" dirty="0"/>
          </a:p>
          <a:p>
            <a:r>
              <a:rPr lang="en-US" sz="1100" dirty="0"/>
              <a:t>Pickup No:</a:t>
            </a:r>
          </a:p>
          <a:p>
            <a:endParaRPr lang="en-US" sz="1100" dirty="0"/>
          </a:p>
          <a:p>
            <a:r>
              <a:rPr lang="en-US" sz="1100" b="1" dirty="0"/>
              <a:t>Stop 3: Delivery</a:t>
            </a:r>
          </a:p>
          <a:p>
            <a:r>
              <a:rPr lang="en-US" sz="1100" dirty="0"/>
              <a:t>Order: LOAD200801, LOAD200802, LOAD200803</a:t>
            </a:r>
          </a:p>
          <a:p>
            <a:r>
              <a:rPr lang="en-US" sz="1100" dirty="0"/>
              <a:t>To: SHPTULSA, NEENAH, WI 54956 US</a:t>
            </a:r>
          </a:p>
          <a:p>
            <a:r>
              <a:rPr lang="en-US" sz="1100" dirty="0"/>
              <a:t>Date: August 22, 2025 14:00 CST</a:t>
            </a:r>
          </a:p>
          <a:p>
            <a:r>
              <a:rPr lang="en-US" sz="1100" dirty="0"/>
              <a:t>Appointment: 14:00 CST</a:t>
            </a:r>
          </a:p>
          <a:p>
            <a:r>
              <a:rPr lang="en-US" sz="1100" dirty="0"/>
              <a:t>Weight: 105 LB</a:t>
            </a:r>
          </a:p>
          <a:p>
            <a:r>
              <a:rPr lang="en-US" sz="1100" dirty="0"/>
              <a:t>Volume: 82 </a:t>
            </a:r>
            <a:r>
              <a:rPr lang="en-US" sz="1100" dirty="0" err="1"/>
              <a:t>cuft</a:t>
            </a:r>
            <a:endParaRPr lang="en-US" sz="1100" dirty="0"/>
          </a:p>
          <a:p>
            <a:r>
              <a:rPr lang="en-US" sz="1100" dirty="0"/>
              <a:t>Pickup No</a:t>
            </a:r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D8E1DC-C5A9-2230-084C-8BBF43327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632" y="5334364"/>
            <a:ext cx="159435" cy="15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879DA9-15FC-ED63-0117-09832F48A55C}"/>
              </a:ext>
            </a:extLst>
          </p:cNvPr>
          <p:cNvSpPr txBox="1"/>
          <p:nvPr/>
        </p:nvSpPr>
        <p:spPr>
          <a:xfrm>
            <a:off x="2404620" y="5533326"/>
            <a:ext cx="1803400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Date available if planning is RDD</a:t>
            </a:r>
          </a:p>
          <a:p>
            <a:endParaRPr lang="en-US" sz="1100" dirty="0"/>
          </a:p>
          <a:p>
            <a:r>
              <a:rPr lang="en-US" sz="1100" dirty="0"/>
              <a:t>Order requested date: August    22, 2025</a:t>
            </a:r>
          </a:p>
          <a:p>
            <a:r>
              <a:rPr lang="en-US" sz="1100" dirty="0"/>
              <a:t>14:00 CST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2355F-4182-07CA-1A57-381DA00D5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632" y="2476946"/>
            <a:ext cx="159435" cy="152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66FAE3-F167-9D8A-B309-9FE0BFE1B076}"/>
              </a:ext>
            </a:extLst>
          </p:cNvPr>
          <p:cNvSpPr txBox="1"/>
          <p:nvPr/>
        </p:nvSpPr>
        <p:spPr>
          <a:xfrm>
            <a:off x="2435103" y="2684405"/>
            <a:ext cx="1803400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Date available if planning is RSD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/>
              <a:t>Order requested date: August    20, 2025</a:t>
            </a:r>
          </a:p>
          <a:p>
            <a:r>
              <a:rPr lang="en-US" sz="1100" dirty="0"/>
              <a:t>14:00 CST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AB27C-9771-B85F-563E-D006B0180FA4}"/>
              </a:ext>
            </a:extLst>
          </p:cNvPr>
          <p:cNvSpPr txBox="1"/>
          <p:nvPr/>
        </p:nvSpPr>
        <p:spPr>
          <a:xfrm>
            <a:off x="4772530" y="240863"/>
            <a:ext cx="375902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Distance: 1,013 mi</a:t>
            </a:r>
          </a:p>
          <a:p>
            <a:r>
              <a:rPr lang="en-US" sz="1100" b="1" dirty="0"/>
              <a:t>Gross weight: 420 LB</a:t>
            </a:r>
          </a:p>
          <a:p>
            <a:r>
              <a:rPr lang="en-US" sz="1100" b="1" dirty="0"/>
              <a:t>Volume: 328.0 </a:t>
            </a:r>
            <a:r>
              <a:rPr lang="en-US" sz="1100" b="1" dirty="0" err="1"/>
              <a:t>cuft</a:t>
            </a:r>
            <a:endParaRPr lang="en-US" sz="1100" b="1" dirty="0"/>
          </a:p>
          <a:p>
            <a:r>
              <a:rPr lang="en-US" sz="1100" b="1" dirty="0"/>
              <a:t>Accepted Carrier: FXFE – LTL</a:t>
            </a:r>
          </a:p>
          <a:p>
            <a:r>
              <a:rPr lang="en-US" sz="1100" b="1" dirty="0"/>
              <a:t>Seed Equipment – TL</a:t>
            </a:r>
          </a:p>
          <a:p>
            <a:r>
              <a:rPr lang="en-US" sz="1100" b="1" dirty="0"/>
              <a:t>Utilization: 75%</a:t>
            </a:r>
          </a:p>
          <a:p>
            <a:endParaRPr lang="en-US" sz="1100" dirty="0"/>
          </a:p>
          <a:p>
            <a:r>
              <a:rPr lang="en-US" sz="1100" b="1" dirty="0"/>
              <a:t>Stop 1: Pickup</a:t>
            </a:r>
          </a:p>
          <a:p>
            <a:r>
              <a:rPr lang="en-US" sz="1100" dirty="0"/>
              <a:t>Order: LOAD200801</a:t>
            </a:r>
          </a:p>
          <a:p>
            <a:r>
              <a:rPr lang="en-US" sz="1100" dirty="0">
                <a:solidFill>
                  <a:srgbClr val="FF0000"/>
                </a:solidFill>
              </a:rPr>
              <a:t>From: </a:t>
            </a:r>
            <a:r>
              <a:rPr lang="en-US" sz="1100" dirty="0"/>
              <a:t>01-BP, COLUMBUS, GA 31907 US (Org Name, City, State, Zip, Country) or </a:t>
            </a:r>
          </a:p>
          <a:p>
            <a:r>
              <a:rPr lang="en-US" sz="1100" dirty="0">
                <a:solidFill>
                  <a:srgbClr val="FF0000"/>
                </a:solidFill>
              </a:rPr>
              <a:t>From: </a:t>
            </a:r>
            <a:r>
              <a:rPr lang="en-US" sz="1100" dirty="0"/>
              <a:t>01-BP, 1502 NORTH WASHINGTON, COLUMBUS, GA 31907 US (Org Name, Address 1,2,3 City, State, Zip, Country)</a:t>
            </a:r>
          </a:p>
          <a:p>
            <a:r>
              <a:rPr lang="en-US" sz="1100" dirty="0"/>
              <a:t>Date: August 20, 2025 14:00 CST</a:t>
            </a:r>
          </a:p>
          <a:p>
            <a:r>
              <a:rPr lang="en-US" sz="1100" dirty="0"/>
              <a:t>Appointment: 14:00 CST</a:t>
            </a:r>
          </a:p>
          <a:p>
            <a:r>
              <a:rPr lang="en-US" sz="1100" dirty="0"/>
              <a:t>Weight: 105 LB</a:t>
            </a:r>
          </a:p>
          <a:p>
            <a:r>
              <a:rPr lang="en-US" sz="1100" dirty="0"/>
              <a:t>Volume: 82 </a:t>
            </a:r>
            <a:r>
              <a:rPr lang="en-US" sz="1100" dirty="0" err="1"/>
              <a:t>cuft</a:t>
            </a:r>
            <a:endParaRPr lang="en-US" sz="1100" dirty="0"/>
          </a:p>
          <a:p>
            <a:r>
              <a:rPr lang="en-US" sz="1100" dirty="0"/>
              <a:t>Package Count: 3 </a:t>
            </a:r>
          </a:p>
          <a:p>
            <a:r>
              <a:rPr lang="en-US" sz="1100" dirty="0"/>
              <a:t>Pickup No:</a:t>
            </a:r>
          </a:p>
          <a:p>
            <a:endParaRPr lang="en-US" sz="1100" dirty="0"/>
          </a:p>
          <a:p>
            <a:r>
              <a:rPr lang="en-US" sz="1100" b="1" dirty="0"/>
              <a:t>Stop 2: Pickup</a:t>
            </a:r>
          </a:p>
          <a:p>
            <a:r>
              <a:rPr lang="en-US" sz="1100" dirty="0"/>
              <a:t>Order: LOAD200802, LOAD200803</a:t>
            </a:r>
          </a:p>
          <a:p>
            <a:r>
              <a:rPr lang="en-US" sz="1100" dirty="0"/>
              <a:t>From: 02-BP, COLUMBUS, GA 31906 US</a:t>
            </a:r>
          </a:p>
          <a:p>
            <a:r>
              <a:rPr lang="en-US" sz="1100" dirty="0"/>
              <a:t>Date: August 20, 2025 14:00 CST</a:t>
            </a:r>
          </a:p>
          <a:p>
            <a:r>
              <a:rPr lang="en-US" sz="1100" dirty="0"/>
              <a:t>Appointment: 14:00 CST</a:t>
            </a:r>
          </a:p>
          <a:p>
            <a:r>
              <a:rPr lang="en-US" sz="1100" dirty="0"/>
              <a:t>Weight: 105 LB</a:t>
            </a:r>
          </a:p>
          <a:p>
            <a:r>
              <a:rPr lang="en-US" sz="1100" dirty="0"/>
              <a:t>Volume: 82 </a:t>
            </a:r>
            <a:r>
              <a:rPr lang="en-US" sz="1100" dirty="0" err="1"/>
              <a:t>cuft</a:t>
            </a:r>
            <a:endParaRPr lang="en-US" sz="1100" dirty="0"/>
          </a:p>
          <a:p>
            <a:r>
              <a:rPr lang="en-US" sz="1100" dirty="0"/>
              <a:t>Pickup No: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FD04F-1056-0FA0-5900-EA37CA1850A1}"/>
              </a:ext>
            </a:extLst>
          </p:cNvPr>
          <p:cNvSpPr txBox="1"/>
          <p:nvPr/>
        </p:nvSpPr>
        <p:spPr>
          <a:xfrm>
            <a:off x="4550700" y="789735"/>
            <a:ext cx="194734" cy="481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Alternate    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Format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257645-8FC4-E54A-5768-83EC44AD7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765" y="2608293"/>
            <a:ext cx="159435" cy="152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6B1923-7846-D38B-ECA7-F6AC9E7F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117" y="1962354"/>
            <a:ext cx="159435" cy="1522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7113DC-DE9A-332F-B458-843EBD8F847D}"/>
              </a:ext>
            </a:extLst>
          </p:cNvPr>
          <p:cNvSpPr txBox="1"/>
          <p:nvPr/>
        </p:nvSpPr>
        <p:spPr>
          <a:xfrm>
            <a:off x="8500448" y="240863"/>
            <a:ext cx="37590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  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b="1" dirty="0"/>
              <a:t>Stop 1: Delivery</a:t>
            </a:r>
          </a:p>
          <a:p>
            <a:r>
              <a:rPr lang="en-US" sz="1100" dirty="0"/>
              <a:t>Order: LOAD200801, LOAD200802, LOAD200803</a:t>
            </a:r>
          </a:p>
          <a:p>
            <a:r>
              <a:rPr lang="en-US" sz="1100" dirty="0"/>
              <a:t>To: SHPTULSA, NEENAH, WI 54956 US</a:t>
            </a:r>
          </a:p>
          <a:p>
            <a:r>
              <a:rPr lang="en-US" sz="1100" dirty="0"/>
              <a:t>Date: August 22, 2025 14:00 CST </a:t>
            </a:r>
          </a:p>
          <a:p>
            <a:r>
              <a:rPr lang="en-US" sz="1100" dirty="0"/>
              <a:t>Appointment: 14:00 CST</a:t>
            </a:r>
          </a:p>
          <a:p>
            <a:r>
              <a:rPr lang="en-US" sz="1100" dirty="0"/>
              <a:t>Weight: 105 LB</a:t>
            </a:r>
          </a:p>
          <a:p>
            <a:r>
              <a:rPr lang="en-US" sz="1100" dirty="0"/>
              <a:t>Volume: 82 </a:t>
            </a:r>
            <a:r>
              <a:rPr lang="en-US" sz="1100" dirty="0" err="1"/>
              <a:t>cuft</a:t>
            </a:r>
            <a:endParaRPr lang="en-US" sz="1100" dirty="0"/>
          </a:p>
          <a:p>
            <a:r>
              <a:rPr lang="en-US" sz="1100" dirty="0"/>
              <a:t>Pickup No</a:t>
            </a:r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C25DC-25C7-78CF-7B10-8348997ED550}"/>
              </a:ext>
            </a:extLst>
          </p:cNvPr>
          <p:cNvSpPr txBox="1"/>
          <p:nvPr/>
        </p:nvSpPr>
        <p:spPr>
          <a:xfrm>
            <a:off x="8941869" y="114372"/>
            <a:ext cx="2059807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STOPS</a:t>
            </a:r>
          </a:p>
        </p:txBody>
      </p:sp>
    </p:spTree>
    <p:extLst>
      <p:ext uri="{BB962C8B-B14F-4D97-AF65-F5344CB8AC3E}">
        <p14:creationId xmlns:p14="http://schemas.microsoft.com/office/powerpoint/2010/main" val="1859868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B19A77-5251-031F-D2E5-71D7EB3EB3AA}"/>
              </a:ext>
            </a:extLst>
          </p:cNvPr>
          <p:cNvSpPr txBox="1"/>
          <p:nvPr/>
        </p:nvSpPr>
        <p:spPr>
          <a:xfrm>
            <a:off x="9403882" y="0"/>
            <a:ext cx="2059807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PRODUCT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196ABD-D953-D3C2-7C9E-93D6FD301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091337"/>
              </p:ext>
            </p:extLst>
          </p:nvPr>
        </p:nvGraphicFramePr>
        <p:xfrm>
          <a:off x="139546" y="127286"/>
          <a:ext cx="6855460" cy="47795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9750">
                  <a:extLst>
                    <a:ext uri="{9D8B030D-6E8A-4147-A177-3AD203B41FA5}">
                      <a16:colId xmlns:a16="http://schemas.microsoft.com/office/drawing/2014/main" val="1988481888"/>
                    </a:ext>
                  </a:extLst>
                </a:gridCol>
                <a:gridCol w="1127551">
                  <a:extLst>
                    <a:ext uri="{9D8B030D-6E8A-4147-A177-3AD203B41FA5}">
                      <a16:colId xmlns:a16="http://schemas.microsoft.com/office/drawing/2014/main" val="784292309"/>
                    </a:ext>
                  </a:extLst>
                </a:gridCol>
                <a:gridCol w="3958159">
                  <a:extLst>
                    <a:ext uri="{9D8B030D-6E8A-4147-A177-3AD203B41FA5}">
                      <a16:colId xmlns:a16="http://schemas.microsoft.com/office/drawing/2014/main" val="3748980396"/>
                    </a:ext>
                  </a:extLst>
                </a:gridCol>
              </a:tblGrid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Attributes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Example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90254637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Order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28826319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9141415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Line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7473266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Ship Item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3204HTO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49786005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3204HTO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Shit item Description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83066211"/>
                  </a:ext>
                </a:extLst>
              </a:tr>
              <a:tr h="7509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Package Count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45 Boxes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Package count + Identifier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9477374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Gross Weight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50000 LB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Gross weight +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177042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Volume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50 </a:t>
                      </a:r>
                      <a:r>
                        <a:rPr lang="en-US" sz="1200" b="0" i="0" u="none" strike="noStrike" dirty="0" err="1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cuft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Volume +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1310754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Hazmat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Yes/No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97054755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Hazmat Class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Class 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2765030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Hazmat Group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I-Great Danger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Hazmat Packaging group (I,II,III – great Danger, Medium Danger, Minor Danger, N/A)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13997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Hazmat Description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CORROSIVE LIQUID, ACIDIC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 of Hazmat UN Number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818114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Product Class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Commodity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 be Commodity, Harmonized, NMFC, Product Class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46105827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Shipping Class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230008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Commodity -&gt; Rail commodity code, harmonized code, NMFC or product class (55)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3075889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Hazmat UN Number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UN3264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3389589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Flash Point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 F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Value +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2929379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Boiling Point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F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Value +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73824965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Marine Pollutant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7899835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WGK Class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1,2,3,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021317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Declared value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100,000 USD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Amount and Currency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839355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Hazmat ID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UN3264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Hazmat ID and UN Number same? TBD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8408246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618692-A13A-78CE-870E-0383EA76F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492000"/>
              </p:ext>
            </p:extLst>
          </p:nvPr>
        </p:nvGraphicFramePr>
        <p:xfrm>
          <a:off x="7292548" y="728023"/>
          <a:ext cx="4759906" cy="37297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3744">
                  <a:extLst>
                    <a:ext uri="{9D8B030D-6E8A-4147-A177-3AD203B41FA5}">
                      <a16:colId xmlns:a16="http://schemas.microsoft.com/office/drawing/2014/main" val="818761574"/>
                    </a:ext>
                  </a:extLst>
                </a:gridCol>
                <a:gridCol w="863423">
                  <a:extLst>
                    <a:ext uri="{9D8B030D-6E8A-4147-A177-3AD203B41FA5}">
                      <a16:colId xmlns:a16="http://schemas.microsoft.com/office/drawing/2014/main" val="814039123"/>
                    </a:ext>
                  </a:extLst>
                </a:gridCol>
                <a:gridCol w="2572739">
                  <a:extLst>
                    <a:ext uri="{9D8B030D-6E8A-4147-A177-3AD203B41FA5}">
                      <a16:colId xmlns:a16="http://schemas.microsoft.com/office/drawing/2014/main" val="1762865750"/>
                    </a:ext>
                  </a:extLst>
                </a:gridCol>
              </a:tblGrid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Attributes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Example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56692219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Tare Weight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30,000 LB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0656695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Net Weight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20,000 LB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8860299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Third part Ref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S2367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For outbound shipments, the client’s reference number.  For inbound shipments, the vendor’s sales order number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32378210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Third Part Line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 number of above reference number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67986200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Third Part Ref date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1/4/2026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above reference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08188651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BatchLot</a:t>
                      </a: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S3456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701290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Tunnel Code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 -&gt; 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77407361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 Partner Reference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Required? TBD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0810511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Load Constraints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Yes/No Value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92244165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Country of Origin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Country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9898590"/>
                  </a:ext>
                </a:extLst>
              </a:tr>
              <a:tr h="330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Length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FT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length and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0910669"/>
                  </a:ext>
                </a:extLst>
              </a:tr>
              <a:tr h="3305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Width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FT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Width and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3826719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FT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Height and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251732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867D42-7985-5D8B-4DE6-8C7E6C3A6058}"/>
              </a:ext>
            </a:extLst>
          </p:cNvPr>
          <p:cNvSpPr txBox="1"/>
          <p:nvPr/>
        </p:nvSpPr>
        <p:spPr>
          <a:xfrm>
            <a:off x="7292548" y="4583642"/>
            <a:ext cx="4007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Marked in Green are to be available under column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C0B19A-3B45-F6D2-D9A8-188B9467E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19" y="4981792"/>
            <a:ext cx="5810549" cy="1360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173E3B-3CB5-2B91-F1A8-86883ED92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7" y="4906807"/>
            <a:ext cx="1009702" cy="2730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A3F961-108C-7F0A-EEAD-AECD1AD577D1}"/>
              </a:ext>
            </a:extLst>
          </p:cNvPr>
          <p:cNvSpPr txBox="1"/>
          <p:nvPr/>
        </p:nvSpPr>
        <p:spPr>
          <a:xfrm>
            <a:off x="6977035" y="5229973"/>
            <a:ext cx="48536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Requirement</a:t>
            </a:r>
          </a:p>
          <a:p>
            <a:pPr marL="342900" indent="-342900">
              <a:buAutoNum type="arabicPeriod"/>
            </a:pPr>
            <a:r>
              <a:rPr lang="en-US" sz="1400" dirty="0"/>
              <a:t>Product info to be organized as shown</a:t>
            </a:r>
          </a:p>
          <a:p>
            <a:pPr marL="342900" indent="-342900">
              <a:buAutoNum type="arabicPeriod"/>
            </a:pPr>
            <a:r>
              <a:rPr lang="en-US" sz="1400" dirty="0"/>
              <a:t>Each + is representation of order lines. If an order has 2 lines, then clicking on + will show 2 lines</a:t>
            </a:r>
          </a:p>
          <a:p>
            <a:pPr marL="342900" indent="-342900">
              <a:buAutoNum type="arabicPeriod"/>
            </a:pPr>
            <a:r>
              <a:rPr lang="en-US" sz="1400" dirty="0"/>
              <a:t>Order’s 1</a:t>
            </a:r>
            <a:r>
              <a:rPr lang="en-US" sz="1400" baseline="30000" dirty="0"/>
              <a:t>st</a:t>
            </a:r>
            <a:r>
              <a:rPr lang="en-US" sz="1400" dirty="0"/>
              <a:t> line is always visible to the user </a:t>
            </a:r>
          </a:p>
        </p:txBody>
      </p:sp>
    </p:spTree>
    <p:extLst>
      <p:ext uri="{BB962C8B-B14F-4D97-AF65-F5344CB8AC3E}">
        <p14:creationId xmlns:p14="http://schemas.microsoft.com/office/powerpoint/2010/main" val="361343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59AF-5CF6-9911-47DB-FFF3ABE16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1EF455-A58E-9A84-61F2-15E1D4E997DB}"/>
              </a:ext>
            </a:extLst>
          </p:cNvPr>
          <p:cNvSpPr txBox="1"/>
          <p:nvPr/>
        </p:nvSpPr>
        <p:spPr>
          <a:xfrm>
            <a:off x="8749363" y="114372"/>
            <a:ext cx="3282217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Routing Options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EE2898-48A5-1F51-45B8-E803917B5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224105"/>
              </p:ext>
            </p:extLst>
          </p:nvPr>
        </p:nvGraphicFramePr>
        <p:xfrm>
          <a:off x="160420" y="0"/>
          <a:ext cx="6855460" cy="62548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9750">
                  <a:extLst>
                    <a:ext uri="{9D8B030D-6E8A-4147-A177-3AD203B41FA5}">
                      <a16:colId xmlns:a16="http://schemas.microsoft.com/office/drawing/2014/main" val="1988481888"/>
                    </a:ext>
                  </a:extLst>
                </a:gridCol>
                <a:gridCol w="1127551">
                  <a:extLst>
                    <a:ext uri="{9D8B030D-6E8A-4147-A177-3AD203B41FA5}">
                      <a16:colId xmlns:a16="http://schemas.microsoft.com/office/drawing/2014/main" val="784292309"/>
                    </a:ext>
                  </a:extLst>
                </a:gridCol>
                <a:gridCol w="3958159">
                  <a:extLst>
                    <a:ext uri="{9D8B030D-6E8A-4147-A177-3AD203B41FA5}">
                      <a16:colId xmlns:a16="http://schemas.microsoft.com/office/drawing/2014/main" val="3748980396"/>
                    </a:ext>
                  </a:extLst>
                </a:gridCol>
              </a:tblGrid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Attributes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Notify </a:t>
                      </a:r>
                      <a:r>
                        <a:rPr lang="en-US" sz="1200" b="1" u="none" strike="noStrike" dirty="0" err="1">
                          <a:effectLst/>
                        </a:rPr>
                        <a:t>DateExample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90254637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Route Rank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9141415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7473266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SCAC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SEFL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49786005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Carrier Name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SOUTHEASTERN FRT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Shit item Description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83066211"/>
                  </a:ext>
                </a:extLst>
              </a:tr>
              <a:tr h="7509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Cost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107.35 USD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Package count + Identifier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9477374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Tender Status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Accepted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Gross weight +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177042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Pickup / Date Time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08/20/2025 14:00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Volume +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1310754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Pickup / Day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Wed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3004635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Pick up / Org Hours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07:00-15:30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Yes/No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97054755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Pick up / Time Zone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CST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2765030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Delivery / Date Time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08/22/2025 14:00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Volume + UoM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139976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Delivery / Day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FRI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818114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Delivery / Org Hours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00:00-23:59 *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Yes/No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46105827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Deivery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/ Time Zone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CST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3075889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Days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3389589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 Travelled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438 MI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2929379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45678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73824965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Equip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7899835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Route Group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021317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Notify by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API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API / Email / Manual / EDI / Fax / Email and EDI / API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839355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Notify Date time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08/20/2025 09:59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8408246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Response Method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API Update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API Update/Automatic Update/EDI Update/interlink Update/Manual Update/net-native Update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4842985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Response Date Time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08/20/2025 09:59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14766237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Response User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LINXQA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09718887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Carrier Pickup #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SAA9999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58806892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Distance Source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PCMPCL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8943906"/>
                  </a:ext>
                </a:extLst>
              </a:tr>
              <a:tr h="90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PC*Miler Practical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37861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7992BC-AE7D-9DBD-6C12-C17664960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098101"/>
              </p:ext>
            </p:extLst>
          </p:nvPr>
        </p:nvGraphicFramePr>
        <p:xfrm>
          <a:off x="7271674" y="901278"/>
          <a:ext cx="4759906" cy="4958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3744">
                  <a:extLst>
                    <a:ext uri="{9D8B030D-6E8A-4147-A177-3AD203B41FA5}">
                      <a16:colId xmlns:a16="http://schemas.microsoft.com/office/drawing/2014/main" val="818761574"/>
                    </a:ext>
                  </a:extLst>
                </a:gridCol>
                <a:gridCol w="863423">
                  <a:extLst>
                    <a:ext uri="{9D8B030D-6E8A-4147-A177-3AD203B41FA5}">
                      <a16:colId xmlns:a16="http://schemas.microsoft.com/office/drawing/2014/main" val="814039123"/>
                    </a:ext>
                  </a:extLst>
                </a:gridCol>
                <a:gridCol w="2572739">
                  <a:extLst>
                    <a:ext uri="{9D8B030D-6E8A-4147-A177-3AD203B41FA5}">
                      <a16:colId xmlns:a16="http://schemas.microsoft.com/office/drawing/2014/main" val="1762865750"/>
                    </a:ext>
                  </a:extLst>
                </a:gridCol>
              </a:tblGrid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Attributes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Example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56692219"/>
                  </a:ext>
                </a:extLst>
              </a:tr>
              <a:tr h="2479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 Time Source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06566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715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919C9-EC66-E63E-6A14-7BA590BF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189DD-816C-D08F-CFBE-21429C90C19C}"/>
              </a:ext>
            </a:extLst>
          </p:cNvPr>
          <p:cNvSpPr txBox="1"/>
          <p:nvPr/>
        </p:nvSpPr>
        <p:spPr>
          <a:xfrm>
            <a:off x="6477802" y="114372"/>
            <a:ext cx="5553778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Routing Options Continued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CEF7E-A257-99D8-3845-19346524A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3098"/>
            <a:ext cx="4081112" cy="1097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39D447-7EBD-ADFB-2687-9108E095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112" y="1453097"/>
            <a:ext cx="4235115" cy="1405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EFE86D-0C1D-9847-C99A-4E7725EE3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227" y="1453097"/>
            <a:ext cx="3715353" cy="12642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EDB858-3D69-4787-906B-9EF419615F14}"/>
              </a:ext>
            </a:extLst>
          </p:cNvPr>
          <p:cNvSpPr txBox="1"/>
          <p:nvPr/>
        </p:nvSpPr>
        <p:spPr>
          <a:xfrm>
            <a:off x="816867" y="3247169"/>
            <a:ext cx="92704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Requirement</a:t>
            </a:r>
          </a:p>
          <a:p>
            <a:pPr marL="342900" indent="-342900">
              <a:buAutoNum type="arabicPeriod"/>
            </a:pPr>
            <a:r>
              <a:rPr lang="en-US" sz="1400" dirty="0"/>
              <a:t>Example of the current TMS system is shown above. </a:t>
            </a:r>
          </a:p>
          <a:p>
            <a:pPr marL="342900" indent="-342900">
              <a:buAutoNum type="arabicPeriod"/>
            </a:pPr>
            <a:r>
              <a:rPr lang="en-US" sz="1400" dirty="0"/>
              <a:t>Each line is an option</a:t>
            </a:r>
          </a:p>
          <a:p>
            <a:pPr marL="342900" indent="-342900">
              <a:buAutoNum type="arabicPeriod"/>
            </a:pPr>
            <a:r>
              <a:rPr lang="en-US" sz="1400" dirty="0"/>
              <a:t>In the mock, will need </a:t>
            </a:r>
            <a:r>
              <a:rPr lang="en-US" sz="1400" dirty="0" err="1"/>
              <a:t>atleast</a:t>
            </a:r>
            <a:r>
              <a:rPr lang="en-US" sz="1400" dirty="0"/>
              <a:t> 3 lines</a:t>
            </a:r>
          </a:p>
          <a:p>
            <a:pPr marL="342900" indent="-342900">
              <a:buAutoNum type="arabicPeriod"/>
            </a:pPr>
            <a:r>
              <a:rPr lang="en-US" sz="1400" dirty="0"/>
              <a:t>Manage Grid view required in tabs where there are quite a number of attributes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81276A-BB44-029F-2C5D-5864DD4AC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7" y="4612449"/>
            <a:ext cx="10236726" cy="11113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BC94AF-4ACC-6BA4-656C-EFC7DE612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3178" y="4753837"/>
            <a:ext cx="3050913" cy="176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39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99FD-99F4-E2AB-3517-BC8E7629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9A6E3E-AC5D-FE47-1D3B-BE37AB82CCC6}"/>
              </a:ext>
            </a:extLst>
          </p:cNvPr>
          <p:cNvSpPr txBox="1"/>
          <p:nvPr/>
        </p:nvSpPr>
        <p:spPr>
          <a:xfrm>
            <a:off x="8749363" y="114372"/>
            <a:ext cx="3282217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Cost Allocation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8D4E54-F380-9C34-B6F9-27D2DAABC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80" y="406759"/>
            <a:ext cx="7403817" cy="31098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AB5A19-E29C-249A-B715-33EA51B54A20}"/>
              </a:ext>
            </a:extLst>
          </p:cNvPr>
          <p:cNvSpPr txBox="1"/>
          <p:nvPr/>
        </p:nvSpPr>
        <p:spPr>
          <a:xfrm>
            <a:off x="478702" y="3554054"/>
            <a:ext cx="90118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Requirements</a:t>
            </a:r>
          </a:p>
          <a:p>
            <a:pPr marL="342900" indent="-342900">
              <a:buAutoNum type="arabicPeriod"/>
            </a:pPr>
            <a:r>
              <a:rPr lang="en-US" sz="1400" b="1" dirty="0"/>
              <a:t>Will need ‘Direct Shipment cost’ only</a:t>
            </a:r>
          </a:p>
          <a:p>
            <a:pPr marL="342900" indent="-342900">
              <a:buAutoNum type="arabicPeriod"/>
            </a:pPr>
            <a:r>
              <a:rPr lang="en-US" sz="1400" b="1" dirty="0"/>
              <a:t>If there are 2  Loads in a shipment, then Direct shipment cost should be available for each of the Load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68709-D47D-83B4-9A75-A2EC9692238E}"/>
              </a:ext>
            </a:extLst>
          </p:cNvPr>
          <p:cNvSpPr txBox="1"/>
          <p:nvPr/>
        </p:nvSpPr>
        <p:spPr>
          <a:xfrm rot="19325106">
            <a:off x="3910288" y="1312174"/>
            <a:ext cx="440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Don’t Need Sell Shipment cost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B821A-7F15-37FB-6057-6A1BC54AA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265" y="4194481"/>
            <a:ext cx="5950256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4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404B-222B-4BC6-4D73-D287F64E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9F8C3A-B9D3-2C31-1FEA-57AEF74A8A16}"/>
              </a:ext>
            </a:extLst>
          </p:cNvPr>
          <p:cNvSpPr txBox="1"/>
          <p:nvPr/>
        </p:nvSpPr>
        <p:spPr>
          <a:xfrm>
            <a:off x="8749363" y="114372"/>
            <a:ext cx="3282217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Instruction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D2C6C-4877-8113-EF2C-008FB4A58DEB}"/>
              </a:ext>
            </a:extLst>
          </p:cNvPr>
          <p:cNvSpPr txBox="1"/>
          <p:nvPr/>
        </p:nvSpPr>
        <p:spPr>
          <a:xfrm>
            <a:off x="546079" y="897482"/>
            <a:ext cx="90118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Requirements</a:t>
            </a:r>
          </a:p>
          <a:p>
            <a:pPr marL="342900" indent="-342900">
              <a:buAutoNum type="arabicPeriod"/>
            </a:pPr>
            <a:r>
              <a:rPr lang="en-US" sz="1400" b="1" dirty="0"/>
              <a:t>Each order instruction should be displayed</a:t>
            </a:r>
          </a:p>
          <a:p>
            <a:pPr marL="342900" indent="-342900">
              <a:buAutoNum type="arabicPeriod"/>
            </a:pPr>
            <a:r>
              <a:rPr lang="en-US" sz="1400" b="1" dirty="0"/>
              <a:t>If the Order has multiple instruction, each instruction should be displayed in sequence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E2997C-AC26-06A8-F5B3-193CB0B05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29" y="1971165"/>
            <a:ext cx="9646146" cy="160663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2D0B08-D16C-C39D-BA9B-1E425AB67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64881"/>
              </p:ext>
            </p:extLst>
          </p:nvPr>
        </p:nvGraphicFramePr>
        <p:xfrm>
          <a:off x="915536" y="4505200"/>
          <a:ext cx="7531100" cy="186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078059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09581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6015154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4219970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688436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0933027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976826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708554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365459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870071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983502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4539025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Instruction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00005791"/>
                  </a:ext>
                </a:extLst>
              </a:tr>
              <a:tr h="184150">
                <a:tc gridSpan="1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Drivers are required to wear face coverings and follow social distancing guidelines. They may also be subject to temperature checks upon arrival.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297763"/>
                  </a:ext>
                </a:extLst>
              </a:tr>
              <a:tr h="184150">
                <a:tc gridSpan="1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DRIVER: Purchasing Contact: Mary Ellen Maynard Main Office Phone; 205-328-0808 Receiving Hours: Monday - Friday 7:30-3:30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306168"/>
                  </a:ext>
                </a:extLst>
              </a:tr>
              <a:tr h="184150">
                <a:tc gridSpan="1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SHIPPING INSTRUCTIONS: Please ship via AAA Cooper using our account # 000821525. If product is being shipped out of </a:t>
                      </a:r>
                      <a:r>
                        <a:rPr lang="en-US" sz="1100" u="none" strike="noStrike" dirty="0" err="1">
                          <a:effectLst/>
                        </a:rPr>
                        <a:t>theSouth</a:t>
                      </a:r>
                      <a:r>
                        <a:rPr lang="en-US" sz="1100" u="none" strike="noStrike" dirty="0">
                          <a:effectLst/>
                        </a:rPr>
                        <a:t> Eastern United States.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1316"/>
                  </a:ext>
                </a:extLst>
              </a:tr>
              <a:tr h="184150">
                <a:tc gridSpan="1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Drivers are required to wear face coverings and follow social distancing guidelines. They may also be subject to temperature checks upon arrival.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358409"/>
                  </a:ext>
                </a:extLst>
              </a:tr>
              <a:tr h="184150">
                <a:tc gridSpan="1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DRIVER: Purchasing Contact: Mary Ellen Maynard Main Office Phone; 205-328-0808 Receiving Hours: Monday - Friday 7:30-3:30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94295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328CB9A-7601-1510-3183-52A7B523E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79" y="3557407"/>
            <a:ext cx="9188922" cy="8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3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CF3AF-184F-8CA6-204E-BBA19930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DDEB42-424F-9D79-8B6F-DE00EE8FBD4A}"/>
              </a:ext>
            </a:extLst>
          </p:cNvPr>
          <p:cNvSpPr txBox="1"/>
          <p:nvPr/>
        </p:nvSpPr>
        <p:spPr>
          <a:xfrm>
            <a:off x="8749363" y="114372"/>
            <a:ext cx="3282217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Documents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1CA2CF-EC61-8978-6D3E-47EFD9432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400" y="2818323"/>
            <a:ext cx="6921856" cy="2857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A06539-24E1-14BA-3A00-6B7829EB3F89}"/>
              </a:ext>
            </a:extLst>
          </p:cNvPr>
          <p:cNvSpPr txBox="1"/>
          <p:nvPr/>
        </p:nvSpPr>
        <p:spPr>
          <a:xfrm>
            <a:off x="1378664" y="1041859"/>
            <a:ext cx="90118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Requirements</a:t>
            </a:r>
          </a:p>
          <a:p>
            <a:pPr marL="342900" indent="-342900">
              <a:buAutoNum type="arabicPeriod"/>
            </a:pPr>
            <a:r>
              <a:rPr lang="en-US" sz="1400" b="1" dirty="0"/>
              <a:t>Should have options to upload Doc (</a:t>
            </a:r>
            <a:r>
              <a:rPr lang="en-US" sz="1400" b="1" dirty="0" err="1"/>
              <a:t>BoL</a:t>
            </a:r>
            <a:r>
              <a:rPr lang="en-US" sz="1400" b="1" dirty="0"/>
              <a:t>, </a:t>
            </a:r>
            <a:r>
              <a:rPr lang="en-US" sz="1400" b="1" dirty="0" err="1"/>
              <a:t>MBoL</a:t>
            </a:r>
            <a:r>
              <a:rPr lang="en-US" sz="1400" b="1" dirty="0"/>
              <a:t>, Invoice, Instructions, Others)</a:t>
            </a:r>
          </a:p>
          <a:p>
            <a:pPr marL="342900" indent="-342900">
              <a:buAutoNum type="arabicPeriod"/>
            </a:pPr>
            <a:r>
              <a:rPr lang="en-US" sz="1400" b="1" dirty="0"/>
              <a:t>Attach document and should support PDF, Excel, Word, Csv, Outlook message format</a:t>
            </a:r>
          </a:p>
          <a:p>
            <a:pPr marL="342900" indent="-342900">
              <a:buAutoNum type="arabicPeriod"/>
            </a:pPr>
            <a:r>
              <a:rPr lang="en-US" sz="1400" b="1" dirty="0"/>
              <a:t>Once attached, each attachment should be a line with </a:t>
            </a:r>
          </a:p>
          <a:p>
            <a:pPr lvl="1"/>
            <a:r>
              <a:rPr lang="en-US" sz="1400" b="1" dirty="0"/>
              <a:t>Type | Description | File with link</a:t>
            </a:r>
          </a:p>
          <a:p>
            <a:r>
              <a:rPr lang="en-US" sz="1400" b="1" dirty="0"/>
              <a:t>4. On clicking the file, user should be able to open attachment on a new window</a:t>
            </a:r>
          </a:p>
          <a:p>
            <a:r>
              <a:rPr lang="en-US" sz="1400" b="1" dirty="0"/>
              <a:t>5. Should have an option to delete the attachment via UI</a:t>
            </a:r>
          </a:p>
        </p:txBody>
      </p:sp>
    </p:spTree>
    <p:extLst>
      <p:ext uri="{BB962C8B-B14F-4D97-AF65-F5344CB8AC3E}">
        <p14:creationId xmlns:p14="http://schemas.microsoft.com/office/powerpoint/2010/main" val="1066419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457E-13F7-406B-14EA-2C16BD2F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335120-59C7-EFF7-99C4-187248009124}"/>
              </a:ext>
            </a:extLst>
          </p:cNvPr>
          <p:cNvSpPr txBox="1"/>
          <p:nvPr/>
        </p:nvSpPr>
        <p:spPr>
          <a:xfrm>
            <a:off x="8749363" y="114372"/>
            <a:ext cx="3282217" cy="5847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Internal Notes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FAEC2-F9A7-4B06-A81D-E8A0CCCC0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73" y="2540606"/>
            <a:ext cx="6350326" cy="37403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82572A-B3F1-8A03-957D-BE9343839275}"/>
              </a:ext>
            </a:extLst>
          </p:cNvPr>
          <p:cNvSpPr txBox="1"/>
          <p:nvPr/>
        </p:nvSpPr>
        <p:spPr>
          <a:xfrm>
            <a:off x="449826" y="801228"/>
            <a:ext cx="90118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Requirements</a:t>
            </a:r>
          </a:p>
          <a:p>
            <a:pPr marL="342900" indent="-342900">
              <a:buAutoNum type="arabicPeriod"/>
            </a:pPr>
            <a:r>
              <a:rPr lang="en-US" sz="1400" b="1" dirty="0"/>
              <a:t>User should be able to add internal notes</a:t>
            </a:r>
          </a:p>
          <a:p>
            <a:pPr marL="342900" indent="-342900">
              <a:buAutoNum type="arabicPeriod"/>
            </a:pPr>
            <a:r>
              <a:rPr lang="en-US" sz="1400" b="1" dirty="0"/>
              <a:t>For now tagging of name not required (like @)</a:t>
            </a:r>
          </a:p>
          <a:p>
            <a:pPr marL="342900" indent="-342900">
              <a:buAutoNum type="arabicPeriod"/>
            </a:pPr>
            <a:r>
              <a:rPr lang="en-US" sz="1400" b="1" dirty="0"/>
              <a:t>Who ever writing the note, their ID, Date/Time and message should be captured and displayed on the screen</a:t>
            </a:r>
          </a:p>
          <a:p>
            <a:pPr marL="342900" indent="-342900">
              <a:buAutoNum type="arabicPeriod"/>
            </a:pPr>
            <a:r>
              <a:rPr lang="en-US" sz="1400" b="1" dirty="0"/>
              <a:t>Option to Add Note, edit and Delete not should be available (for that user)</a:t>
            </a:r>
          </a:p>
          <a:p>
            <a:pPr marL="342900" indent="-342900">
              <a:buAutoNum type="arabicPeriod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6983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26140</TotalTime>
  <Words>2037</Words>
  <Application>Microsoft Macintosh PowerPoint</Application>
  <PresentationFormat>Widescreen</PresentationFormat>
  <Paragraphs>550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Office Theme</vt:lpstr>
      <vt:lpstr>Shipment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Soundararajan, Janardhana (Cognizant)</dc:creator>
  <cp:lastModifiedBy>Manuela Ramirez</cp:lastModifiedBy>
  <cp:revision>2</cp:revision>
  <dcterms:created xsi:type="dcterms:W3CDTF">2026-01-15T17:37:17Z</dcterms:created>
  <dcterms:modified xsi:type="dcterms:W3CDTF">2026-03-20T01:19:30Z</dcterms:modified>
</cp:coreProperties>
</file>